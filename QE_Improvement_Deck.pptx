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6" d="100"/>
          <a:sy n="106" d="100"/>
        </p:scale>
        <p:origin x="543" y="2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831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A"/>
        </a:solidFill>
        <a:effectLst/>
      </p:bgPr>
    </p:bg>
    <p:spTree>
      <p:nvGrpSpPr>
        <p:cNvPr id="1" name=""/>
        <p:cNvGrpSpPr/>
        <p:nvPr/>
      </p:nvGrpSpPr>
      <p:grpSpPr>
        <a:xfrm>
          <a:off x="0" y="0"/>
          <a:ext cx="0" cy="0"/>
          <a:chOff x="0" y="0"/>
          <a:chExt cx="0" cy="0"/>
        </a:xfrm>
      </p:grpSpPr>
      <p:sp>
        <p:nvSpPr>
          <p:cNvPr id="2" name="Shape 0"/>
          <p:cNvSpPr/>
          <p:nvPr/>
        </p:nvSpPr>
        <p:spPr>
          <a:xfrm>
            <a:off x="6309360" y="0"/>
            <a:ext cx="2834640" cy="5143500"/>
          </a:xfrm>
          <a:prstGeom prst="rect">
            <a:avLst/>
          </a:prstGeom>
          <a:solidFill>
            <a:srgbClr val="0A5C5B"/>
          </a:solidFill>
          <a:ln w="12700">
            <a:solidFill>
              <a:srgbClr val="0A5C5B"/>
            </a:solidFill>
            <a:prstDash val="solid"/>
          </a:ln>
        </p:spPr>
        <p:txBody>
          <a:bodyPr/>
          <a:lstStyle/>
          <a:p>
            <a:endParaRPr lang="en-GB"/>
          </a:p>
        </p:txBody>
      </p:sp>
      <p:sp>
        <p:nvSpPr>
          <p:cNvPr id="3" name="Shape 1"/>
          <p:cNvSpPr/>
          <p:nvPr/>
        </p:nvSpPr>
        <p:spPr>
          <a:xfrm>
            <a:off x="0" y="4800600"/>
            <a:ext cx="6309360" cy="342900"/>
          </a:xfrm>
          <a:prstGeom prst="rect">
            <a:avLst/>
          </a:prstGeom>
          <a:solidFill>
            <a:srgbClr val="0E7C7B"/>
          </a:solidFill>
          <a:ln w="12700">
            <a:solidFill>
              <a:srgbClr val="0E7C7B"/>
            </a:solidFill>
            <a:prstDash val="solid"/>
          </a:ln>
        </p:spPr>
        <p:txBody>
          <a:bodyPr/>
          <a:lstStyle/>
          <a:p>
            <a:endParaRPr lang="en-GB"/>
          </a:p>
        </p:txBody>
      </p:sp>
      <p:sp>
        <p:nvSpPr>
          <p:cNvPr id="4" name="Shape 2"/>
          <p:cNvSpPr/>
          <p:nvPr/>
        </p:nvSpPr>
        <p:spPr>
          <a:xfrm>
            <a:off x="6172200" y="0"/>
            <a:ext cx="164592" cy="5143500"/>
          </a:xfrm>
          <a:prstGeom prst="rect">
            <a:avLst/>
          </a:prstGeom>
          <a:solidFill>
            <a:srgbClr val="0E7C7B"/>
          </a:solidFill>
          <a:ln w="12700">
            <a:solidFill>
              <a:srgbClr val="0E7C7B"/>
            </a:solidFill>
            <a:prstDash val="solid"/>
          </a:ln>
        </p:spPr>
        <p:txBody>
          <a:bodyPr/>
          <a:lstStyle/>
          <a:p>
            <a:endParaRPr lang="en-GB"/>
          </a:p>
        </p:txBody>
      </p:sp>
      <p:sp>
        <p:nvSpPr>
          <p:cNvPr id="5" name="Text 3"/>
          <p:cNvSpPr/>
          <p:nvPr/>
        </p:nvSpPr>
        <p:spPr>
          <a:xfrm>
            <a:off x="457200" y="777240"/>
            <a:ext cx="5486400" cy="320040"/>
          </a:xfrm>
          <a:prstGeom prst="rect">
            <a:avLst/>
          </a:prstGeom>
          <a:noFill/>
          <a:ln/>
        </p:spPr>
        <p:txBody>
          <a:bodyPr wrap="square" lIns="0" tIns="0" rIns="0" bIns="0" rtlCol="0" anchor="ctr"/>
          <a:lstStyle/>
          <a:p>
            <a:pPr marL="0" indent="0">
              <a:buNone/>
            </a:pPr>
            <a:r>
              <a:rPr lang="en-US" sz="950" b="1" kern="0" spc="500" dirty="0">
                <a:solidFill>
                  <a:srgbClr val="0E7C7B"/>
                </a:solidFill>
                <a:latin typeface="Calibri" pitchFamily="34" charset="0"/>
                <a:ea typeface="Calibri" pitchFamily="34" charset="-122"/>
                <a:cs typeface="Calibri" pitchFamily="34" charset="-120"/>
              </a:rPr>
              <a:t>DATA &amp; AI DIRECTORATE</a:t>
            </a:r>
            <a:endParaRPr lang="en-US" sz="950" dirty="0"/>
          </a:p>
        </p:txBody>
      </p:sp>
      <p:sp>
        <p:nvSpPr>
          <p:cNvPr id="6" name="Text 4"/>
          <p:cNvSpPr/>
          <p:nvPr/>
        </p:nvSpPr>
        <p:spPr>
          <a:xfrm>
            <a:off x="457200" y="1170432"/>
            <a:ext cx="557784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Quality Engineering</a:t>
            </a:r>
            <a:endParaRPr lang="en-US" sz="3600" dirty="0"/>
          </a:p>
        </p:txBody>
      </p:sp>
      <p:sp>
        <p:nvSpPr>
          <p:cNvPr id="7" name="Text 5"/>
          <p:cNvSpPr/>
          <p:nvPr/>
        </p:nvSpPr>
        <p:spPr>
          <a:xfrm>
            <a:off x="457200" y="1783080"/>
            <a:ext cx="5577840" cy="457200"/>
          </a:xfrm>
          <a:prstGeom prst="rect">
            <a:avLst/>
          </a:prstGeom>
          <a:noFill/>
          <a:ln/>
        </p:spPr>
        <p:txBody>
          <a:bodyPr wrap="square" lIns="0" tIns="0" rIns="0" bIns="0" rtlCol="0" anchor="ctr"/>
          <a:lstStyle/>
          <a:p>
            <a:pPr marL="0" indent="0">
              <a:buNone/>
            </a:pPr>
            <a:r>
              <a:rPr lang="en-US" sz="2000" dirty="0">
                <a:solidFill>
                  <a:srgbClr val="9DB8D0"/>
                </a:solidFill>
                <a:latin typeface="Calibri" pitchFamily="34" charset="0"/>
                <a:ea typeface="Calibri" pitchFamily="34" charset="-122"/>
                <a:cs typeface="Calibri" pitchFamily="34" charset="-120"/>
              </a:rPr>
              <a:t>Gaps, Risks &amp; the Path Forward</a:t>
            </a:r>
            <a:endParaRPr lang="en-US" sz="2000" dirty="0"/>
          </a:p>
        </p:txBody>
      </p:sp>
      <p:sp>
        <p:nvSpPr>
          <p:cNvPr id="8" name="Shape 6"/>
          <p:cNvSpPr/>
          <p:nvPr/>
        </p:nvSpPr>
        <p:spPr>
          <a:xfrm>
            <a:off x="457200" y="2395728"/>
            <a:ext cx="5029200" cy="0"/>
          </a:xfrm>
          <a:prstGeom prst="line">
            <a:avLst/>
          </a:prstGeom>
          <a:noFill/>
          <a:ln w="19050">
            <a:solidFill>
              <a:srgbClr val="0E7C7B"/>
            </a:solidFill>
            <a:prstDash val="solid"/>
          </a:ln>
        </p:spPr>
        <p:txBody>
          <a:bodyPr/>
          <a:lstStyle/>
          <a:p>
            <a:endParaRPr lang="en-GB"/>
          </a:p>
        </p:txBody>
      </p:sp>
      <p:sp>
        <p:nvSpPr>
          <p:cNvPr id="9" name="Text 7"/>
          <p:cNvSpPr/>
          <p:nvPr/>
        </p:nvSpPr>
        <p:spPr>
          <a:xfrm>
            <a:off x="457200" y="2542032"/>
            <a:ext cx="5577840" cy="1371600"/>
          </a:xfrm>
          <a:prstGeom prst="rect">
            <a:avLst/>
          </a:prstGeom>
          <a:noFill/>
          <a:ln/>
        </p:spPr>
        <p:txBody>
          <a:bodyPr wrap="square" lIns="0" tIns="0" rIns="0" bIns="0" rtlCol="0" anchor="ctr"/>
          <a:lstStyle/>
          <a:p>
            <a:pPr marL="0" indent="0">
              <a:buNone/>
            </a:pPr>
            <a:r>
              <a:rPr lang="en-US" sz="1050" dirty="0">
                <a:solidFill>
                  <a:srgbClr val="C4D4E5"/>
                </a:solidFill>
                <a:latin typeface="Calibri" pitchFamily="34" charset="0"/>
                <a:ea typeface="Calibri" pitchFamily="34" charset="-122"/>
                <a:cs typeface="Calibri" pitchFamily="34" charset="-120"/>
              </a:rPr>
              <a:t>This deck is a candid, constructive review of where we are today across test data management, delivery processes, team alignment, tooling, and governance.</a:t>
            </a:r>
            <a:endParaRPr lang="en-US" sz="1050" dirty="0"/>
          </a:p>
          <a:p>
            <a:pPr marL="0" indent="0">
              <a:buNone/>
            </a:pPr>
            <a:endParaRPr lang="en-US" sz="1050" dirty="0"/>
          </a:p>
          <a:p>
            <a:pPr marL="0" indent="0">
              <a:buNone/>
            </a:pPr>
            <a:r>
              <a:rPr lang="en-US" sz="1050" dirty="0">
                <a:solidFill>
                  <a:srgbClr val="C4D4E5"/>
                </a:solidFill>
                <a:latin typeface="Calibri" pitchFamily="34" charset="0"/>
                <a:ea typeface="Calibri" pitchFamily="34" charset="-122"/>
                <a:cs typeface="Calibri" pitchFamily="34" charset="-120"/>
              </a:rPr>
              <a:t>Every gap identified here is also an opportunity — and we have the talent in this team to close them.</a:t>
            </a:r>
            <a:endParaRPr lang="en-US" sz="1050" dirty="0"/>
          </a:p>
        </p:txBody>
      </p:sp>
      <p:sp>
        <p:nvSpPr>
          <p:cNvPr id="10" name="Text 8"/>
          <p:cNvSpPr/>
          <p:nvPr/>
        </p:nvSpPr>
        <p:spPr>
          <a:xfrm>
            <a:off x="457200" y="4160520"/>
            <a:ext cx="5486400" cy="274320"/>
          </a:xfrm>
          <a:prstGeom prst="rect">
            <a:avLst/>
          </a:prstGeom>
          <a:noFill/>
          <a:ln/>
        </p:spPr>
        <p:txBody>
          <a:bodyPr wrap="square" lIns="0" tIns="0" rIns="0" bIns="0" rtlCol="0" anchor="ctr"/>
          <a:lstStyle/>
          <a:p>
            <a:pPr marL="0" indent="0">
              <a:buNone/>
            </a:pPr>
            <a:r>
              <a:rPr lang="en-US" sz="900" dirty="0">
                <a:solidFill>
                  <a:srgbClr val="5A6E8C"/>
                </a:solidFill>
                <a:latin typeface="Calibri" pitchFamily="34" charset="0"/>
                <a:ea typeface="Calibri" pitchFamily="34" charset="-122"/>
                <a:cs typeface="Calibri" pitchFamily="34" charset="-120"/>
              </a:rPr>
              <a:t>Azure Synapse Analytics Programme  ·  March 2026</a:t>
            </a:r>
            <a:endParaRPr lang="en-US" sz="900" dirty="0"/>
          </a:p>
        </p:txBody>
      </p:sp>
      <p:pic>
        <p:nvPicPr>
          <p:cNvPr id="11" name="Image 0" descr="preencoded.png"/>
          <p:cNvPicPr>
            <a:picLocks noChangeAspect="1"/>
          </p:cNvPicPr>
          <p:nvPr/>
        </p:nvPicPr>
        <p:blipFill>
          <a:blip r:embed="rId3">
            <a:alphaModFix amt="70000"/>
          </a:blip>
          <a:stretch>
            <a:fillRect/>
          </a:stretch>
        </p:blipFill>
        <p:spPr>
          <a:xfrm>
            <a:off x="6675120" y="1005840"/>
            <a:ext cx="1920240" cy="1920240"/>
          </a:xfrm>
          <a:prstGeom prst="rect">
            <a:avLst/>
          </a:prstGeom>
        </p:spPr>
      </p:pic>
      <p:sp>
        <p:nvSpPr>
          <p:cNvPr id="12" name="Text 9"/>
          <p:cNvSpPr/>
          <p:nvPr/>
        </p:nvSpPr>
        <p:spPr>
          <a:xfrm>
            <a:off x="6446520" y="3154680"/>
            <a:ext cx="2514600" cy="12801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is working</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What needs attention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What we recommend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The Honest Picture</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Where we stand today — no filters</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2 / 22</a:t>
            </a:r>
            <a:endParaRPr lang="en-US" sz="900" dirty="0"/>
          </a:p>
        </p:txBody>
      </p:sp>
      <p:sp>
        <p:nvSpPr>
          <p:cNvPr id="7" name="Text 5"/>
          <p:cNvSpPr/>
          <p:nvPr/>
        </p:nvSpPr>
        <p:spPr>
          <a:xfrm>
            <a:off x="365760" y="932688"/>
            <a:ext cx="8412480" cy="685800"/>
          </a:xfrm>
          <a:prstGeom prst="rect">
            <a:avLst/>
          </a:prstGeom>
          <a:noFill/>
          <a:ln/>
        </p:spPr>
        <p:txBody>
          <a:bodyPr wrap="square" lIns="0" tIns="0" rIns="0" bIns="0" rtlCol="0" anchor="ctr"/>
          <a:lstStyle/>
          <a:p>
            <a:pPr marL="0" indent="0">
              <a:buNone/>
            </a:pPr>
            <a:r>
              <a:rPr lang="en-US" sz="1050" i="1" dirty="0">
                <a:solidFill>
                  <a:srgbClr val="1C2B3A"/>
                </a:solidFill>
                <a:latin typeface="Calibri" pitchFamily="34" charset="0"/>
                <a:ea typeface="Calibri" pitchFamily="34" charset="-122"/>
                <a:cs typeface="Calibri" pitchFamily="34" charset="-120"/>
              </a:rPr>
              <a:t>We are a capable team working on complex data engineering at pace — but we are doing so without several of the structural foundations that make quality sustainable. These are not minor process gaps; they compound. Without addressing them deliberately, we are managing risk through individual effort rather than system design.</a:t>
            </a:r>
            <a:endParaRPr lang="en-US" sz="1050" dirty="0"/>
          </a:p>
        </p:txBody>
      </p:sp>
      <p:sp>
        <p:nvSpPr>
          <p:cNvPr id="8" name="Shape 6"/>
          <p:cNvSpPr/>
          <p:nvPr/>
        </p:nvSpPr>
        <p:spPr>
          <a:xfrm>
            <a:off x="365760" y="1719072"/>
            <a:ext cx="4069080" cy="731520"/>
          </a:xfrm>
          <a:prstGeom prst="rect">
            <a:avLst/>
          </a:prstGeom>
          <a:solidFill>
            <a:srgbClr val="1A0A0A"/>
          </a:solidFill>
          <a:ln w="12700">
            <a:solidFill>
              <a:srgbClr val="1A0A0A"/>
            </a:solidFill>
            <a:prstDash val="solid"/>
          </a:ln>
          <a:effectLst>
            <a:outerShdw blurRad="127000" dist="38100" dir="8100000" algn="bl" rotWithShape="0">
              <a:srgbClr val="000000">
                <a:alpha val="10000"/>
              </a:srgbClr>
            </a:outerShdw>
          </a:effectLst>
        </p:spPr>
        <p:txBody>
          <a:bodyPr/>
          <a:lstStyle/>
          <a:p>
            <a:endParaRPr lang="en-GB"/>
          </a:p>
        </p:txBody>
      </p:sp>
      <p:sp>
        <p:nvSpPr>
          <p:cNvPr id="9" name="Shape 7"/>
          <p:cNvSpPr/>
          <p:nvPr/>
        </p:nvSpPr>
        <p:spPr>
          <a:xfrm>
            <a:off x="365760" y="1719072"/>
            <a:ext cx="54864" cy="731520"/>
          </a:xfrm>
          <a:prstGeom prst="rect">
            <a:avLst/>
          </a:prstGeom>
          <a:solidFill>
            <a:srgbClr val="E8453C"/>
          </a:solidFill>
          <a:ln w="12700">
            <a:solidFill>
              <a:srgbClr val="E8453C"/>
            </a:solidFill>
            <a:prstDash val="solid"/>
          </a:ln>
        </p:spPr>
        <p:txBody>
          <a:bodyPr/>
          <a:lstStyle/>
          <a:p>
            <a:endParaRPr lang="en-GB"/>
          </a:p>
        </p:txBody>
      </p:sp>
      <p:sp>
        <p:nvSpPr>
          <p:cNvPr id="10" name="Shape 8"/>
          <p:cNvSpPr/>
          <p:nvPr/>
        </p:nvSpPr>
        <p:spPr>
          <a:xfrm>
            <a:off x="365760" y="2249424"/>
            <a:ext cx="4069080" cy="201168"/>
          </a:xfrm>
          <a:prstGeom prst="rect">
            <a:avLst/>
          </a:prstGeom>
          <a:solidFill>
            <a:srgbClr val="E8453C">
              <a:alpha val="12000"/>
            </a:srgbClr>
          </a:solidFill>
          <a:ln w="12700">
            <a:solidFill>
              <a:srgbClr val="E8453C"/>
            </a:solidFill>
            <a:prstDash val="solid"/>
          </a:ln>
        </p:spPr>
        <p:txBody>
          <a:bodyPr/>
          <a:lstStyle/>
          <a:p>
            <a:endParaRPr lang="en-GB"/>
          </a:p>
        </p:txBody>
      </p:sp>
      <p:sp>
        <p:nvSpPr>
          <p:cNvPr id="11" name="Text 9"/>
          <p:cNvSpPr/>
          <p:nvPr/>
        </p:nvSpPr>
        <p:spPr>
          <a:xfrm>
            <a:off x="493776" y="1801368"/>
            <a:ext cx="3886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No Product Ownership</a:t>
            </a:r>
            <a:endParaRPr lang="en-US" sz="1050" dirty="0"/>
          </a:p>
        </p:txBody>
      </p:sp>
      <p:sp>
        <p:nvSpPr>
          <p:cNvPr id="12" name="Text 10"/>
          <p:cNvSpPr/>
          <p:nvPr/>
        </p:nvSpPr>
        <p:spPr>
          <a:xfrm>
            <a:off x="493776" y="2093976"/>
            <a:ext cx="3886200" cy="292608"/>
          </a:xfrm>
          <a:prstGeom prst="rect">
            <a:avLst/>
          </a:prstGeom>
          <a:noFill/>
          <a:ln/>
        </p:spPr>
        <p:txBody>
          <a:bodyPr wrap="square" lIns="0" tIns="0" rIns="0" bIns="0" rtlCol="0" anchor="ctr"/>
          <a:lstStyle/>
          <a:p>
            <a:pPr marL="0" indent="0">
              <a:buNone/>
            </a:pPr>
            <a:r>
              <a:rPr lang="en-US" sz="850" dirty="0">
                <a:solidFill>
                  <a:srgbClr val="C8C8C8"/>
                </a:solidFill>
                <a:latin typeface="Calibri" pitchFamily="34" charset="0"/>
                <a:ea typeface="Calibri" pitchFamily="34" charset="-122"/>
                <a:cs typeface="Calibri" pitchFamily="34" charset="-120"/>
              </a:rPr>
              <a:t>Nobody bridges Business ↔ Engineering. QAs inherit data modelling.</a:t>
            </a:r>
            <a:endParaRPr lang="en-US" sz="850" dirty="0"/>
          </a:p>
        </p:txBody>
      </p:sp>
      <p:sp>
        <p:nvSpPr>
          <p:cNvPr id="13" name="Shape 11"/>
          <p:cNvSpPr/>
          <p:nvPr/>
        </p:nvSpPr>
        <p:spPr>
          <a:xfrm>
            <a:off x="4526280" y="1719072"/>
            <a:ext cx="4069080" cy="731520"/>
          </a:xfrm>
          <a:prstGeom prst="rect">
            <a:avLst/>
          </a:prstGeom>
          <a:solidFill>
            <a:srgbClr val="1A0A0A"/>
          </a:solidFill>
          <a:ln w="12700">
            <a:solidFill>
              <a:srgbClr val="1A0A0A"/>
            </a:solidFill>
            <a:prstDash val="solid"/>
          </a:ln>
          <a:effectLst>
            <a:outerShdw blurRad="127000" dist="38100" dir="8100000" algn="bl" rotWithShape="0">
              <a:srgbClr val="000000">
                <a:alpha val="10000"/>
              </a:srgbClr>
            </a:outerShdw>
          </a:effectLst>
        </p:spPr>
        <p:txBody>
          <a:bodyPr/>
          <a:lstStyle/>
          <a:p>
            <a:endParaRPr lang="en-GB"/>
          </a:p>
        </p:txBody>
      </p:sp>
      <p:sp>
        <p:nvSpPr>
          <p:cNvPr id="14" name="Shape 12"/>
          <p:cNvSpPr/>
          <p:nvPr/>
        </p:nvSpPr>
        <p:spPr>
          <a:xfrm>
            <a:off x="4526280" y="1719072"/>
            <a:ext cx="54864" cy="731520"/>
          </a:xfrm>
          <a:prstGeom prst="rect">
            <a:avLst/>
          </a:prstGeom>
          <a:solidFill>
            <a:srgbClr val="E8453C"/>
          </a:solidFill>
          <a:ln w="12700">
            <a:solidFill>
              <a:srgbClr val="E8453C"/>
            </a:solidFill>
            <a:prstDash val="solid"/>
          </a:ln>
        </p:spPr>
        <p:txBody>
          <a:bodyPr/>
          <a:lstStyle/>
          <a:p>
            <a:endParaRPr lang="en-GB"/>
          </a:p>
        </p:txBody>
      </p:sp>
      <p:sp>
        <p:nvSpPr>
          <p:cNvPr id="15" name="Shape 13"/>
          <p:cNvSpPr/>
          <p:nvPr/>
        </p:nvSpPr>
        <p:spPr>
          <a:xfrm>
            <a:off x="4526280" y="2249424"/>
            <a:ext cx="4069080" cy="201168"/>
          </a:xfrm>
          <a:prstGeom prst="rect">
            <a:avLst/>
          </a:prstGeom>
          <a:solidFill>
            <a:srgbClr val="E8453C">
              <a:alpha val="12000"/>
            </a:srgbClr>
          </a:solidFill>
          <a:ln w="12700">
            <a:solidFill>
              <a:srgbClr val="E8453C"/>
            </a:solidFill>
            <a:prstDash val="solid"/>
          </a:ln>
        </p:spPr>
        <p:txBody>
          <a:bodyPr/>
          <a:lstStyle/>
          <a:p>
            <a:endParaRPr lang="en-GB"/>
          </a:p>
        </p:txBody>
      </p:sp>
      <p:sp>
        <p:nvSpPr>
          <p:cNvPr id="16" name="Text 14"/>
          <p:cNvSpPr/>
          <p:nvPr/>
        </p:nvSpPr>
        <p:spPr>
          <a:xfrm>
            <a:off x="4654296" y="1801368"/>
            <a:ext cx="3886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No Test Data Strategy</a:t>
            </a:r>
            <a:endParaRPr lang="en-US" sz="1050" dirty="0"/>
          </a:p>
        </p:txBody>
      </p:sp>
      <p:sp>
        <p:nvSpPr>
          <p:cNvPr id="17" name="Text 15"/>
          <p:cNvSpPr/>
          <p:nvPr/>
        </p:nvSpPr>
        <p:spPr>
          <a:xfrm>
            <a:off x="4654296" y="2093976"/>
            <a:ext cx="3886200" cy="292608"/>
          </a:xfrm>
          <a:prstGeom prst="rect">
            <a:avLst/>
          </a:prstGeom>
          <a:noFill/>
          <a:ln/>
        </p:spPr>
        <p:txBody>
          <a:bodyPr wrap="square" lIns="0" tIns="0" rIns="0" bIns="0" rtlCol="0" anchor="ctr"/>
          <a:lstStyle/>
          <a:p>
            <a:pPr marL="0" indent="0">
              <a:buNone/>
            </a:pPr>
            <a:r>
              <a:rPr lang="en-US" sz="850" dirty="0">
                <a:solidFill>
                  <a:srgbClr val="C8C8C8"/>
                </a:solidFill>
                <a:latin typeface="Calibri" pitchFamily="34" charset="0"/>
                <a:ea typeface="Calibri" pitchFamily="34" charset="-122"/>
                <a:cs typeface="Calibri" pitchFamily="34" charset="-120"/>
              </a:rPr>
              <a:t>TDM is informal, unowned, and blocks quality at every layer.</a:t>
            </a:r>
            <a:endParaRPr lang="en-US" sz="850" dirty="0"/>
          </a:p>
        </p:txBody>
      </p:sp>
      <p:sp>
        <p:nvSpPr>
          <p:cNvPr id="18" name="Shape 16"/>
          <p:cNvSpPr/>
          <p:nvPr/>
        </p:nvSpPr>
        <p:spPr>
          <a:xfrm>
            <a:off x="365760" y="2542032"/>
            <a:ext cx="4069080" cy="731520"/>
          </a:xfrm>
          <a:prstGeom prst="rect">
            <a:avLst/>
          </a:prstGeom>
          <a:solidFill>
            <a:srgbClr val="1A0A0A"/>
          </a:solidFill>
          <a:ln w="12700">
            <a:solidFill>
              <a:srgbClr val="1A0A0A"/>
            </a:solidFill>
            <a:prstDash val="solid"/>
          </a:ln>
          <a:effectLst>
            <a:outerShdw blurRad="127000" dist="38100" dir="8100000" algn="bl" rotWithShape="0">
              <a:srgbClr val="000000">
                <a:alpha val="10000"/>
              </a:srgbClr>
            </a:outerShdw>
          </a:effectLst>
        </p:spPr>
        <p:txBody>
          <a:bodyPr/>
          <a:lstStyle/>
          <a:p>
            <a:endParaRPr lang="en-GB"/>
          </a:p>
        </p:txBody>
      </p:sp>
      <p:sp>
        <p:nvSpPr>
          <p:cNvPr id="19" name="Shape 17"/>
          <p:cNvSpPr/>
          <p:nvPr/>
        </p:nvSpPr>
        <p:spPr>
          <a:xfrm>
            <a:off x="365760" y="2542032"/>
            <a:ext cx="54864" cy="731520"/>
          </a:xfrm>
          <a:prstGeom prst="rect">
            <a:avLst/>
          </a:prstGeom>
          <a:solidFill>
            <a:srgbClr val="E8453C"/>
          </a:solidFill>
          <a:ln w="12700">
            <a:solidFill>
              <a:srgbClr val="E8453C"/>
            </a:solidFill>
            <a:prstDash val="solid"/>
          </a:ln>
        </p:spPr>
        <p:txBody>
          <a:bodyPr/>
          <a:lstStyle/>
          <a:p>
            <a:endParaRPr lang="en-GB"/>
          </a:p>
        </p:txBody>
      </p:sp>
      <p:sp>
        <p:nvSpPr>
          <p:cNvPr id="20" name="Shape 18"/>
          <p:cNvSpPr/>
          <p:nvPr/>
        </p:nvSpPr>
        <p:spPr>
          <a:xfrm>
            <a:off x="365760" y="3072384"/>
            <a:ext cx="4069080" cy="201168"/>
          </a:xfrm>
          <a:prstGeom prst="rect">
            <a:avLst/>
          </a:prstGeom>
          <a:solidFill>
            <a:srgbClr val="E8453C">
              <a:alpha val="12000"/>
            </a:srgbClr>
          </a:solidFill>
          <a:ln w="12700">
            <a:solidFill>
              <a:srgbClr val="E8453C"/>
            </a:solidFill>
            <a:prstDash val="solid"/>
          </a:ln>
        </p:spPr>
        <p:txBody>
          <a:bodyPr/>
          <a:lstStyle/>
          <a:p>
            <a:endParaRPr lang="en-GB"/>
          </a:p>
        </p:txBody>
      </p:sp>
      <p:sp>
        <p:nvSpPr>
          <p:cNvPr id="21" name="Text 19"/>
          <p:cNvSpPr/>
          <p:nvPr/>
        </p:nvSpPr>
        <p:spPr>
          <a:xfrm>
            <a:off x="493776" y="2624328"/>
            <a:ext cx="3886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No Incident Logging</a:t>
            </a:r>
            <a:endParaRPr lang="en-US" sz="1050" dirty="0"/>
          </a:p>
        </p:txBody>
      </p:sp>
      <p:sp>
        <p:nvSpPr>
          <p:cNvPr id="22" name="Text 20"/>
          <p:cNvSpPr/>
          <p:nvPr/>
        </p:nvSpPr>
        <p:spPr>
          <a:xfrm>
            <a:off x="493776" y="2916936"/>
            <a:ext cx="3886200" cy="292608"/>
          </a:xfrm>
          <a:prstGeom prst="rect">
            <a:avLst/>
          </a:prstGeom>
          <a:noFill/>
          <a:ln/>
        </p:spPr>
        <p:txBody>
          <a:bodyPr wrap="square" lIns="0" tIns="0" rIns="0" bIns="0" rtlCol="0" anchor="ctr"/>
          <a:lstStyle/>
          <a:p>
            <a:pPr marL="0" indent="0">
              <a:buNone/>
            </a:pPr>
            <a:r>
              <a:rPr lang="en-US" sz="850" dirty="0">
                <a:solidFill>
                  <a:srgbClr val="C8C8C8"/>
                </a:solidFill>
                <a:latin typeface="Calibri" pitchFamily="34" charset="0"/>
                <a:ea typeface="Calibri" pitchFamily="34" charset="-122"/>
                <a:cs typeface="Calibri" pitchFamily="34" charset="-120"/>
              </a:rPr>
              <a:t>Production issues vanish. No patterns, no learning, no improvement.</a:t>
            </a:r>
            <a:endParaRPr lang="en-US" sz="850" dirty="0"/>
          </a:p>
        </p:txBody>
      </p:sp>
      <p:sp>
        <p:nvSpPr>
          <p:cNvPr id="23" name="Shape 21"/>
          <p:cNvSpPr/>
          <p:nvPr/>
        </p:nvSpPr>
        <p:spPr>
          <a:xfrm>
            <a:off x="4526280" y="2542032"/>
            <a:ext cx="4069080" cy="731520"/>
          </a:xfrm>
          <a:prstGeom prst="rect">
            <a:avLst/>
          </a:prstGeom>
          <a:solidFill>
            <a:srgbClr val="1A0A0A"/>
          </a:solidFill>
          <a:ln w="12700">
            <a:solidFill>
              <a:srgbClr val="1A0A0A"/>
            </a:solidFill>
            <a:prstDash val="solid"/>
          </a:ln>
          <a:effectLst>
            <a:outerShdw blurRad="127000" dist="38100" dir="8100000" algn="bl" rotWithShape="0">
              <a:srgbClr val="000000">
                <a:alpha val="10000"/>
              </a:srgbClr>
            </a:outerShdw>
          </a:effectLst>
        </p:spPr>
        <p:txBody>
          <a:bodyPr/>
          <a:lstStyle/>
          <a:p>
            <a:endParaRPr lang="en-GB"/>
          </a:p>
        </p:txBody>
      </p:sp>
      <p:sp>
        <p:nvSpPr>
          <p:cNvPr id="24" name="Shape 22"/>
          <p:cNvSpPr/>
          <p:nvPr/>
        </p:nvSpPr>
        <p:spPr>
          <a:xfrm>
            <a:off x="4526280" y="2542032"/>
            <a:ext cx="54864" cy="731520"/>
          </a:xfrm>
          <a:prstGeom prst="rect">
            <a:avLst/>
          </a:prstGeom>
          <a:solidFill>
            <a:srgbClr val="E8453C"/>
          </a:solidFill>
          <a:ln w="12700">
            <a:solidFill>
              <a:srgbClr val="E8453C"/>
            </a:solidFill>
            <a:prstDash val="solid"/>
          </a:ln>
        </p:spPr>
        <p:txBody>
          <a:bodyPr/>
          <a:lstStyle/>
          <a:p>
            <a:endParaRPr lang="en-GB"/>
          </a:p>
        </p:txBody>
      </p:sp>
      <p:sp>
        <p:nvSpPr>
          <p:cNvPr id="25" name="Shape 23"/>
          <p:cNvSpPr/>
          <p:nvPr/>
        </p:nvSpPr>
        <p:spPr>
          <a:xfrm>
            <a:off x="4526280" y="3072384"/>
            <a:ext cx="4069080" cy="201168"/>
          </a:xfrm>
          <a:prstGeom prst="rect">
            <a:avLst/>
          </a:prstGeom>
          <a:solidFill>
            <a:srgbClr val="E8453C">
              <a:alpha val="12000"/>
            </a:srgbClr>
          </a:solidFill>
          <a:ln w="12700">
            <a:solidFill>
              <a:srgbClr val="E8453C"/>
            </a:solidFill>
            <a:prstDash val="solid"/>
          </a:ln>
        </p:spPr>
        <p:txBody>
          <a:bodyPr/>
          <a:lstStyle/>
          <a:p>
            <a:endParaRPr lang="en-GB"/>
          </a:p>
        </p:txBody>
      </p:sp>
      <p:sp>
        <p:nvSpPr>
          <p:cNvPr id="26" name="Text 24"/>
          <p:cNvSpPr/>
          <p:nvPr/>
        </p:nvSpPr>
        <p:spPr>
          <a:xfrm>
            <a:off x="4654296" y="2624328"/>
            <a:ext cx="3886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No Performance Baselines</a:t>
            </a:r>
            <a:endParaRPr lang="en-US" sz="1050" dirty="0"/>
          </a:p>
        </p:txBody>
      </p:sp>
      <p:sp>
        <p:nvSpPr>
          <p:cNvPr id="27" name="Text 25"/>
          <p:cNvSpPr/>
          <p:nvPr/>
        </p:nvSpPr>
        <p:spPr>
          <a:xfrm>
            <a:off x="4654296" y="2916936"/>
            <a:ext cx="3886200" cy="292608"/>
          </a:xfrm>
          <a:prstGeom prst="rect">
            <a:avLst/>
          </a:prstGeom>
          <a:noFill/>
          <a:ln/>
        </p:spPr>
        <p:txBody>
          <a:bodyPr wrap="square" lIns="0" tIns="0" rIns="0" bIns="0" rtlCol="0" anchor="ctr"/>
          <a:lstStyle/>
          <a:p>
            <a:pPr marL="0" indent="0">
              <a:buNone/>
            </a:pPr>
            <a:r>
              <a:rPr lang="en-US" sz="850" dirty="0">
                <a:solidFill>
                  <a:srgbClr val="C8C8C8"/>
                </a:solidFill>
                <a:latin typeface="Calibri" pitchFamily="34" charset="0"/>
                <a:ea typeface="Calibri" pitchFamily="34" charset="-122"/>
                <a:cs typeface="Calibri" pitchFamily="34" charset="-120"/>
              </a:rPr>
              <a:t>No KPIs set at project start. Perf regressions go undetected.</a:t>
            </a:r>
            <a:endParaRPr lang="en-US" sz="850" dirty="0"/>
          </a:p>
        </p:txBody>
      </p:sp>
      <p:sp>
        <p:nvSpPr>
          <p:cNvPr id="28" name="Shape 26"/>
          <p:cNvSpPr/>
          <p:nvPr/>
        </p:nvSpPr>
        <p:spPr>
          <a:xfrm>
            <a:off x="365760" y="3364992"/>
            <a:ext cx="4069080" cy="731520"/>
          </a:xfrm>
          <a:prstGeom prst="rect">
            <a:avLst/>
          </a:prstGeom>
          <a:solidFill>
            <a:srgbClr val="1A1400"/>
          </a:solidFill>
          <a:ln w="12700">
            <a:solidFill>
              <a:srgbClr val="1A1400"/>
            </a:solidFill>
            <a:prstDash val="solid"/>
          </a:ln>
          <a:effectLst>
            <a:outerShdw blurRad="127000" dist="38100" dir="8100000" algn="bl" rotWithShape="0">
              <a:srgbClr val="000000">
                <a:alpha val="10000"/>
              </a:srgbClr>
            </a:outerShdw>
          </a:effectLst>
        </p:spPr>
        <p:txBody>
          <a:bodyPr/>
          <a:lstStyle/>
          <a:p>
            <a:endParaRPr lang="en-GB"/>
          </a:p>
        </p:txBody>
      </p:sp>
      <p:sp>
        <p:nvSpPr>
          <p:cNvPr id="29" name="Shape 27"/>
          <p:cNvSpPr/>
          <p:nvPr/>
        </p:nvSpPr>
        <p:spPr>
          <a:xfrm>
            <a:off x="365760" y="3364992"/>
            <a:ext cx="54864" cy="731520"/>
          </a:xfrm>
          <a:prstGeom prst="rect">
            <a:avLst/>
          </a:prstGeom>
          <a:solidFill>
            <a:srgbClr val="F59E0B"/>
          </a:solidFill>
          <a:ln w="12700">
            <a:solidFill>
              <a:srgbClr val="F59E0B"/>
            </a:solidFill>
            <a:prstDash val="solid"/>
          </a:ln>
        </p:spPr>
        <p:txBody>
          <a:bodyPr/>
          <a:lstStyle/>
          <a:p>
            <a:endParaRPr lang="en-GB"/>
          </a:p>
        </p:txBody>
      </p:sp>
      <p:sp>
        <p:nvSpPr>
          <p:cNvPr id="30" name="Shape 28"/>
          <p:cNvSpPr/>
          <p:nvPr/>
        </p:nvSpPr>
        <p:spPr>
          <a:xfrm>
            <a:off x="365760" y="3895344"/>
            <a:ext cx="4069080" cy="201168"/>
          </a:xfrm>
          <a:prstGeom prst="rect">
            <a:avLst/>
          </a:prstGeom>
          <a:solidFill>
            <a:srgbClr val="F59E0B">
              <a:alpha val="12000"/>
            </a:srgbClr>
          </a:solidFill>
          <a:ln w="12700">
            <a:solidFill>
              <a:srgbClr val="F59E0B"/>
            </a:solidFill>
            <a:prstDash val="solid"/>
          </a:ln>
        </p:spPr>
        <p:txBody>
          <a:bodyPr/>
          <a:lstStyle/>
          <a:p>
            <a:endParaRPr lang="en-GB"/>
          </a:p>
        </p:txBody>
      </p:sp>
      <p:sp>
        <p:nvSpPr>
          <p:cNvPr id="31" name="Text 29"/>
          <p:cNvSpPr/>
          <p:nvPr/>
        </p:nvSpPr>
        <p:spPr>
          <a:xfrm>
            <a:off x="493776" y="3447288"/>
            <a:ext cx="3886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Requirements Are Vague</a:t>
            </a:r>
            <a:endParaRPr lang="en-US" sz="1050" dirty="0"/>
          </a:p>
        </p:txBody>
      </p:sp>
      <p:sp>
        <p:nvSpPr>
          <p:cNvPr id="32" name="Text 30"/>
          <p:cNvSpPr/>
          <p:nvPr/>
        </p:nvSpPr>
        <p:spPr>
          <a:xfrm>
            <a:off x="493776" y="3739896"/>
            <a:ext cx="3886200" cy="292608"/>
          </a:xfrm>
          <a:prstGeom prst="rect">
            <a:avLst/>
          </a:prstGeom>
          <a:noFill/>
          <a:ln/>
        </p:spPr>
        <p:txBody>
          <a:bodyPr wrap="square" lIns="0" tIns="0" rIns="0" bIns="0" rtlCol="0" anchor="ctr"/>
          <a:lstStyle/>
          <a:p>
            <a:pPr marL="0" indent="0">
              <a:buNone/>
            </a:pPr>
            <a:r>
              <a:rPr lang="en-US" sz="850" dirty="0">
                <a:solidFill>
                  <a:srgbClr val="C8C8C8"/>
                </a:solidFill>
                <a:latin typeface="Calibri" pitchFamily="34" charset="0"/>
                <a:ea typeface="Calibri" pitchFamily="34" charset="-122"/>
                <a:cs typeface="Calibri" pitchFamily="34" charset="-120"/>
              </a:rPr>
              <a:t>Stories don't meet INVEST. ADO boards don't reflect reality.</a:t>
            </a:r>
            <a:endParaRPr lang="en-US" sz="850" dirty="0"/>
          </a:p>
        </p:txBody>
      </p:sp>
      <p:sp>
        <p:nvSpPr>
          <p:cNvPr id="33" name="Shape 31"/>
          <p:cNvSpPr/>
          <p:nvPr/>
        </p:nvSpPr>
        <p:spPr>
          <a:xfrm>
            <a:off x="4526280" y="3364992"/>
            <a:ext cx="4069080" cy="731520"/>
          </a:xfrm>
          <a:prstGeom prst="rect">
            <a:avLst/>
          </a:prstGeom>
          <a:solidFill>
            <a:srgbClr val="1A1400"/>
          </a:solidFill>
          <a:ln w="12700">
            <a:solidFill>
              <a:srgbClr val="1A1400"/>
            </a:solidFill>
            <a:prstDash val="solid"/>
          </a:ln>
          <a:effectLst>
            <a:outerShdw blurRad="127000" dist="38100" dir="8100000" algn="bl" rotWithShape="0">
              <a:srgbClr val="000000">
                <a:alpha val="10000"/>
              </a:srgbClr>
            </a:outerShdw>
          </a:effectLst>
        </p:spPr>
        <p:txBody>
          <a:bodyPr/>
          <a:lstStyle/>
          <a:p>
            <a:endParaRPr lang="en-GB"/>
          </a:p>
        </p:txBody>
      </p:sp>
      <p:sp>
        <p:nvSpPr>
          <p:cNvPr id="34" name="Shape 32"/>
          <p:cNvSpPr/>
          <p:nvPr/>
        </p:nvSpPr>
        <p:spPr>
          <a:xfrm>
            <a:off x="4526280" y="3364992"/>
            <a:ext cx="54864" cy="731520"/>
          </a:xfrm>
          <a:prstGeom prst="rect">
            <a:avLst/>
          </a:prstGeom>
          <a:solidFill>
            <a:srgbClr val="F59E0B"/>
          </a:solidFill>
          <a:ln w="12700">
            <a:solidFill>
              <a:srgbClr val="F59E0B"/>
            </a:solidFill>
            <a:prstDash val="solid"/>
          </a:ln>
        </p:spPr>
        <p:txBody>
          <a:bodyPr/>
          <a:lstStyle/>
          <a:p>
            <a:endParaRPr lang="en-GB"/>
          </a:p>
        </p:txBody>
      </p:sp>
      <p:sp>
        <p:nvSpPr>
          <p:cNvPr id="35" name="Shape 33"/>
          <p:cNvSpPr/>
          <p:nvPr/>
        </p:nvSpPr>
        <p:spPr>
          <a:xfrm>
            <a:off x="4526280" y="3895344"/>
            <a:ext cx="4069080" cy="201168"/>
          </a:xfrm>
          <a:prstGeom prst="rect">
            <a:avLst/>
          </a:prstGeom>
          <a:solidFill>
            <a:srgbClr val="F59E0B">
              <a:alpha val="12000"/>
            </a:srgbClr>
          </a:solidFill>
          <a:ln w="12700">
            <a:solidFill>
              <a:srgbClr val="F59E0B"/>
            </a:solidFill>
            <a:prstDash val="solid"/>
          </a:ln>
        </p:spPr>
        <p:txBody>
          <a:bodyPr/>
          <a:lstStyle/>
          <a:p>
            <a:endParaRPr lang="en-GB"/>
          </a:p>
        </p:txBody>
      </p:sp>
      <p:sp>
        <p:nvSpPr>
          <p:cNvPr id="36" name="Text 34"/>
          <p:cNvSpPr/>
          <p:nvPr/>
        </p:nvSpPr>
        <p:spPr>
          <a:xfrm>
            <a:off x="4654296" y="3447288"/>
            <a:ext cx="3886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Dev–Test Misalignment</a:t>
            </a:r>
            <a:endParaRPr lang="en-US" sz="1050" dirty="0"/>
          </a:p>
        </p:txBody>
      </p:sp>
      <p:sp>
        <p:nvSpPr>
          <p:cNvPr id="37" name="Text 35"/>
          <p:cNvSpPr/>
          <p:nvPr/>
        </p:nvSpPr>
        <p:spPr>
          <a:xfrm>
            <a:off x="4654296" y="3739896"/>
            <a:ext cx="3886200" cy="292608"/>
          </a:xfrm>
          <a:prstGeom prst="rect">
            <a:avLst/>
          </a:prstGeom>
          <a:noFill/>
          <a:ln/>
        </p:spPr>
        <p:txBody>
          <a:bodyPr wrap="square" lIns="0" tIns="0" rIns="0" bIns="0" rtlCol="0" anchor="ctr"/>
          <a:lstStyle/>
          <a:p>
            <a:pPr marL="0" indent="0">
              <a:buNone/>
            </a:pPr>
            <a:r>
              <a:rPr lang="en-US" sz="850" dirty="0">
                <a:solidFill>
                  <a:srgbClr val="C8C8C8"/>
                </a:solidFill>
                <a:latin typeface="Calibri" pitchFamily="34" charset="0"/>
                <a:ea typeface="Calibri" pitchFamily="34" charset="-122"/>
                <a:cs typeface="Calibri" pitchFamily="34" charset="-120"/>
              </a:rPr>
              <a:t>No 3-Amigos. Testers chase implementation detail after the fact.</a:t>
            </a:r>
            <a:endParaRPr lang="en-US" sz="850" dirty="0"/>
          </a:p>
        </p:txBody>
      </p:sp>
      <p:sp>
        <p:nvSpPr>
          <p:cNvPr id="38" name="Shape 36"/>
          <p:cNvSpPr/>
          <p:nvPr/>
        </p:nvSpPr>
        <p:spPr>
          <a:xfrm>
            <a:off x="365760" y="4187952"/>
            <a:ext cx="4069080" cy="731520"/>
          </a:xfrm>
          <a:prstGeom prst="rect">
            <a:avLst/>
          </a:prstGeom>
          <a:solidFill>
            <a:srgbClr val="1A1400"/>
          </a:solidFill>
          <a:ln w="12700">
            <a:solidFill>
              <a:srgbClr val="1A1400"/>
            </a:solidFill>
            <a:prstDash val="solid"/>
          </a:ln>
          <a:effectLst>
            <a:outerShdw blurRad="127000" dist="38100" dir="8100000" algn="bl" rotWithShape="0">
              <a:srgbClr val="000000">
                <a:alpha val="10000"/>
              </a:srgbClr>
            </a:outerShdw>
          </a:effectLst>
        </p:spPr>
        <p:txBody>
          <a:bodyPr/>
          <a:lstStyle/>
          <a:p>
            <a:endParaRPr lang="en-GB"/>
          </a:p>
        </p:txBody>
      </p:sp>
      <p:sp>
        <p:nvSpPr>
          <p:cNvPr id="39" name="Shape 37"/>
          <p:cNvSpPr/>
          <p:nvPr/>
        </p:nvSpPr>
        <p:spPr>
          <a:xfrm>
            <a:off x="365760" y="4187952"/>
            <a:ext cx="54864" cy="731520"/>
          </a:xfrm>
          <a:prstGeom prst="rect">
            <a:avLst/>
          </a:prstGeom>
          <a:solidFill>
            <a:srgbClr val="F59E0B"/>
          </a:solidFill>
          <a:ln w="12700">
            <a:solidFill>
              <a:srgbClr val="F59E0B"/>
            </a:solidFill>
            <a:prstDash val="solid"/>
          </a:ln>
        </p:spPr>
        <p:txBody>
          <a:bodyPr/>
          <a:lstStyle/>
          <a:p>
            <a:endParaRPr lang="en-GB"/>
          </a:p>
        </p:txBody>
      </p:sp>
      <p:sp>
        <p:nvSpPr>
          <p:cNvPr id="40" name="Shape 38"/>
          <p:cNvSpPr/>
          <p:nvPr/>
        </p:nvSpPr>
        <p:spPr>
          <a:xfrm>
            <a:off x="365760" y="4718304"/>
            <a:ext cx="4069080" cy="201168"/>
          </a:xfrm>
          <a:prstGeom prst="rect">
            <a:avLst/>
          </a:prstGeom>
          <a:solidFill>
            <a:srgbClr val="F59E0B">
              <a:alpha val="12000"/>
            </a:srgbClr>
          </a:solidFill>
          <a:ln w="12700">
            <a:solidFill>
              <a:srgbClr val="F59E0B"/>
            </a:solidFill>
            <a:prstDash val="solid"/>
          </a:ln>
        </p:spPr>
        <p:txBody>
          <a:bodyPr/>
          <a:lstStyle/>
          <a:p>
            <a:endParaRPr lang="en-GB"/>
          </a:p>
        </p:txBody>
      </p:sp>
      <p:sp>
        <p:nvSpPr>
          <p:cNvPr id="41" name="Text 39"/>
          <p:cNvSpPr/>
          <p:nvPr/>
        </p:nvSpPr>
        <p:spPr>
          <a:xfrm>
            <a:off x="493776" y="4270248"/>
            <a:ext cx="3886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No Deployment Visibility</a:t>
            </a:r>
            <a:endParaRPr lang="en-US" sz="1050" dirty="0"/>
          </a:p>
        </p:txBody>
      </p:sp>
      <p:sp>
        <p:nvSpPr>
          <p:cNvPr id="42" name="Text 40"/>
          <p:cNvSpPr/>
          <p:nvPr/>
        </p:nvSpPr>
        <p:spPr>
          <a:xfrm>
            <a:off x="493776" y="4562856"/>
            <a:ext cx="3886200" cy="292608"/>
          </a:xfrm>
          <a:prstGeom prst="rect">
            <a:avLst/>
          </a:prstGeom>
          <a:noFill/>
          <a:ln/>
        </p:spPr>
        <p:txBody>
          <a:bodyPr wrap="square" lIns="0" tIns="0" rIns="0" bIns="0" rtlCol="0" anchor="ctr"/>
          <a:lstStyle/>
          <a:p>
            <a:pPr marL="0" indent="0">
              <a:buNone/>
            </a:pPr>
            <a:r>
              <a:rPr lang="en-US" sz="850" dirty="0">
                <a:solidFill>
                  <a:srgbClr val="C8C8C8"/>
                </a:solidFill>
                <a:latin typeface="Calibri" pitchFamily="34" charset="0"/>
                <a:ea typeface="Calibri" pitchFamily="34" charset="-122"/>
                <a:cs typeface="Calibri" pitchFamily="34" charset="-120"/>
              </a:rPr>
              <a:t>Testers are blind to environment state and deployment history.</a:t>
            </a:r>
            <a:endParaRPr lang="en-US" sz="850" dirty="0"/>
          </a:p>
        </p:txBody>
      </p:sp>
      <p:sp>
        <p:nvSpPr>
          <p:cNvPr id="43" name="Shape 41"/>
          <p:cNvSpPr/>
          <p:nvPr/>
        </p:nvSpPr>
        <p:spPr>
          <a:xfrm>
            <a:off x="4526280" y="4187952"/>
            <a:ext cx="4069080" cy="731520"/>
          </a:xfrm>
          <a:prstGeom prst="rect">
            <a:avLst/>
          </a:prstGeom>
          <a:solidFill>
            <a:srgbClr val="1A1400"/>
          </a:solidFill>
          <a:ln w="12700">
            <a:solidFill>
              <a:srgbClr val="1A1400"/>
            </a:solidFill>
            <a:prstDash val="solid"/>
          </a:ln>
          <a:effectLst>
            <a:outerShdw blurRad="127000" dist="38100" dir="8100000" algn="bl" rotWithShape="0">
              <a:srgbClr val="000000">
                <a:alpha val="10000"/>
              </a:srgbClr>
            </a:outerShdw>
          </a:effectLst>
        </p:spPr>
        <p:txBody>
          <a:bodyPr/>
          <a:lstStyle/>
          <a:p>
            <a:endParaRPr lang="en-GB"/>
          </a:p>
        </p:txBody>
      </p:sp>
      <p:sp>
        <p:nvSpPr>
          <p:cNvPr id="44" name="Shape 42"/>
          <p:cNvSpPr/>
          <p:nvPr/>
        </p:nvSpPr>
        <p:spPr>
          <a:xfrm>
            <a:off x="4526280" y="4187952"/>
            <a:ext cx="54864" cy="731520"/>
          </a:xfrm>
          <a:prstGeom prst="rect">
            <a:avLst/>
          </a:prstGeom>
          <a:solidFill>
            <a:srgbClr val="F59E0B"/>
          </a:solidFill>
          <a:ln w="12700">
            <a:solidFill>
              <a:srgbClr val="F59E0B"/>
            </a:solidFill>
            <a:prstDash val="solid"/>
          </a:ln>
        </p:spPr>
        <p:txBody>
          <a:bodyPr/>
          <a:lstStyle/>
          <a:p>
            <a:endParaRPr lang="en-GB"/>
          </a:p>
        </p:txBody>
      </p:sp>
      <p:sp>
        <p:nvSpPr>
          <p:cNvPr id="45" name="Shape 43"/>
          <p:cNvSpPr/>
          <p:nvPr/>
        </p:nvSpPr>
        <p:spPr>
          <a:xfrm>
            <a:off x="4526280" y="4718304"/>
            <a:ext cx="4069080" cy="201168"/>
          </a:xfrm>
          <a:prstGeom prst="rect">
            <a:avLst/>
          </a:prstGeom>
          <a:solidFill>
            <a:srgbClr val="F59E0B">
              <a:alpha val="12000"/>
            </a:srgbClr>
          </a:solidFill>
          <a:ln w="12700">
            <a:solidFill>
              <a:srgbClr val="F59E0B"/>
            </a:solidFill>
            <a:prstDash val="solid"/>
          </a:ln>
        </p:spPr>
        <p:txBody>
          <a:bodyPr/>
          <a:lstStyle/>
          <a:p>
            <a:endParaRPr lang="en-GB"/>
          </a:p>
        </p:txBody>
      </p:sp>
      <p:sp>
        <p:nvSpPr>
          <p:cNvPr id="46" name="Text 44"/>
          <p:cNvSpPr/>
          <p:nvPr/>
        </p:nvSpPr>
        <p:spPr>
          <a:xfrm>
            <a:off x="4654296" y="4270248"/>
            <a:ext cx="3886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Ceremonies Lack Focus</a:t>
            </a:r>
            <a:endParaRPr lang="en-US" sz="1050" dirty="0"/>
          </a:p>
        </p:txBody>
      </p:sp>
      <p:sp>
        <p:nvSpPr>
          <p:cNvPr id="47" name="Text 45"/>
          <p:cNvSpPr/>
          <p:nvPr/>
        </p:nvSpPr>
        <p:spPr>
          <a:xfrm>
            <a:off x="4654296" y="4562856"/>
            <a:ext cx="3886200" cy="292608"/>
          </a:xfrm>
          <a:prstGeom prst="rect">
            <a:avLst/>
          </a:prstGeom>
          <a:noFill/>
          <a:ln/>
        </p:spPr>
        <p:txBody>
          <a:bodyPr wrap="square" lIns="0" tIns="0" rIns="0" bIns="0" rtlCol="0" anchor="ctr"/>
          <a:lstStyle/>
          <a:p>
            <a:pPr marL="0" indent="0">
              <a:buNone/>
            </a:pPr>
            <a:r>
              <a:rPr lang="en-US" sz="850" dirty="0">
                <a:solidFill>
                  <a:srgbClr val="C8C8C8"/>
                </a:solidFill>
                <a:latin typeface="Calibri" pitchFamily="34" charset="0"/>
                <a:ea typeface="Calibri" pitchFamily="34" charset="-122"/>
                <a:cs typeface="Calibri" pitchFamily="34" charset="-120"/>
              </a:rPr>
              <a:t>Daily stand-ups are status theatre. Goals aren't written down.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Agenda</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Ten areas of focus — structured for discussion</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3 / 22</a:t>
            </a:r>
            <a:endParaRPr lang="en-US" sz="900" dirty="0"/>
          </a:p>
        </p:txBody>
      </p:sp>
      <p:sp>
        <p:nvSpPr>
          <p:cNvPr id="7" name="Shape 5"/>
          <p:cNvSpPr/>
          <p:nvPr/>
        </p:nvSpPr>
        <p:spPr>
          <a:xfrm>
            <a:off x="365760" y="960120"/>
            <a:ext cx="4023360" cy="420624"/>
          </a:xfrm>
          <a:prstGeom prst="rect">
            <a:avLst/>
          </a:prstGeom>
          <a:solidFill>
            <a:srgbClr val="12203A"/>
          </a:solidFill>
          <a:ln w="12700">
            <a:solidFill>
              <a:srgbClr val="FFFFFF"/>
            </a:solidFill>
            <a:prstDash val="solid"/>
          </a:ln>
          <a:effectLst>
            <a:outerShdw blurRad="127000" dist="38100" dir="8100000" algn="bl" rotWithShape="0">
              <a:srgbClr val="000000">
                <a:alpha val="10000"/>
              </a:srgbClr>
            </a:outerShdw>
          </a:effectLst>
        </p:spPr>
        <p:txBody>
          <a:bodyPr/>
          <a:lstStyle/>
          <a:p>
            <a:endParaRPr lang="en-GB"/>
          </a:p>
        </p:txBody>
      </p:sp>
      <p:sp>
        <p:nvSpPr>
          <p:cNvPr id="8" name="Text 6"/>
          <p:cNvSpPr/>
          <p:nvPr/>
        </p:nvSpPr>
        <p:spPr>
          <a:xfrm>
            <a:off x="438912" y="960120"/>
            <a:ext cx="411480" cy="420624"/>
          </a:xfrm>
          <a:prstGeom prst="rect">
            <a:avLst/>
          </a:prstGeom>
          <a:noFill/>
          <a:ln/>
        </p:spPr>
        <p:txBody>
          <a:bodyPr wrap="square" lIns="0" tIns="0" rIns="0" bIns="0" rtlCol="0" anchor="ctr"/>
          <a:lstStyle/>
          <a:p>
            <a:pPr marL="0" indent="0" algn="ctr">
              <a:buNone/>
            </a:pPr>
            <a:r>
              <a:rPr lang="en-US" sz="1300" b="1" dirty="0">
                <a:solidFill>
                  <a:srgbClr val="0E7C7B"/>
                </a:solidFill>
                <a:latin typeface="Calibri" pitchFamily="34" charset="0"/>
                <a:ea typeface="Calibri" pitchFamily="34" charset="-122"/>
                <a:cs typeface="Calibri" pitchFamily="34" charset="-120"/>
              </a:rPr>
              <a:t>01</a:t>
            </a:r>
            <a:endParaRPr lang="en-US" sz="1300" dirty="0"/>
          </a:p>
        </p:txBody>
      </p:sp>
      <p:sp>
        <p:nvSpPr>
          <p:cNvPr id="9" name="Shape 7"/>
          <p:cNvSpPr/>
          <p:nvPr/>
        </p:nvSpPr>
        <p:spPr>
          <a:xfrm>
            <a:off x="822960" y="1051560"/>
            <a:ext cx="0" cy="237744"/>
          </a:xfrm>
          <a:prstGeom prst="line">
            <a:avLst/>
          </a:prstGeom>
          <a:noFill/>
          <a:ln w="12700">
            <a:solidFill>
              <a:srgbClr val="0E7C7B"/>
            </a:solidFill>
            <a:prstDash val="solid"/>
          </a:ln>
        </p:spPr>
        <p:txBody>
          <a:bodyPr/>
          <a:lstStyle/>
          <a:p>
            <a:endParaRPr lang="en-GB"/>
          </a:p>
        </p:txBody>
      </p:sp>
      <p:sp>
        <p:nvSpPr>
          <p:cNvPr id="10" name="Text 8"/>
          <p:cNvSpPr/>
          <p:nvPr/>
        </p:nvSpPr>
        <p:spPr>
          <a:xfrm>
            <a:off x="896112" y="1005840"/>
            <a:ext cx="3218688"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Product Ownership &amp; SME Coverage</a:t>
            </a:r>
            <a:endParaRPr lang="en-US" sz="1000" dirty="0"/>
          </a:p>
        </p:txBody>
      </p:sp>
      <p:sp>
        <p:nvSpPr>
          <p:cNvPr id="11" name="Text 9"/>
          <p:cNvSpPr/>
          <p:nvPr/>
        </p:nvSpPr>
        <p:spPr>
          <a:xfrm>
            <a:off x="896112" y="1207008"/>
            <a:ext cx="3218688" cy="164592"/>
          </a:xfrm>
          <a:prstGeom prst="rect">
            <a:avLst/>
          </a:prstGeom>
          <a:noFill/>
          <a:ln/>
        </p:spPr>
        <p:txBody>
          <a:bodyPr wrap="square" lIns="0" tIns="0" rIns="0" bIns="0" rtlCol="0" anchor="ctr"/>
          <a:lstStyle/>
          <a:p>
            <a:pPr marL="0" indent="0">
              <a:buNone/>
            </a:pPr>
            <a:r>
              <a:rPr lang="en-US" sz="750" dirty="0">
                <a:solidFill>
                  <a:srgbClr val="7AAABB"/>
                </a:solidFill>
                <a:latin typeface="Calibri" pitchFamily="34" charset="0"/>
                <a:ea typeface="Calibri" pitchFamily="34" charset="-122"/>
                <a:cs typeface="Calibri" pitchFamily="34" charset="-120"/>
              </a:rPr>
              <a:t>Slides 4–5</a:t>
            </a:r>
            <a:endParaRPr lang="en-US" sz="750" dirty="0"/>
          </a:p>
        </p:txBody>
      </p:sp>
      <p:sp>
        <p:nvSpPr>
          <p:cNvPr id="12" name="Shape 10"/>
          <p:cNvSpPr/>
          <p:nvPr/>
        </p:nvSpPr>
        <p:spPr>
          <a:xfrm>
            <a:off x="4462272" y="960120"/>
            <a:ext cx="4023360" cy="420624"/>
          </a:xfrm>
          <a:prstGeom prst="rect">
            <a:avLst/>
          </a:prstGeom>
          <a:solidFill>
            <a:srgbClr val="0A4E4D"/>
          </a:solidFill>
          <a:ln w="12700">
            <a:solidFill>
              <a:srgbClr val="FFFFFF"/>
            </a:solidFill>
            <a:prstDash val="solid"/>
          </a:ln>
          <a:effectLst>
            <a:outerShdw blurRad="127000" dist="38100" dir="8100000" algn="bl" rotWithShape="0">
              <a:srgbClr val="000000">
                <a:alpha val="10000"/>
              </a:srgbClr>
            </a:outerShdw>
          </a:effectLst>
        </p:spPr>
        <p:txBody>
          <a:bodyPr/>
          <a:lstStyle/>
          <a:p>
            <a:endParaRPr lang="en-GB"/>
          </a:p>
        </p:txBody>
      </p:sp>
      <p:sp>
        <p:nvSpPr>
          <p:cNvPr id="13" name="Text 11"/>
          <p:cNvSpPr/>
          <p:nvPr/>
        </p:nvSpPr>
        <p:spPr>
          <a:xfrm>
            <a:off x="4535424" y="960120"/>
            <a:ext cx="411480" cy="420624"/>
          </a:xfrm>
          <a:prstGeom prst="rect">
            <a:avLst/>
          </a:prstGeom>
          <a:noFill/>
          <a:ln/>
        </p:spPr>
        <p:txBody>
          <a:bodyPr wrap="square" lIns="0" tIns="0" rIns="0" bIns="0" rtlCol="0" anchor="ctr"/>
          <a:lstStyle/>
          <a:p>
            <a:pPr marL="0" indent="0" algn="ctr">
              <a:buNone/>
            </a:pPr>
            <a:r>
              <a:rPr lang="en-US" sz="1300" b="1" dirty="0">
                <a:solidFill>
                  <a:srgbClr val="0E7C7B"/>
                </a:solidFill>
                <a:latin typeface="Calibri" pitchFamily="34" charset="0"/>
                <a:ea typeface="Calibri" pitchFamily="34" charset="-122"/>
                <a:cs typeface="Calibri" pitchFamily="34" charset="-120"/>
              </a:rPr>
              <a:t>02</a:t>
            </a:r>
            <a:endParaRPr lang="en-US" sz="1300" dirty="0"/>
          </a:p>
        </p:txBody>
      </p:sp>
      <p:sp>
        <p:nvSpPr>
          <p:cNvPr id="14" name="Shape 12"/>
          <p:cNvSpPr/>
          <p:nvPr/>
        </p:nvSpPr>
        <p:spPr>
          <a:xfrm>
            <a:off x="4919472" y="1051560"/>
            <a:ext cx="0" cy="237744"/>
          </a:xfrm>
          <a:prstGeom prst="line">
            <a:avLst/>
          </a:prstGeom>
          <a:noFill/>
          <a:ln w="12700">
            <a:solidFill>
              <a:srgbClr val="0E7C7B"/>
            </a:solidFill>
            <a:prstDash val="solid"/>
          </a:ln>
        </p:spPr>
        <p:txBody>
          <a:bodyPr/>
          <a:lstStyle/>
          <a:p>
            <a:endParaRPr lang="en-GB"/>
          </a:p>
        </p:txBody>
      </p:sp>
      <p:sp>
        <p:nvSpPr>
          <p:cNvPr id="15" name="Text 13"/>
          <p:cNvSpPr/>
          <p:nvPr/>
        </p:nvSpPr>
        <p:spPr>
          <a:xfrm>
            <a:off x="4992624" y="1005840"/>
            <a:ext cx="3218688"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Test Data Management</a:t>
            </a:r>
            <a:endParaRPr lang="en-US" sz="1000" dirty="0"/>
          </a:p>
        </p:txBody>
      </p:sp>
      <p:sp>
        <p:nvSpPr>
          <p:cNvPr id="16" name="Text 14"/>
          <p:cNvSpPr/>
          <p:nvPr/>
        </p:nvSpPr>
        <p:spPr>
          <a:xfrm>
            <a:off x="4992624" y="1207008"/>
            <a:ext cx="3218688" cy="164592"/>
          </a:xfrm>
          <a:prstGeom prst="rect">
            <a:avLst/>
          </a:prstGeom>
          <a:noFill/>
          <a:ln/>
        </p:spPr>
        <p:txBody>
          <a:bodyPr wrap="square" lIns="0" tIns="0" rIns="0" bIns="0" rtlCol="0" anchor="ctr"/>
          <a:lstStyle/>
          <a:p>
            <a:pPr marL="0" indent="0">
              <a:buNone/>
            </a:pPr>
            <a:r>
              <a:rPr lang="en-US" sz="750" dirty="0">
                <a:solidFill>
                  <a:srgbClr val="7AAABB"/>
                </a:solidFill>
                <a:latin typeface="Calibri" pitchFamily="34" charset="0"/>
                <a:ea typeface="Calibri" pitchFamily="34" charset="-122"/>
                <a:cs typeface="Calibri" pitchFamily="34" charset="-120"/>
              </a:rPr>
              <a:t>Slides 6–7</a:t>
            </a:r>
            <a:endParaRPr lang="en-US" sz="750" dirty="0"/>
          </a:p>
        </p:txBody>
      </p:sp>
      <p:sp>
        <p:nvSpPr>
          <p:cNvPr id="17" name="Shape 15"/>
          <p:cNvSpPr/>
          <p:nvPr/>
        </p:nvSpPr>
        <p:spPr>
          <a:xfrm>
            <a:off x="365760" y="1453896"/>
            <a:ext cx="4023360" cy="420624"/>
          </a:xfrm>
          <a:prstGeom prst="rect">
            <a:avLst/>
          </a:prstGeom>
          <a:solidFill>
            <a:srgbClr val="12203A"/>
          </a:solidFill>
          <a:ln w="12700">
            <a:solidFill>
              <a:srgbClr val="FFFFFF"/>
            </a:solidFill>
            <a:prstDash val="solid"/>
          </a:ln>
          <a:effectLst>
            <a:outerShdw blurRad="127000" dist="38100" dir="8100000" algn="bl" rotWithShape="0">
              <a:srgbClr val="000000">
                <a:alpha val="10000"/>
              </a:srgbClr>
            </a:outerShdw>
          </a:effectLst>
        </p:spPr>
        <p:txBody>
          <a:bodyPr/>
          <a:lstStyle/>
          <a:p>
            <a:endParaRPr lang="en-GB"/>
          </a:p>
        </p:txBody>
      </p:sp>
      <p:sp>
        <p:nvSpPr>
          <p:cNvPr id="18" name="Text 16"/>
          <p:cNvSpPr/>
          <p:nvPr/>
        </p:nvSpPr>
        <p:spPr>
          <a:xfrm>
            <a:off x="438912" y="1453896"/>
            <a:ext cx="411480" cy="420624"/>
          </a:xfrm>
          <a:prstGeom prst="rect">
            <a:avLst/>
          </a:prstGeom>
          <a:noFill/>
          <a:ln/>
        </p:spPr>
        <p:txBody>
          <a:bodyPr wrap="square" lIns="0" tIns="0" rIns="0" bIns="0" rtlCol="0" anchor="ctr"/>
          <a:lstStyle/>
          <a:p>
            <a:pPr marL="0" indent="0" algn="ctr">
              <a:buNone/>
            </a:pPr>
            <a:r>
              <a:rPr lang="en-US" sz="1300" b="1" dirty="0">
                <a:solidFill>
                  <a:srgbClr val="0E7C7B"/>
                </a:solidFill>
                <a:latin typeface="Calibri" pitchFamily="34" charset="0"/>
                <a:ea typeface="Calibri" pitchFamily="34" charset="-122"/>
                <a:cs typeface="Calibri" pitchFamily="34" charset="-120"/>
              </a:rPr>
              <a:t>03</a:t>
            </a:r>
            <a:endParaRPr lang="en-US" sz="1300" dirty="0"/>
          </a:p>
        </p:txBody>
      </p:sp>
      <p:sp>
        <p:nvSpPr>
          <p:cNvPr id="19" name="Shape 17"/>
          <p:cNvSpPr/>
          <p:nvPr/>
        </p:nvSpPr>
        <p:spPr>
          <a:xfrm>
            <a:off x="822960" y="1545336"/>
            <a:ext cx="0" cy="237744"/>
          </a:xfrm>
          <a:prstGeom prst="line">
            <a:avLst/>
          </a:prstGeom>
          <a:noFill/>
          <a:ln w="12700">
            <a:solidFill>
              <a:srgbClr val="0E7C7B"/>
            </a:solidFill>
            <a:prstDash val="solid"/>
          </a:ln>
        </p:spPr>
        <p:txBody>
          <a:bodyPr/>
          <a:lstStyle/>
          <a:p>
            <a:endParaRPr lang="en-GB"/>
          </a:p>
        </p:txBody>
      </p:sp>
      <p:sp>
        <p:nvSpPr>
          <p:cNvPr id="20" name="Text 18"/>
          <p:cNvSpPr/>
          <p:nvPr/>
        </p:nvSpPr>
        <p:spPr>
          <a:xfrm>
            <a:off x="896112" y="1499616"/>
            <a:ext cx="3218688"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Requirements &amp; ADO Board Hygiene</a:t>
            </a:r>
            <a:endParaRPr lang="en-US" sz="1000" dirty="0"/>
          </a:p>
        </p:txBody>
      </p:sp>
      <p:sp>
        <p:nvSpPr>
          <p:cNvPr id="21" name="Text 19"/>
          <p:cNvSpPr/>
          <p:nvPr/>
        </p:nvSpPr>
        <p:spPr>
          <a:xfrm>
            <a:off x="896112" y="1700784"/>
            <a:ext cx="3218688" cy="164592"/>
          </a:xfrm>
          <a:prstGeom prst="rect">
            <a:avLst/>
          </a:prstGeom>
          <a:noFill/>
          <a:ln/>
        </p:spPr>
        <p:txBody>
          <a:bodyPr wrap="square" lIns="0" tIns="0" rIns="0" bIns="0" rtlCol="0" anchor="ctr"/>
          <a:lstStyle/>
          <a:p>
            <a:pPr marL="0" indent="0">
              <a:buNone/>
            </a:pPr>
            <a:r>
              <a:rPr lang="en-US" sz="750" dirty="0">
                <a:solidFill>
                  <a:srgbClr val="7AAABB"/>
                </a:solidFill>
                <a:latin typeface="Calibri" pitchFamily="34" charset="0"/>
                <a:ea typeface="Calibri" pitchFamily="34" charset="-122"/>
                <a:cs typeface="Calibri" pitchFamily="34" charset="-120"/>
              </a:rPr>
              <a:t>Slides 8–9</a:t>
            </a:r>
            <a:endParaRPr lang="en-US" sz="750" dirty="0"/>
          </a:p>
        </p:txBody>
      </p:sp>
      <p:sp>
        <p:nvSpPr>
          <p:cNvPr id="22" name="Shape 20"/>
          <p:cNvSpPr/>
          <p:nvPr/>
        </p:nvSpPr>
        <p:spPr>
          <a:xfrm>
            <a:off x="4462272" y="1453896"/>
            <a:ext cx="4023360" cy="420624"/>
          </a:xfrm>
          <a:prstGeom prst="rect">
            <a:avLst/>
          </a:prstGeom>
          <a:solidFill>
            <a:srgbClr val="0A4E4D"/>
          </a:solidFill>
          <a:ln w="12700">
            <a:solidFill>
              <a:srgbClr val="FFFFFF"/>
            </a:solidFill>
            <a:prstDash val="solid"/>
          </a:ln>
          <a:effectLst>
            <a:outerShdw blurRad="127000" dist="38100" dir="8100000" algn="bl" rotWithShape="0">
              <a:srgbClr val="000000">
                <a:alpha val="10000"/>
              </a:srgbClr>
            </a:outerShdw>
          </a:effectLst>
        </p:spPr>
        <p:txBody>
          <a:bodyPr/>
          <a:lstStyle/>
          <a:p>
            <a:endParaRPr lang="en-GB"/>
          </a:p>
        </p:txBody>
      </p:sp>
      <p:sp>
        <p:nvSpPr>
          <p:cNvPr id="23" name="Text 21"/>
          <p:cNvSpPr/>
          <p:nvPr/>
        </p:nvSpPr>
        <p:spPr>
          <a:xfrm>
            <a:off x="4535424" y="1453896"/>
            <a:ext cx="411480" cy="420624"/>
          </a:xfrm>
          <a:prstGeom prst="rect">
            <a:avLst/>
          </a:prstGeom>
          <a:noFill/>
          <a:ln/>
        </p:spPr>
        <p:txBody>
          <a:bodyPr wrap="square" lIns="0" tIns="0" rIns="0" bIns="0" rtlCol="0" anchor="ctr"/>
          <a:lstStyle/>
          <a:p>
            <a:pPr marL="0" indent="0" algn="ctr">
              <a:buNone/>
            </a:pPr>
            <a:r>
              <a:rPr lang="en-US" sz="1300" b="1" dirty="0">
                <a:solidFill>
                  <a:srgbClr val="0E7C7B"/>
                </a:solidFill>
                <a:latin typeface="Calibri" pitchFamily="34" charset="0"/>
                <a:ea typeface="Calibri" pitchFamily="34" charset="-122"/>
                <a:cs typeface="Calibri" pitchFamily="34" charset="-120"/>
              </a:rPr>
              <a:t>04</a:t>
            </a:r>
            <a:endParaRPr lang="en-US" sz="1300" dirty="0"/>
          </a:p>
        </p:txBody>
      </p:sp>
      <p:sp>
        <p:nvSpPr>
          <p:cNvPr id="24" name="Shape 22"/>
          <p:cNvSpPr/>
          <p:nvPr/>
        </p:nvSpPr>
        <p:spPr>
          <a:xfrm>
            <a:off x="4919472" y="1545336"/>
            <a:ext cx="0" cy="237744"/>
          </a:xfrm>
          <a:prstGeom prst="line">
            <a:avLst/>
          </a:prstGeom>
          <a:noFill/>
          <a:ln w="12700">
            <a:solidFill>
              <a:srgbClr val="0E7C7B"/>
            </a:solidFill>
            <a:prstDash val="solid"/>
          </a:ln>
        </p:spPr>
        <p:txBody>
          <a:bodyPr/>
          <a:lstStyle/>
          <a:p>
            <a:endParaRPr lang="en-GB"/>
          </a:p>
        </p:txBody>
      </p:sp>
      <p:sp>
        <p:nvSpPr>
          <p:cNvPr id="25" name="Text 23"/>
          <p:cNvSpPr/>
          <p:nvPr/>
        </p:nvSpPr>
        <p:spPr>
          <a:xfrm>
            <a:off x="4992624" y="1499616"/>
            <a:ext cx="3218688"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Dev–Test Collaboration &amp; 3-Amigos</a:t>
            </a:r>
            <a:endParaRPr lang="en-US" sz="1000" dirty="0"/>
          </a:p>
        </p:txBody>
      </p:sp>
      <p:sp>
        <p:nvSpPr>
          <p:cNvPr id="26" name="Text 24"/>
          <p:cNvSpPr/>
          <p:nvPr/>
        </p:nvSpPr>
        <p:spPr>
          <a:xfrm>
            <a:off x="4992624" y="1700784"/>
            <a:ext cx="3218688" cy="164592"/>
          </a:xfrm>
          <a:prstGeom prst="rect">
            <a:avLst/>
          </a:prstGeom>
          <a:noFill/>
          <a:ln/>
        </p:spPr>
        <p:txBody>
          <a:bodyPr wrap="square" lIns="0" tIns="0" rIns="0" bIns="0" rtlCol="0" anchor="ctr"/>
          <a:lstStyle/>
          <a:p>
            <a:pPr marL="0" indent="0">
              <a:buNone/>
            </a:pPr>
            <a:r>
              <a:rPr lang="en-US" sz="750" dirty="0">
                <a:solidFill>
                  <a:srgbClr val="7AAABB"/>
                </a:solidFill>
                <a:latin typeface="Calibri" pitchFamily="34" charset="0"/>
                <a:ea typeface="Calibri" pitchFamily="34" charset="-122"/>
                <a:cs typeface="Calibri" pitchFamily="34" charset="-120"/>
              </a:rPr>
              <a:t>Slides 10–11</a:t>
            </a:r>
            <a:endParaRPr lang="en-US" sz="750" dirty="0"/>
          </a:p>
        </p:txBody>
      </p:sp>
      <p:sp>
        <p:nvSpPr>
          <p:cNvPr id="27" name="Shape 25"/>
          <p:cNvSpPr/>
          <p:nvPr/>
        </p:nvSpPr>
        <p:spPr>
          <a:xfrm>
            <a:off x="365760" y="1947672"/>
            <a:ext cx="4023360" cy="420624"/>
          </a:xfrm>
          <a:prstGeom prst="rect">
            <a:avLst/>
          </a:prstGeom>
          <a:solidFill>
            <a:srgbClr val="12203A"/>
          </a:solidFill>
          <a:ln w="12700">
            <a:solidFill>
              <a:srgbClr val="FFFFFF"/>
            </a:solidFill>
            <a:prstDash val="solid"/>
          </a:ln>
          <a:effectLst>
            <a:outerShdw blurRad="127000" dist="38100" dir="8100000" algn="bl" rotWithShape="0">
              <a:srgbClr val="000000">
                <a:alpha val="10000"/>
              </a:srgbClr>
            </a:outerShdw>
          </a:effectLst>
        </p:spPr>
        <p:txBody>
          <a:bodyPr/>
          <a:lstStyle/>
          <a:p>
            <a:endParaRPr lang="en-GB"/>
          </a:p>
        </p:txBody>
      </p:sp>
      <p:sp>
        <p:nvSpPr>
          <p:cNvPr id="28" name="Text 26"/>
          <p:cNvSpPr/>
          <p:nvPr/>
        </p:nvSpPr>
        <p:spPr>
          <a:xfrm>
            <a:off x="438912" y="1947672"/>
            <a:ext cx="411480" cy="420624"/>
          </a:xfrm>
          <a:prstGeom prst="rect">
            <a:avLst/>
          </a:prstGeom>
          <a:noFill/>
          <a:ln/>
        </p:spPr>
        <p:txBody>
          <a:bodyPr wrap="square" lIns="0" tIns="0" rIns="0" bIns="0" rtlCol="0" anchor="ctr"/>
          <a:lstStyle/>
          <a:p>
            <a:pPr marL="0" indent="0" algn="ctr">
              <a:buNone/>
            </a:pPr>
            <a:r>
              <a:rPr lang="en-US" sz="1300" b="1" dirty="0">
                <a:solidFill>
                  <a:srgbClr val="0E7C7B"/>
                </a:solidFill>
                <a:latin typeface="Calibri" pitchFamily="34" charset="0"/>
                <a:ea typeface="Calibri" pitchFamily="34" charset="-122"/>
                <a:cs typeface="Calibri" pitchFamily="34" charset="-120"/>
              </a:rPr>
              <a:t>05</a:t>
            </a:r>
            <a:endParaRPr lang="en-US" sz="1300" dirty="0"/>
          </a:p>
        </p:txBody>
      </p:sp>
      <p:sp>
        <p:nvSpPr>
          <p:cNvPr id="29" name="Shape 27"/>
          <p:cNvSpPr/>
          <p:nvPr/>
        </p:nvSpPr>
        <p:spPr>
          <a:xfrm>
            <a:off x="822960" y="2039112"/>
            <a:ext cx="0" cy="237744"/>
          </a:xfrm>
          <a:prstGeom prst="line">
            <a:avLst/>
          </a:prstGeom>
          <a:noFill/>
          <a:ln w="12700">
            <a:solidFill>
              <a:srgbClr val="0E7C7B"/>
            </a:solidFill>
            <a:prstDash val="solid"/>
          </a:ln>
        </p:spPr>
        <p:txBody>
          <a:bodyPr/>
          <a:lstStyle/>
          <a:p>
            <a:endParaRPr lang="en-GB"/>
          </a:p>
        </p:txBody>
      </p:sp>
      <p:sp>
        <p:nvSpPr>
          <p:cNvPr id="30" name="Text 28"/>
          <p:cNvSpPr/>
          <p:nvPr/>
        </p:nvSpPr>
        <p:spPr>
          <a:xfrm>
            <a:off x="896112" y="1993392"/>
            <a:ext cx="3218688"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Development Patterns &amp; Handovers</a:t>
            </a:r>
            <a:endParaRPr lang="en-US" sz="1000" dirty="0"/>
          </a:p>
        </p:txBody>
      </p:sp>
      <p:sp>
        <p:nvSpPr>
          <p:cNvPr id="31" name="Text 29"/>
          <p:cNvSpPr/>
          <p:nvPr/>
        </p:nvSpPr>
        <p:spPr>
          <a:xfrm>
            <a:off x="896112" y="2194560"/>
            <a:ext cx="3218688" cy="164592"/>
          </a:xfrm>
          <a:prstGeom prst="rect">
            <a:avLst/>
          </a:prstGeom>
          <a:noFill/>
          <a:ln/>
        </p:spPr>
        <p:txBody>
          <a:bodyPr wrap="square" lIns="0" tIns="0" rIns="0" bIns="0" rtlCol="0" anchor="ctr"/>
          <a:lstStyle/>
          <a:p>
            <a:pPr marL="0" indent="0">
              <a:buNone/>
            </a:pPr>
            <a:r>
              <a:rPr lang="en-US" sz="750" dirty="0">
                <a:solidFill>
                  <a:srgbClr val="7AAABB"/>
                </a:solidFill>
                <a:latin typeface="Calibri" pitchFamily="34" charset="0"/>
                <a:ea typeface="Calibri" pitchFamily="34" charset="-122"/>
                <a:cs typeface="Calibri" pitchFamily="34" charset="-120"/>
              </a:rPr>
              <a:t>Slides 12</a:t>
            </a:r>
            <a:endParaRPr lang="en-US" sz="750" dirty="0"/>
          </a:p>
        </p:txBody>
      </p:sp>
      <p:sp>
        <p:nvSpPr>
          <p:cNvPr id="32" name="Shape 30"/>
          <p:cNvSpPr/>
          <p:nvPr/>
        </p:nvSpPr>
        <p:spPr>
          <a:xfrm>
            <a:off x="4462272" y="1947672"/>
            <a:ext cx="4023360" cy="420624"/>
          </a:xfrm>
          <a:prstGeom prst="rect">
            <a:avLst/>
          </a:prstGeom>
          <a:solidFill>
            <a:srgbClr val="0A4E4D"/>
          </a:solidFill>
          <a:ln w="12700">
            <a:solidFill>
              <a:srgbClr val="FFFFFF"/>
            </a:solidFill>
            <a:prstDash val="solid"/>
          </a:ln>
          <a:effectLst>
            <a:outerShdw blurRad="127000" dist="38100" dir="8100000" algn="bl" rotWithShape="0">
              <a:srgbClr val="000000">
                <a:alpha val="10000"/>
              </a:srgbClr>
            </a:outerShdw>
          </a:effectLst>
        </p:spPr>
        <p:txBody>
          <a:bodyPr/>
          <a:lstStyle/>
          <a:p>
            <a:endParaRPr lang="en-GB"/>
          </a:p>
        </p:txBody>
      </p:sp>
      <p:sp>
        <p:nvSpPr>
          <p:cNvPr id="33" name="Text 31"/>
          <p:cNvSpPr/>
          <p:nvPr/>
        </p:nvSpPr>
        <p:spPr>
          <a:xfrm>
            <a:off x="4535424" y="1947672"/>
            <a:ext cx="411480" cy="420624"/>
          </a:xfrm>
          <a:prstGeom prst="rect">
            <a:avLst/>
          </a:prstGeom>
          <a:noFill/>
          <a:ln/>
        </p:spPr>
        <p:txBody>
          <a:bodyPr wrap="square" lIns="0" tIns="0" rIns="0" bIns="0" rtlCol="0" anchor="ctr"/>
          <a:lstStyle/>
          <a:p>
            <a:pPr marL="0" indent="0" algn="ctr">
              <a:buNone/>
            </a:pPr>
            <a:r>
              <a:rPr lang="en-US" sz="1300" b="1" dirty="0">
                <a:solidFill>
                  <a:srgbClr val="0E7C7B"/>
                </a:solidFill>
                <a:latin typeface="Calibri" pitchFamily="34" charset="0"/>
                <a:ea typeface="Calibri" pitchFamily="34" charset="-122"/>
                <a:cs typeface="Calibri" pitchFamily="34" charset="-120"/>
              </a:rPr>
              <a:t>06</a:t>
            </a:r>
            <a:endParaRPr lang="en-US" sz="1300" dirty="0"/>
          </a:p>
        </p:txBody>
      </p:sp>
      <p:sp>
        <p:nvSpPr>
          <p:cNvPr id="34" name="Shape 32"/>
          <p:cNvSpPr/>
          <p:nvPr/>
        </p:nvSpPr>
        <p:spPr>
          <a:xfrm>
            <a:off x="4919472" y="2039112"/>
            <a:ext cx="0" cy="237744"/>
          </a:xfrm>
          <a:prstGeom prst="line">
            <a:avLst/>
          </a:prstGeom>
          <a:noFill/>
          <a:ln w="12700">
            <a:solidFill>
              <a:srgbClr val="0E7C7B"/>
            </a:solidFill>
            <a:prstDash val="solid"/>
          </a:ln>
        </p:spPr>
        <p:txBody>
          <a:bodyPr/>
          <a:lstStyle/>
          <a:p>
            <a:endParaRPr lang="en-GB"/>
          </a:p>
        </p:txBody>
      </p:sp>
      <p:sp>
        <p:nvSpPr>
          <p:cNvPr id="35" name="Text 33"/>
          <p:cNvSpPr/>
          <p:nvPr/>
        </p:nvSpPr>
        <p:spPr>
          <a:xfrm>
            <a:off x="4992624" y="1993392"/>
            <a:ext cx="3218688"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Deployment, Environments &amp; Access</a:t>
            </a:r>
            <a:endParaRPr lang="en-US" sz="1000" dirty="0"/>
          </a:p>
        </p:txBody>
      </p:sp>
      <p:sp>
        <p:nvSpPr>
          <p:cNvPr id="36" name="Text 34"/>
          <p:cNvSpPr/>
          <p:nvPr/>
        </p:nvSpPr>
        <p:spPr>
          <a:xfrm>
            <a:off x="4992624" y="2194560"/>
            <a:ext cx="3218688" cy="164592"/>
          </a:xfrm>
          <a:prstGeom prst="rect">
            <a:avLst/>
          </a:prstGeom>
          <a:noFill/>
          <a:ln/>
        </p:spPr>
        <p:txBody>
          <a:bodyPr wrap="square" lIns="0" tIns="0" rIns="0" bIns="0" rtlCol="0" anchor="ctr"/>
          <a:lstStyle/>
          <a:p>
            <a:pPr marL="0" indent="0">
              <a:buNone/>
            </a:pPr>
            <a:r>
              <a:rPr lang="en-US" sz="750" dirty="0">
                <a:solidFill>
                  <a:srgbClr val="7AAABB"/>
                </a:solidFill>
                <a:latin typeface="Calibri" pitchFamily="34" charset="0"/>
                <a:ea typeface="Calibri" pitchFamily="34" charset="-122"/>
                <a:cs typeface="Calibri" pitchFamily="34" charset="-120"/>
              </a:rPr>
              <a:t>Slides 13</a:t>
            </a:r>
            <a:endParaRPr lang="en-US" sz="750" dirty="0"/>
          </a:p>
        </p:txBody>
      </p:sp>
      <p:sp>
        <p:nvSpPr>
          <p:cNvPr id="37" name="Shape 35"/>
          <p:cNvSpPr/>
          <p:nvPr/>
        </p:nvSpPr>
        <p:spPr>
          <a:xfrm>
            <a:off x="365760" y="2441448"/>
            <a:ext cx="4023360" cy="420624"/>
          </a:xfrm>
          <a:prstGeom prst="rect">
            <a:avLst/>
          </a:prstGeom>
          <a:solidFill>
            <a:srgbClr val="12203A"/>
          </a:solidFill>
          <a:ln w="12700">
            <a:solidFill>
              <a:srgbClr val="FFFFFF"/>
            </a:solidFill>
            <a:prstDash val="solid"/>
          </a:ln>
          <a:effectLst>
            <a:outerShdw blurRad="127000" dist="38100" dir="8100000" algn="bl" rotWithShape="0">
              <a:srgbClr val="000000">
                <a:alpha val="10000"/>
              </a:srgbClr>
            </a:outerShdw>
          </a:effectLst>
        </p:spPr>
        <p:txBody>
          <a:bodyPr/>
          <a:lstStyle/>
          <a:p>
            <a:endParaRPr lang="en-GB"/>
          </a:p>
        </p:txBody>
      </p:sp>
      <p:sp>
        <p:nvSpPr>
          <p:cNvPr id="38" name="Text 36"/>
          <p:cNvSpPr/>
          <p:nvPr/>
        </p:nvSpPr>
        <p:spPr>
          <a:xfrm>
            <a:off x="438912" y="2441448"/>
            <a:ext cx="411480" cy="420624"/>
          </a:xfrm>
          <a:prstGeom prst="rect">
            <a:avLst/>
          </a:prstGeom>
          <a:noFill/>
          <a:ln/>
        </p:spPr>
        <p:txBody>
          <a:bodyPr wrap="square" lIns="0" tIns="0" rIns="0" bIns="0" rtlCol="0" anchor="ctr"/>
          <a:lstStyle/>
          <a:p>
            <a:pPr marL="0" indent="0" algn="ctr">
              <a:buNone/>
            </a:pPr>
            <a:r>
              <a:rPr lang="en-US" sz="1300" b="1" dirty="0">
                <a:solidFill>
                  <a:srgbClr val="0E7C7B"/>
                </a:solidFill>
                <a:latin typeface="Calibri" pitchFamily="34" charset="0"/>
                <a:ea typeface="Calibri" pitchFamily="34" charset="-122"/>
                <a:cs typeface="Calibri" pitchFamily="34" charset="-120"/>
              </a:rPr>
              <a:t>07</a:t>
            </a:r>
            <a:endParaRPr lang="en-US" sz="1300" dirty="0"/>
          </a:p>
        </p:txBody>
      </p:sp>
      <p:sp>
        <p:nvSpPr>
          <p:cNvPr id="39" name="Shape 37"/>
          <p:cNvSpPr/>
          <p:nvPr/>
        </p:nvSpPr>
        <p:spPr>
          <a:xfrm>
            <a:off x="822960" y="2532888"/>
            <a:ext cx="0" cy="237744"/>
          </a:xfrm>
          <a:prstGeom prst="line">
            <a:avLst/>
          </a:prstGeom>
          <a:noFill/>
          <a:ln w="12700">
            <a:solidFill>
              <a:srgbClr val="0E7C7B"/>
            </a:solidFill>
            <a:prstDash val="solid"/>
          </a:ln>
        </p:spPr>
        <p:txBody>
          <a:bodyPr/>
          <a:lstStyle/>
          <a:p>
            <a:endParaRPr lang="en-GB"/>
          </a:p>
        </p:txBody>
      </p:sp>
      <p:sp>
        <p:nvSpPr>
          <p:cNvPr id="40" name="Text 38"/>
          <p:cNvSpPr/>
          <p:nvPr/>
        </p:nvSpPr>
        <p:spPr>
          <a:xfrm>
            <a:off x="896112" y="2487168"/>
            <a:ext cx="3218688"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Incidents, Production Ops &amp; Logging</a:t>
            </a:r>
            <a:endParaRPr lang="en-US" sz="1000" dirty="0"/>
          </a:p>
        </p:txBody>
      </p:sp>
      <p:sp>
        <p:nvSpPr>
          <p:cNvPr id="41" name="Text 39"/>
          <p:cNvSpPr/>
          <p:nvPr/>
        </p:nvSpPr>
        <p:spPr>
          <a:xfrm>
            <a:off x="896112" y="2688336"/>
            <a:ext cx="3218688" cy="164592"/>
          </a:xfrm>
          <a:prstGeom prst="rect">
            <a:avLst/>
          </a:prstGeom>
          <a:noFill/>
          <a:ln/>
        </p:spPr>
        <p:txBody>
          <a:bodyPr wrap="square" lIns="0" tIns="0" rIns="0" bIns="0" rtlCol="0" anchor="ctr"/>
          <a:lstStyle/>
          <a:p>
            <a:pPr marL="0" indent="0">
              <a:buNone/>
            </a:pPr>
            <a:r>
              <a:rPr lang="en-US" sz="750" dirty="0">
                <a:solidFill>
                  <a:srgbClr val="7AAABB"/>
                </a:solidFill>
                <a:latin typeface="Calibri" pitchFamily="34" charset="0"/>
                <a:ea typeface="Calibri" pitchFamily="34" charset="-122"/>
                <a:cs typeface="Calibri" pitchFamily="34" charset="-120"/>
              </a:rPr>
              <a:t>Slides 14–15</a:t>
            </a:r>
            <a:endParaRPr lang="en-US" sz="750" dirty="0"/>
          </a:p>
        </p:txBody>
      </p:sp>
      <p:sp>
        <p:nvSpPr>
          <p:cNvPr id="42" name="Shape 40"/>
          <p:cNvSpPr/>
          <p:nvPr/>
        </p:nvSpPr>
        <p:spPr>
          <a:xfrm>
            <a:off x="4462272" y="2441448"/>
            <a:ext cx="4023360" cy="420624"/>
          </a:xfrm>
          <a:prstGeom prst="rect">
            <a:avLst/>
          </a:prstGeom>
          <a:solidFill>
            <a:srgbClr val="0A4E4D"/>
          </a:solidFill>
          <a:ln w="12700">
            <a:solidFill>
              <a:srgbClr val="FFFFFF"/>
            </a:solidFill>
            <a:prstDash val="solid"/>
          </a:ln>
          <a:effectLst>
            <a:outerShdw blurRad="127000" dist="38100" dir="8100000" algn="bl" rotWithShape="0">
              <a:srgbClr val="000000">
                <a:alpha val="10000"/>
              </a:srgbClr>
            </a:outerShdw>
          </a:effectLst>
        </p:spPr>
        <p:txBody>
          <a:bodyPr/>
          <a:lstStyle/>
          <a:p>
            <a:endParaRPr lang="en-GB"/>
          </a:p>
        </p:txBody>
      </p:sp>
      <p:sp>
        <p:nvSpPr>
          <p:cNvPr id="43" name="Text 41"/>
          <p:cNvSpPr/>
          <p:nvPr/>
        </p:nvSpPr>
        <p:spPr>
          <a:xfrm>
            <a:off x="4535424" y="2441448"/>
            <a:ext cx="411480" cy="420624"/>
          </a:xfrm>
          <a:prstGeom prst="rect">
            <a:avLst/>
          </a:prstGeom>
          <a:noFill/>
          <a:ln/>
        </p:spPr>
        <p:txBody>
          <a:bodyPr wrap="square" lIns="0" tIns="0" rIns="0" bIns="0" rtlCol="0" anchor="ctr"/>
          <a:lstStyle/>
          <a:p>
            <a:pPr marL="0" indent="0" algn="ctr">
              <a:buNone/>
            </a:pPr>
            <a:r>
              <a:rPr lang="en-US" sz="1300" b="1" dirty="0">
                <a:solidFill>
                  <a:srgbClr val="0E7C7B"/>
                </a:solidFill>
                <a:latin typeface="Calibri" pitchFamily="34" charset="0"/>
                <a:ea typeface="Calibri" pitchFamily="34" charset="-122"/>
                <a:cs typeface="Calibri" pitchFamily="34" charset="-120"/>
              </a:rPr>
              <a:t>08</a:t>
            </a:r>
            <a:endParaRPr lang="en-US" sz="1300" dirty="0"/>
          </a:p>
        </p:txBody>
      </p:sp>
      <p:sp>
        <p:nvSpPr>
          <p:cNvPr id="44" name="Shape 42"/>
          <p:cNvSpPr/>
          <p:nvPr/>
        </p:nvSpPr>
        <p:spPr>
          <a:xfrm>
            <a:off x="4919472" y="2532888"/>
            <a:ext cx="0" cy="237744"/>
          </a:xfrm>
          <a:prstGeom prst="line">
            <a:avLst/>
          </a:prstGeom>
          <a:noFill/>
          <a:ln w="12700">
            <a:solidFill>
              <a:srgbClr val="0E7C7B"/>
            </a:solidFill>
            <a:prstDash val="solid"/>
          </a:ln>
        </p:spPr>
        <p:txBody>
          <a:bodyPr/>
          <a:lstStyle/>
          <a:p>
            <a:endParaRPr lang="en-GB"/>
          </a:p>
        </p:txBody>
      </p:sp>
      <p:sp>
        <p:nvSpPr>
          <p:cNvPr id="45" name="Text 43"/>
          <p:cNvSpPr/>
          <p:nvPr/>
        </p:nvSpPr>
        <p:spPr>
          <a:xfrm>
            <a:off x="4992624" y="2487168"/>
            <a:ext cx="3218688"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Performance, Metrics &amp; Baselines</a:t>
            </a:r>
            <a:endParaRPr lang="en-US" sz="1000" dirty="0"/>
          </a:p>
        </p:txBody>
      </p:sp>
      <p:sp>
        <p:nvSpPr>
          <p:cNvPr id="46" name="Text 44"/>
          <p:cNvSpPr/>
          <p:nvPr/>
        </p:nvSpPr>
        <p:spPr>
          <a:xfrm>
            <a:off x="4992624" y="2688336"/>
            <a:ext cx="3218688" cy="164592"/>
          </a:xfrm>
          <a:prstGeom prst="rect">
            <a:avLst/>
          </a:prstGeom>
          <a:noFill/>
          <a:ln/>
        </p:spPr>
        <p:txBody>
          <a:bodyPr wrap="square" lIns="0" tIns="0" rIns="0" bIns="0" rtlCol="0" anchor="ctr"/>
          <a:lstStyle/>
          <a:p>
            <a:pPr marL="0" indent="0">
              <a:buNone/>
            </a:pPr>
            <a:r>
              <a:rPr lang="en-US" sz="750" dirty="0">
                <a:solidFill>
                  <a:srgbClr val="7AAABB"/>
                </a:solidFill>
                <a:latin typeface="Calibri" pitchFamily="34" charset="0"/>
                <a:ea typeface="Calibri" pitchFamily="34" charset="-122"/>
                <a:cs typeface="Calibri" pitchFamily="34" charset="-120"/>
              </a:rPr>
              <a:t>Slides 16</a:t>
            </a:r>
            <a:endParaRPr lang="en-US" sz="750" dirty="0"/>
          </a:p>
        </p:txBody>
      </p:sp>
      <p:sp>
        <p:nvSpPr>
          <p:cNvPr id="47" name="Shape 45"/>
          <p:cNvSpPr/>
          <p:nvPr/>
        </p:nvSpPr>
        <p:spPr>
          <a:xfrm>
            <a:off x="365760" y="2935224"/>
            <a:ext cx="4023360" cy="420624"/>
          </a:xfrm>
          <a:prstGeom prst="rect">
            <a:avLst/>
          </a:prstGeom>
          <a:solidFill>
            <a:srgbClr val="12203A"/>
          </a:solidFill>
          <a:ln w="12700">
            <a:solidFill>
              <a:srgbClr val="FFFFFF"/>
            </a:solidFill>
            <a:prstDash val="solid"/>
          </a:ln>
          <a:effectLst>
            <a:outerShdw blurRad="127000" dist="38100" dir="8100000" algn="bl" rotWithShape="0">
              <a:srgbClr val="000000">
                <a:alpha val="10000"/>
              </a:srgbClr>
            </a:outerShdw>
          </a:effectLst>
        </p:spPr>
        <p:txBody>
          <a:bodyPr/>
          <a:lstStyle/>
          <a:p>
            <a:endParaRPr lang="en-GB"/>
          </a:p>
        </p:txBody>
      </p:sp>
      <p:sp>
        <p:nvSpPr>
          <p:cNvPr id="48" name="Text 46"/>
          <p:cNvSpPr/>
          <p:nvPr/>
        </p:nvSpPr>
        <p:spPr>
          <a:xfrm>
            <a:off x="438912" y="2935224"/>
            <a:ext cx="411480" cy="420624"/>
          </a:xfrm>
          <a:prstGeom prst="rect">
            <a:avLst/>
          </a:prstGeom>
          <a:noFill/>
          <a:ln/>
        </p:spPr>
        <p:txBody>
          <a:bodyPr wrap="square" lIns="0" tIns="0" rIns="0" bIns="0" rtlCol="0" anchor="ctr"/>
          <a:lstStyle/>
          <a:p>
            <a:pPr marL="0" indent="0" algn="ctr">
              <a:buNone/>
            </a:pPr>
            <a:r>
              <a:rPr lang="en-US" sz="1300" b="1" dirty="0">
                <a:solidFill>
                  <a:srgbClr val="0E7C7B"/>
                </a:solidFill>
                <a:latin typeface="Calibri" pitchFamily="34" charset="0"/>
                <a:ea typeface="Calibri" pitchFamily="34" charset="-122"/>
                <a:cs typeface="Calibri" pitchFamily="34" charset="-120"/>
              </a:rPr>
              <a:t>09</a:t>
            </a:r>
            <a:endParaRPr lang="en-US" sz="1300" dirty="0"/>
          </a:p>
        </p:txBody>
      </p:sp>
      <p:sp>
        <p:nvSpPr>
          <p:cNvPr id="49" name="Shape 47"/>
          <p:cNvSpPr/>
          <p:nvPr/>
        </p:nvSpPr>
        <p:spPr>
          <a:xfrm>
            <a:off x="822960" y="3026664"/>
            <a:ext cx="0" cy="237744"/>
          </a:xfrm>
          <a:prstGeom prst="line">
            <a:avLst/>
          </a:prstGeom>
          <a:noFill/>
          <a:ln w="12700">
            <a:solidFill>
              <a:srgbClr val="0E7C7B"/>
            </a:solidFill>
            <a:prstDash val="solid"/>
          </a:ln>
        </p:spPr>
        <p:txBody>
          <a:bodyPr/>
          <a:lstStyle/>
          <a:p>
            <a:endParaRPr lang="en-GB"/>
          </a:p>
        </p:txBody>
      </p:sp>
      <p:sp>
        <p:nvSpPr>
          <p:cNvPr id="50" name="Text 48"/>
          <p:cNvSpPr/>
          <p:nvPr/>
        </p:nvSpPr>
        <p:spPr>
          <a:xfrm>
            <a:off x="896112" y="2980944"/>
            <a:ext cx="3218688"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Ceremonies, Goals &amp; Communication</a:t>
            </a:r>
            <a:endParaRPr lang="en-US" sz="1000" dirty="0"/>
          </a:p>
        </p:txBody>
      </p:sp>
      <p:sp>
        <p:nvSpPr>
          <p:cNvPr id="51" name="Text 49"/>
          <p:cNvSpPr/>
          <p:nvPr/>
        </p:nvSpPr>
        <p:spPr>
          <a:xfrm>
            <a:off x="896112" y="3182112"/>
            <a:ext cx="3218688" cy="164592"/>
          </a:xfrm>
          <a:prstGeom prst="rect">
            <a:avLst/>
          </a:prstGeom>
          <a:noFill/>
          <a:ln/>
        </p:spPr>
        <p:txBody>
          <a:bodyPr wrap="square" lIns="0" tIns="0" rIns="0" bIns="0" rtlCol="0" anchor="ctr"/>
          <a:lstStyle/>
          <a:p>
            <a:pPr marL="0" indent="0">
              <a:buNone/>
            </a:pPr>
            <a:r>
              <a:rPr lang="en-US" sz="750" dirty="0">
                <a:solidFill>
                  <a:srgbClr val="7AAABB"/>
                </a:solidFill>
                <a:latin typeface="Calibri" pitchFamily="34" charset="0"/>
                <a:ea typeface="Calibri" pitchFamily="34" charset="-122"/>
                <a:cs typeface="Calibri" pitchFamily="34" charset="-120"/>
              </a:rPr>
              <a:t>Slides 17</a:t>
            </a:r>
            <a:endParaRPr lang="en-US" sz="750" dirty="0"/>
          </a:p>
        </p:txBody>
      </p:sp>
      <p:sp>
        <p:nvSpPr>
          <p:cNvPr id="52" name="Shape 50"/>
          <p:cNvSpPr/>
          <p:nvPr/>
        </p:nvSpPr>
        <p:spPr>
          <a:xfrm>
            <a:off x="4462272" y="2935224"/>
            <a:ext cx="4023360" cy="420624"/>
          </a:xfrm>
          <a:prstGeom prst="rect">
            <a:avLst/>
          </a:prstGeom>
          <a:solidFill>
            <a:srgbClr val="0A4E4D"/>
          </a:solidFill>
          <a:ln w="12700">
            <a:solidFill>
              <a:srgbClr val="FFFFFF"/>
            </a:solidFill>
            <a:prstDash val="solid"/>
          </a:ln>
          <a:effectLst>
            <a:outerShdw blurRad="127000" dist="38100" dir="8100000" algn="bl" rotWithShape="0">
              <a:srgbClr val="000000">
                <a:alpha val="10000"/>
              </a:srgbClr>
            </a:outerShdw>
          </a:effectLst>
        </p:spPr>
        <p:txBody>
          <a:bodyPr/>
          <a:lstStyle/>
          <a:p>
            <a:endParaRPr lang="en-GB"/>
          </a:p>
        </p:txBody>
      </p:sp>
      <p:sp>
        <p:nvSpPr>
          <p:cNvPr id="53" name="Text 51"/>
          <p:cNvSpPr/>
          <p:nvPr/>
        </p:nvSpPr>
        <p:spPr>
          <a:xfrm>
            <a:off x="4535424" y="2935224"/>
            <a:ext cx="411480" cy="420624"/>
          </a:xfrm>
          <a:prstGeom prst="rect">
            <a:avLst/>
          </a:prstGeom>
          <a:noFill/>
          <a:ln/>
        </p:spPr>
        <p:txBody>
          <a:bodyPr wrap="square" lIns="0" tIns="0" rIns="0" bIns="0" rtlCol="0" anchor="ctr"/>
          <a:lstStyle/>
          <a:p>
            <a:pPr marL="0" indent="0" algn="ctr">
              <a:buNone/>
            </a:pPr>
            <a:r>
              <a:rPr lang="en-US" sz="1300" b="1" dirty="0">
                <a:solidFill>
                  <a:srgbClr val="0E7C7B"/>
                </a:solidFill>
                <a:latin typeface="Calibri" pitchFamily="34" charset="0"/>
                <a:ea typeface="Calibri" pitchFamily="34" charset="-122"/>
                <a:cs typeface="Calibri" pitchFamily="34" charset="-120"/>
              </a:rPr>
              <a:t>10</a:t>
            </a:r>
            <a:endParaRPr lang="en-US" sz="1300" dirty="0"/>
          </a:p>
        </p:txBody>
      </p:sp>
      <p:sp>
        <p:nvSpPr>
          <p:cNvPr id="54" name="Shape 52"/>
          <p:cNvSpPr/>
          <p:nvPr/>
        </p:nvSpPr>
        <p:spPr>
          <a:xfrm>
            <a:off x="4919472" y="3026664"/>
            <a:ext cx="0" cy="237744"/>
          </a:xfrm>
          <a:prstGeom prst="line">
            <a:avLst/>
          </a:prstGeom>
          <a:noFill/>
          <a:ln w="12700">
            <a:solidFill>
              <a:srgbClr val="0E7C7B"/>
            </a:solidFill>
            <a:prstDash val="solid"/>
          </a:ln>
        </p:spPr>
        <p:txBody>
          <a:bodyPr/>
          <a:lstStyle/>
          <a:p>
            <a:endParaRPr lang="en-GB"/>
          </a:p>
        </p:txBody>
      </p:sp>
      <p:sp>
        <p:nvSpPr>
          <p:cNvPr id="55" name="Text 53"/>
          <p:cNvSpPr/>
          <p:nvPr/>
        </p:nvSpPr>
        <p:spPr>
          <a:xfrm>
            <a:off x="4992624" y="2980944"/>
            <a:ext cx="3218688"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Automation, Coverage &amp; Efficiency</a:t>
            </a:r>
            <a:endParaRPr lang="en-US" sz="1000" dirty="0"/>
          </a:p>
        </p:txBody>
      </p:sp>
      <p:sp>
        <p:nvSpPr>
          <p:cNvPr id="56" name="Text 54"/>
          <p:cNvSpPr/>
          <p:nvPr/>
        </p:nvSpPr>
        <p:spPr>
          <a:xfrm>
            <a:off x="4992624" y="3182112"/>
            <a:ext cx="3218688" cy="164592"/>
          </a:xfrm>
          <a:prstGeom prst="rect">
            <a:avLst/>
          </a:prstGeom>
          <a:noFill/>
          <a:ln/>
        </p:spPr>
        <p:txBody>
          <a:bodyPr wrap="square" lIns="0" tIns="0" rIns="0" bIns="0" rtlCol="0" anchor="ctr"/>
          <a:lstStyle/>
          <a:p>
            <a:pPr marL="0" indent="0">
              <a:buNone/>
            </a:pPr>
            <a:r>
              <a:rPr lang="en-US" sz="750" dirty="0">
                <a:solidFill>
                  <a:srgbClr val="7AAABB"/>
                </a:solidFill>
                <a:latin typeface="Calibri" pitchFamily="34" charset="0"/>
                <a:ea typeface="Calibri" pitchFamily="34" charset="-122"/>
                <a:cs typeface="Calibri" pitchFamily="34" charset="-120"/>
              </a:rPr>
              <a:t>Slides 18</a:t>
            </a:r>
            <a:endParaRPr lang="en-US" sz="750" dirty="0"/>
          </a:p>
        </p:txBody>
      </p:sp>
      <p:sp>
        <p:nvSpPr>
          <p:cNvPr id="57" name="Shape 55"/>
          <p:cNvSpPr/>
          <p:nvPr/>
        </p:nvSpPr>
        <p:spPr>
          <a:xfrm>
            <a:off x="365760" y="4617720"/>
            <a:ext cx="8412480" cy="320040"/>
          </a:xfrm>
          <a:prstGeom prst="rect">
            <a:avLst/>
          </a:prstGeom>
          <a:solidFill>
            <a:srgbClr val="0E7C7B">
              <a:alpha val="12000"/>
            </a:srgbClr>
          </a:solidFill>
          <a:ln w="12700">
            <a:solidFill>
              <a:srgbClr val="0E7C7B"/>
            </a:solidFill>
            <a:prstDash val="solid"/>
          </a:ln>
        </p:spPr>
        <p:txBody>
          <a:bodyPr/>
          <a:lstStyle/>
          <a:p>
            <a:endParaRPr lang="en-GB"/>
          </a:p>
        </p:txBody>
      </p:sp>
      <p:sp>
        <p:nvSpPr>
          <p:cNvPr id="58" name="Text 56"/>
          <p:cNvSpPr/>
          <p:nvPr/>
        </p:nvSpPr>
        <p:spPr>
          <a:xfrm>
            <a:off x="502920" y="4626864"/>
            <a:ext cx="8229600" cy="292608"/>
          </a:xfrm>
          <a:prstGeom prst="rect">
            <a:avLst/>
          </a:prstGeom>
          <a:noFill/>
          <a:ln/>
        </p:spPr>
        <p:txBody>
          <a:bodyPr wrap="square" lIns="0" tIns="0" rIns="0" bIns="0" rtlCol="0" anchor="ctr"/>
          <a:lstStyle/>
          <a:p>
            <a:pPr marL="0" indent="0" algn="ctr">
              <a:buNone/>
            </a:pPr>
            <a:r>
              <a:rPr lang="en-US" sz="900" i="1" dirty="0">
                <a:solidFill>
                  <a:srgbClr val="1C2B3A"/>
                </a:solidFill>
                <a:latin typeface="Calibri" pitchFamily="34" charset="0"/>
                <a:ea typeface="Calibri" pitchFamily="34" charset="-122"/>
                <a:cs typeface="Calibri" pitchFamily="34" charset="-120"/>
              </a:rPr>
              <a:t>Each section follows the same structure: Current state  ·  The gap  ·  What good looks like  ·  Proposed action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01 · Product Ownership &amp; SME Coverage</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The gap at the top creates pressure everywhere below it</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4 / 22</a:t>
            </a:r>
            <a:endParaRPr lang="en-US" sz="900" dirty="0"/>
          </a:p>
        </p:txBody>
      </p:sp>
      <p:sp>
        <p:nvSpPr>
          <p:cNvPr id="7" name="Shape 5"/>
          <p:cNvSpPr/>
          <p:nvPr/>
        </p:nvSpPr>
        <p:spPr>
          <a:xfrm>
            <a:off x="365760" y="932688"/>
            <a:ext cx="1417320" cy="256032"/>
          </a:xfrm>
          <a:prstGeom prst="rect">
            <a:avLst/>
          </a:prstGeom>
          <a:solidFill>
            <a:srgbClr val="E8453C"/>
          </a:solidFill>
          <a:ln w="12700">
            <a:solidFill>
              <a:srgbClr val="E8453C"/>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CRITICAL GAP</a:t>
            </a:r>
            <a:endParaRPr lang="en-US" sz="800" dirty="0"/>
          </a:p>
        </p:txBody>
      </p:sp>
      <p:sp>
        <p:nvSpPr>
          <p:cNvPr id="9" name="Text 7"/>
          <p:cNvSpPr/>
          <p:nvPr/>
        </p:nvSpPr>
        <p:spPr>
          <a:xfrm>
            <a:off x="365760" y="1261872"/>
            <a:ext cx="8412480" cy="594360"/>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There is currently no Product Owner bridging the business and the engineering teams. As a result, QAs are absorbing responsibilities — including data modelling — that belong upstream. This is not a sustainable or appropriate use of quality engineering time.</a:t>
            </a:r>
            <a:endParaRPr lang="en-US" sz="1050" dirty="0"/>
          </a:p>
        </p:txBody>
      </p:sp>
      <p:sp>
        <p:nvSpPr>
          <p:cNvPr id="10" name="Shape 8"/>
          <p:cNvSpPr/>
          <p:nvPr/>
        </p:nvSpPr>
        <p:spPr>
          <a:xfrm>
            <a:off x="365760" y="1938528"/>
            <a:ext cx="8412480" cy="84124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1" name="Shape 9"/>
          <p:cNvSpPr/>
          <p:nvPr/>
        </p:nvSpPr>
        <p:spPr>
          <a:xfrm>
            <a:off x="365760" y="1938528"/>
            <a:ext cx="50292" cy="841248"/>
          </a:xfrm>
          <a:prstGeom prst="rect">
            <a:avLst/>
          </a:prstGeom>
          <a:solidFill>
            <a:srgbClr val="E8453C"/>
          </a:solidFill>
          <a:ln w="12700">
            <a:solidFill>
              <a:srgbClr val="E8453C"/>
            </a:solidFill>
            <a:prstDash val="solid"/>
          </a:ln>
        </p:spPr>
        <p:txBody>
          <a:bodyPr/>
          <a:lstStyle/>
          <a:p>
            <a:endParaRPr lang="en-GB"/>
          </a:p>
        </p:txBody>
      </p:sp>
      <p:pic>
        <p:nvPicPr>
          <p:cNvPr id="12" name="Image 0" descr="preencoded.png"/>
          <p:cNvPicPr>
            <a:picLocks noChangeAspect="1"/>
          </p:cNvPicPr>
          <p:nvPr/>
        </p:nvPicPr>
        <p:blipFill>
          <a:blip r:embed="rId3"/>
          <a:stretch>
            <a:fillRect/>
          </a:stretch>
        </p:blipFill>
        <p:spPr>
          <a:xfrm>
            <a:off x="475488" y="2139696"/>
            <a:ext cx="347472" cy="347472"/>
          </a:xfrm>
          <a:prstGeom prst="rect">
            <a:avLst/>
          </a:prstGeom>
        </p:spPr>
      </p:pic>
      <p:sp>
        <p:nvSpPr>
          <p:cNvPr id="13" name="Text 10"/>
          <p:cNvSpPr/>
          <p:nvPr/>
        </p:nvSpPr>
        <p:spPr>
          <a:xfrm>
            <a:off x="969264" y="2002536"/>
            <a:ext cx="7315200" cy="274320"/>
          </a:xfrm>
          <a:prstGeom prst="rect">
            <a:avLst/>
          </a:prstGeom>
          <a:noFill/>
          <a:ln/>
        </p:spPr>
        <p:txBody>
          <a:bodyPr wrap="square" lIns="0" tIns="0" rIns="0" bIns="0"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No Product Owner in Place</a:t>
            </a:r>
            <a:endParaRPr lang="en-US" sz="1150" dirty="0"/>
          </a:p>
        </p:txBody>
      </p:sp>
      <p:sp>
        <p:nvSpPr>
          <p:cNvPr id="14" name="Text 11"/>
          <p:cNvSpPr/>
          <p:nvPr/>
        </p:nvSpPr>
        <p:spPr>
          <a:xfrm>
            <a:off x="969264" y="2286000"/>
            <a:ext cx="7406640" cy="420624"/>
          </a:xfrm>
          <a:prstGeom prst="rect">
            <a:avLst/>
          </a:prstGeom>
          <a:noFill/>
          <a:ln/>
        </p:spPr>
        <p:txBody>
          <a:bodyPr wrap="square" lIns="0" tIns="0" rIns="0" bIns="0" rtlCol="0" anchor="ctr"/>
          <a:lstStyle/>
          <a:p>
            <a:pPr marL="0" indent="0">
              <a:buNone/>
            </a:pPr>
            <a:r>
              <a:rPr lang="en-US" sz="900" dirty="0">
                <a:solidFill>
                  <a:srgbClr val="5A6E8C"/>
                </a:solidFill>
                <a:latin typeface="Calibri" pitchFamily="34" charset="0"/>
                <a:ea typeface="Calibri" pitchFamily="34" charset="-122"/>
                <a:cs typeface="Calibri" pitchFamily="34" charset="-120"/>
              </a:rPr>
              <a:t>Without a PO acting as the authoritative bridge between business intent and technical delivery, requirements arrive incomplete, vague, or not at all. Engineers — including QAs — fill the vacuum, often guessing at intent. This is where defects are born.</a:t>
            </a:r>
            <a:endParaRPr lang="en-US" sz="900" dirty="0"/>
          </a:p>
        </p:txBody>
      </p:sp>
      <p:sp>
        <p:nvSpPr>
          <p:cNvPr id="15" name="Shape 12"/>
          <p:cNvSpPr/>
          <p:nvPr/>
        </p:nvSpPr>
        <p:spPr>
          <a:xfrm>
            <a:off x="365760" y="2871216"/>
            <a:ext cx="8412480" cy="84124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6" name="Shape 13"/>
          <p:cNvSpPr/>
          <p:nvPr/>
        </p:nvSpPr>
        <p:spPr>
          <a:xfrm>
            <a:off x="365760" y="2871216"/>
            <a:ext cx="50292" cy="841248"/>
          </a:xfrm>
          <a:prstGeom prst="rect">
            <a:avLst/>
          </a:prstGeom>
          <a:solidFill>
            <a:srgbClr val="F59E0B"/>
          </a:solidFill>
          <a:ln w="12700">
            <a:solidFill>
              <a:srgbClr val="F59E0B"/>
            </a:solidFill>
            <a:prstDash val="solid"/>
          </a:ln>
        </p:spPr>
        <p:txBody>
          <a:bodyPr/>
          <a:lstStyle/>
          <a:p>
            <a:endParaRPr lang="en-GB"/>
          </a:p>
        </p:txBody>
      </p:sp>
      <p:pic>
        <p:nvPicPr>
          <p:cNvPr id="17" name="Image 1" descr="preencoded.png"/>
          <p:cNvPicPr>
            <a:picLocks noChangeAspect="1"/>
          </p:cNvPicPr>
          <p:nvPr/>
        </p:nvPicPr>
        <p:blipFill>
          <a:blip r:embed="rId4"/>
          <a:stretch>
            <a:fillRect/>
          </a:stretch>
        </p:blipFill>
        <p:spPr>
          <a:xfrm>
            <a:off x="475488" y="3072384"/>
            <a:ext cx="347472" cy="347472"/>
          </a:xfrm>
          <a:prstGeom prst="rect">
            <a:avLst/>
          </a:prstGeom>
        </p:spPr>
      </p:pic>
      <p:sp>
        <p:nvSpPr>
          <p:cNvPr id="18" name="Text 14"/>
          <p:cNvSpPr/>
          <p:nvPr/>
        </p:nvSpPr>
        <p:spPr>
          <a:xfrm>
            <a:off x="969264" y="2935224"/>
            <a:ext cx="7315200" cy="274320"/>
          </a:xfrm>
          <a:prstGeom prst="rect">
            <a:avLst/>
          </a:prstGeom>
          <a:noFill/>
          <a:ln/>
        </p:spPr>
        <p:txBody>
          <a:bodyPr wrap="square" lIns="0" tIns="0" rIns="0" bIns="0"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QAs Carrying Data Modelling Responsibility</a:t>
            </a:r>
            <a:endParaRPr lang="en-US" sz="1150" dirty="0"/>
          </a:p>
        </p:txBody>
      </p:sp>
      <p:sp>
        <p:nvSpPr>
          <p:cNvPr id="19" name="Text 15"/>
          <p:cNvSpPr/>
          <p:nvPr/>
        </p:nvSpPr>
        <p:spPr>
          <a:xfrm>
            <a:off x="969264" y="3218688"/>
            <a:ext cx="7406640" cy="420624"/>
          </a:xfrm>
          <a:prstGeom prst="rect">
            <a:avLst/>
          </a:prstGeom>
          <a:noFill/>
          <a:ln/>
        </p:spPr>
        <p:txBody>
          <a:bodyPr wrap="square" lIns="0" tIns="0" rIns="0" bIns="0" rtlCol="0" anchor="ctr"/>
          <a:lstStyle/>
          <a:p>
            <a:pPr marL="0" indent="0">
              <a:buNone/>
            </a:pPr>
            <a:r>
              <a:rPr lang="en-US" sz="900" dirty="0">
                <a:solidFill>
                  <a:srgbClr val="5A6E8C"/>
                </a:solidFill>
                <a:latin typeface="Calibri" pitchFamily="34" charset="0"/>
                <a:ea typeface="Calibri" pitchFamily="34" charset="-122"/>
                <a:cs typeface="Calibri" pitchFamily="34" charset="-120"/>
              </a:rPr>
              <a:t>Data mapping and modelling is being delegated to QA resource by default. This consumes significant time that should be invested in test strategy, test design, and quality engineering. This must be formalised: data mapping is a delivery team input, not a QA deliverable.</a:t>
            </a:r>
            <a:endParaRPr lang="en-US" sz="900" dirty="0"/>
          </a:p>
        </p:txBody>
      </p:sp>
      <p:sp>
        <p:nvSpPr>
          <p:cNvPr id="20" name="Shape 16"/>
          <p:cNvSpPr/>
          <p:nvPr/>
        </p:nvSpPr>
        <p:spPr>
          <a:xfrm>
            <a:off x="365760" y="3803904"/>
            <a:ext cx="8412480" cy="84124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1" name="Shape 17"/>
          <p:cNvSpPr/>
          <p:nvPr/>
        </p:nvSpPr>
        <p:spPr>
          <a:xfrm>
            <a:off x="365760" y="3803904"/>
            <a:ext cx="50292" cy="841248"/>
          </a:xfrm>
          <a:prstGeom prst="rect">
            <a:avLst/>
          </a:prstGeom>
          <a:solidFill>
            <a:srgbClr val="0E7C7B"/>
          </a:solidFill>
          <a:ln w="12700">
            <a:solidFill>
              <a:srgbClr val="0E7C7B"/>
            </a:solidFill>
            <a:prstDash val="solid"/>
          </a:ln>
        </p:spPr>
        <p:txBody>
          <a:bodyPr/>
          <a:lstStyle/>
          <a:p>
            <a:endParaRPr lang="en-GB"/>
          </a:p>
        </p:txBody>
      </p:sp>
      <p:pic>
        <p:nvPicPr>
          <p:cNvPr id="22" name="Image 2" descr="preencoded.png"/>
          <p:cNvPicPr>
            <a:picLocks noChangeAspect="1"/>
          </p:cNvPicPr>
          <p:nvPr/>
        </p:nvPicPr>
        <p:blipFill>
          <a:blip r:embed="rId5"/>
          <a:stretch>
            <a:fillRect/>
          </a:stretch>
        </p:blipFill>
        <p:spPr>
          <a:xfrm>
            <a:off x="475488" y="4005072"/>
            <a:ext cx="347472" cy="347472"/>
          </a:xfrm>
          <a:prstGeom prst="rect">
            <a:avLst/>
          </a:prstGeom>
        </p:spPr>
      </p:pic>
      <p:sp>
        <p:nvSpPr>
          <p:cNvPr id="23" name="Text 18"/>
          <p:cNvSpPr/>
          <p:nvPr/>
        </p:nvSpPr>
        <p:spPr>
          <a:xfrm>
            <a:off x="969264" y="3867912"/>
            <a:ext cx="7315200" cy="274320"/>
          </a:xfrm>
          <a:prstGeom prst="rect">
            <a:avLst/>
          </a:prstGeom>
          <a:noFill/>
          <a:ln/>
        </p:spPr>
        <p:txBody>
          <a:bodyPr wrap="square" lIns="0" tIns="0" rIns="0" bIns="0"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SMEs Are Absent from the Process</a:t>
            </a:r>
            <a:endParaRPr lang="en-US" sz="1150" dirty="0"/>
          </a:p>
        </p:txBody>
      </p:sp>
      <p:sp>
        <p:nvSpPr>
          <p:cNvPr id="24" name="Text 19"/>
          <p:cNvSpPr/>
          <p:nvPr/>
        </p:nvSpPr>
        <p:spPr>
          <a:xfrm>
            <a:off x="969264" y="4151376"/>
            <a:ext cx="7406640" cy="420624"/>
          </a:xfrm>
          <a:prstGeom prst="rect">
            <a:avLst/>
          </a:prstGeom>
          <a:noFill/>
          <a:ln/>
        </p:spPr>
        <p:txBody>
          <a:bodyPr wrap="square" lIns="0" tIns="0" rIns="0" bIns="0" rtlCol="0" anchor="ctr"/>
          <a:lstStyle/>
          <a:p>
            <a:pPr marL="0" indent="0">
              <a:buNone/>
            </a:pPr>
            <a:r>
              <a:rPr lang="en-US" sz="900" dirty="0">
                <a:solidFill>
                  <a:srgbClr val="5A6E8C"/>
                </a:solidFill>
                <a:latin typeface="Calibri" pitchFamily="34" charset="0"/>
                <a:ea typeface="Calibri" pitchFamily="34" charset="-122"/>
                <a:cs typeface="Calibri" pitchFamily="34" charset="-120"/>
              </a:rPr>
              <a:t>Subject matter experts are not engaged consistently at requirements or design stages. When a QA cannot interpret what a pipeline should produce — and there is no SME available — the result is test cases written as black-box guesses. That is not quality engineering. That is risk disguised as testing.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01 · Product Ownership — What Good Looks Like</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Restoring the right responsibilities to the right roles</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5 / 22</a:t>
            </a:r>
            <a:endParaRPr lang="en-US" sz="900" dirty="0"/>
          </a:p>
        </p:txBody>
      </p:sp>
      <p:sp>
        <p:nvSpPr>
          <p:cNvPr id="7" name="Shape 5"/>
          <p:cNvSpPr/>
          <p:nvPr/>
        </p:nvSpPr>
        <p:spPr>
          <a:xfrm>
            <a:off x="365760" y="932688"/>
            <a:ext cx="1417320" cy="256032"/>
          </a:xfrm>
          <a:prstGeom prst="rect">
            <a:avLst/>
          </a:prstGeom>
          <a:solidFill>
            <a:srgbClr val="16A34A"/>
          </a:solidFill>
          <a:ln w="12700">
            <a:solidFill>
              <a:srgbClr val="16A34A"/>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RECOMMENDATION</a:t>
            </a:r>
            <a:endParaRPr lang="en-US" sz="800" dirty="0"/>
          </a:p>
        </p:txBody>
      </p:sp>
      <p:sp>
        <p:nvSpPr>
          <p:cNvPr id="9" name="Shape 7"/>
          <p:cNvSpPr/>
          <p:nvPr/>
        </p:nvSpPr>
        <p:spPr>
          <a:xfrm>
            <a:off x="365760" y="1261872"/>
            <a:ext cx="8412480" cy="80467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0" name="Shape 8"/>
          <p:cNvSpPr/>
          <p:nvPr/>
        </p:nvSpPr>
        <p:spPr>
          <a:xfrm>
            <a:off x="365760" y="1261872"/>
            <a:ext cx="50292" cy="804672"/>
          </a:xfrm>
          <a:prstGeom prst="rect">
            <a:avLst/>
          </a:prstGeom>
          <a:solidFill>
            <a:srgbClr val="16A34A"/>
          </a:solidFill>
          <a:ln w="12700">
            <a:solidFill>
              <a:srgbClr val="16A34A"/>
            </a:solidFill>
            <a:prstDash val="solid"/>
          </a:ln>
        </p:spPr>
        <p:txBody>
          <a:bodyPr/>
          <a:lstStyle/>
          <a:p>
            <a:endParaRPr lang="en-GB"/>
          </a:p>
        </p:txBody>
      </p:sp>
      <p:sp>
        <p:nvSpPr>
          <p:cNvPr id="11" name="Shape 9"/>
          <p:cNvSpPr/>
          <p:nvPr/>
        </p:nvSpPr>
        <p:spPr>
          <a:xfrm>
            <a:off x="502920" y="1499616"/>
            <a:ext cx="256032" cy="256032"/>
          </a:xfrm>
          <a:prstGeom prst="rect">
            <a:avLst/>
          </a:prstGeom>
          <a:solidFill>
            <a:srgbClr val="16A34A"/>
          </a:solidFill>
          <a:ln w="12700">
            <a:solidFill>
              <a:srgbClr val="16A34A"/>
            </a:solidFill>
            <a:prstDash val="solid"/>
          </a:ln>
        </p:spPr>
        <p:txBody>
          <a:bodyPr/>
          <a:lstStyle/>
          <a:p>
            <a:endParaRPr lang="en-GB"/>
          </a:p>
        </p:txBody>
      </p:sp>
      <p:sp>
        <p:nvSpPr>
          <p:cNvPr id="12" name="Text 10"/>
          <p:cNvSpPr/>
          <p:nvPr/>
        </p:nvSpPr>
        <p:spPr>
          <a:xfrm>
            <a:off x="502920" y="149961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p:nvPr/>
        </p:nvSpPr>
        <p:spPr>
          <a:xfrm>
            <a:off x="914400" y="1325880"/>
            <a:ext cx="7589520" cy="274320"/>
          </a:xfrm>
          <a:prstGeom prst="rect">
            <a:avLst/>
          </a:prstGeom>
          <a:noFill/>
          <a:ln/>
        </p:spPr>
        <p:txBody>
          <a:bodyPr wrap="square" lIns="0" tIns="0" rIns="0" bIns="0"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Appoint or nominate a Product Owner</a:t>
            </a:r>
            <a:endParaRPr lang="en-US" sz="1150" dirty="0"/>
          </a:p>
        </p:txBody>
      </p:sp>
      <p:sp>
        <p:nvSpPr>
          <p:cNvPr id="14" name="Text 12"/>
          <p:cNvSpPr/>
          <p:nvPr/>
        </p:nvSpPr>
        <p:spPr>
          <a:xfrm>
            <a:off x="914400" y="1627632"/>
            <a:ext cx="7589520" cy="384048"/>
          </a:xfrm>
          <a:prstGeom prst="rect">
            <a:avLst/>
          </a:prstGeom>
          <a:noFill/>
          <a:ln/>
        </p:spPr>
        <p:txBody>
          <a:bodyPr wrap="square" lIns="0" tIns="0" rIns="0" bIns="0" rtlCol="0" anchor="ctr"/>
          <a:lstStyle/>
          <a:p>
            <a:pPr marL="0" indent="0">
              <a:buNone/>
            </a:pPr>
            <a:r>
              <a:rPr lang="en-US" sz="900" dirty="0">
                <a:solidFill>
                  <a:srgbClr val="5A6E8C"/>
                </a:solidFill>
                <a:latin typeface="Calibri" pitchFamily="34" charset="0"/>
                <a:ea typeface="Calibri" pitchFamily="34" charset="-122"/>
                <a:cs typeface="Calibri" pitchFamily="34" charset="-120"/>
              </a:rPr>
              <a:t>A named individual must be accountable for requirements, prioritisation, and acceptance sign-off. If a full PO role cannot be resourced, a Business Analyst or lead stakeholder must formally fill this function per project.</a:t>
            </a:r>
            <a:endParaRPr lang="en-US" sz="900" dirty="0"/>
          </a:p>
        </p:txBody>
      </p:sp>
      <p:sp>
        <p:nvSpPr>
          <p:cNvPr id="15" name="Shape 13"/>
          <p:cNvSpPr/>
          <p:nvPr/>
        </p:nvSpPr>
        <p:spPr>
          <a:xfrm>
            <a:off x="365760" y="2157984"/>
            <a:ext cx="8412480" cy="80467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6" name="Shape 14"/>
          <p:cNvSpPr/>
          <p:nvPr/>
        </p:nvSpPr>
        <p:spPr>
          <a:xfrm>
            <a:off x="365760" y="2157984"/>
            <a:ext cx="50292" cy="804672"/>
          </a:xfrm>
          <a:prstGeom prst="rect">
            <a:avLst/>
          </a:prstGeom>
          <a:solidFill>
            <a:srgbClr val="16A34A"/>
          </a:solidFill>
          <a:ln w="12700">
            <a:solidFill>
              <a:srgbClr val="16A34A"/>
            </a:solidFill>
            <a:prstDash val="solid"/>
          </a:ln>
        </p:spPr>
        <p:txBody>
          <a:bodyPr/>
          <a:lstStyle/>
          <a:p>
            <a:endParaRPr lang="en-GB"/>
          </a:p>
        </p:txBody>
      </p:sp>
      <p:sp>
        <p:nvSpPr>
          <p:cNvPr id="17" name="Shape 15"/>
          <p:cNvSpPr/>
          <p:nvPr/>
        </p:nvSpPr>
        <p:spPr>
          <a:xfrm>
            <a:off x="502920" y="2395728"/>
            <a:ext cx="256032" cy="256032"/>
          </a:xfrm>
          <a:prstGeom prst="rect">
            <a:avLst/>
          </a:prstGeom>
          <a:solidFill>
            <a:srgbClr val="16A34A"/>
          </a:solidFill>
          <a:ln w="12700">
            <a:solidFill>
              <a:srgbClr val="16A34A"/>
            </a:solidFill>
            <a:prstDash val="solid"/>
          </a:ln>
        </p:spPr>
        <p:txBody>
          <a:bodyPr/>
          <a:lstStyle/>
          <a:p>
            <a:endParaRPr lang="en-GB"/>
          </a:p>
        </p:txBody>
      </p:sp>
      <p:sp>
        <p:nvSpPr>
          <p:cNvPr id="18" name="Text 16"/>
          <p:cNvSpPr/>
          <p:nvPr/>
        </p:nvSpPr>
        <p:spPr>
          <a:xfrm>
            <a:off x="502920" y="239572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17"/>
          <p:cNvSpPr/>
          <p:nvPr/>
        </p:nvSpPr>
        <p:spPr>
          <a:xfrm>
            <a:off x="914400" y="2221992"/>
            <a:ext cx="7589520" cy="274320"/>
          </a:xfrm>
          <a:prstGeom prst="rect">
            <a:avLst/>
          </a:prstGeom>
          <a:noFill/>
          <a:ln/>
        </p:spPr>
        <p:txBody>
          <a:bodyPr wrap="square" lIns="0" tIns="0" rIns="0" bIns="0"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Externalise data mapping &amp; modelling</a:t>
            </a:r>
            <a:endParaRPr lang="en-US" sz="1150" dirty="0"/>
          </a:p>
        </p:txBody>
      </p:sp>
      <p:sp>
        <p:nvSpPr>
          <p:cNvPr id="20" name="Text 18"/>
          <p:cNvSpPr/>
          <p:nvPr/>
        </p:nvSpPr>
        <p:spPr>
          <a:xfrm>
            <a:off x="914400" y="2523744"/>
            <a:ext cx="7589520" cy="384048"/>
          </a:xfrm>
          <a:prstGeom prst="rect">
            <a:avLst/>
          </a:prstGeom>
          <a:noFill/>
          <a:ln/>
        </p:spPr>
        <p:txBody>
          <a:bodyPr wrap="square" lIns="0" tIns="0" rIns="0" bIns="0" rtlCol="0" anchor="ctr"/>
          <a:lstStyle/>
          <a:p>
            <a:pPr marL="0" indent="0">
              <a:buNone/>
            </a:pPr>
            <a:r>
              <a:rPr lang="en-US" sz="900" dirty="0">
                <a:solidFill>
                  <a:srgbClr val="5A6E8C"/>
                </a:solidFill>
                <a:latin typeface="Calibri" pitchFamily="34" charset="0"/>
                <a:ea typeface="Calibri" pitchFamily="34" charset="-122"/>
                <a:cs typeface="Calibri" pitchFamily="34" charset="-120"/>
              </a:rPr>
              <a:t>Create a repeatable process — and a shared resource — for data mapping across all projects. Use a standardised template. This work should be sourced and owned outside the QA function, with QAs as reviewers, not authors.</a:t>
            </a:r>
            <a:endParaRPr lang="en-US" sz="900" dirty="0"/>
          </a:p>
        </p:txBody>
      </p:sp>
      <p:sp>
        <p:nvSpPr>
          <p:cNvPr id="21" name="Shape 19"/>
          <p:cNvSpPr/>
          <p:nvPr/>
        </p:nvSpPr>
        <p:spPr>
          <a:xfrm>
            <a:off x="365760" y="3054096"/>
            <a:ext cx="8412480" cy="80467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2" name="Shape 20"/>
          <p:cNvSpPr/>
          <p:nvPr/>
        </p:nvSpPr>
        <p:spPr>
          <a:xfrm>
            <a:off x="365760" y="3054096"/>
            <a:ext cx="50292" cy="804672"/>
          </a:xfrm>
          <a:prstGeom prst="rect">
            <a:avLst/>
          </a:prstGeom>
          <a:solidFill>
            <a:srgbClr val="16A34A"/>
          </a:solidFill>
          <a:ln w="12700">
            <a:solidFill>
              <a:srgbClr val="16A34A"/>
            </a:solidFill>
            <a:prstDash val="solid"/>
          </a:ln>
        </p:spPr>
        <p:txBody>
          <a:bodyPr/>
          <a:lstStyle/>
          <a:p>
            <a:endParaRPr lang="en-GB"/>
          </a:p>
        </p:txBody>
      </p:sp>
      <p:sp>
        <p:nvSpPr>
          <p:cNvPr id="23" name="Shape 21"/>
          <p:cNvSpPr/>
          <p:nvPr/>
        </p:nvSpPr>
        <p:spPr>
          <a:xfrm>
            <a:off x="502920" y="3291840"/>
            <a:ext cx="256032" cy="256032"/>
          </a:xfrm>
          <a:prstGeom prst="rect">
            <a:avLst/>
          </a:prstGeom>
          <a:solidFill>
            <a:srgbClr val="16A34A"/>
          </a:solidFill>
          <a:ln w="12700">
            <a:solidFill>
              <a:srgbClr val="16A34A"/>
            </a:solidFill>
            <a:prstDash val="solid"/>
          </a:ln>
        </p:spPr>
        <p:txBody>
          <a:bodyPr/>
          <a:lstStyle/>
          <a:p>
            <a:endParaRPr lang="en-GB"/>
          </a:p>
        </p:txBody>
      </p:sp>
      <p:sp>
        <p:nvSpPr>
          <p:cNvPr id="24" name="Text 22"/>
          <p:cNvSpPr/>
          <p:nvPr/>
        </p:nvSpPr>
        <p:spPr>
          <a:xfrm>
            <a:off x="502920" y="329184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914400" y="3118104"/>
            <a:ext cx="7589520" cy="274320"/>
          </a:xfrm>
          <a:prstGeom prst="rect">
            <a:avLst/>
          </a:prstGeom>
          <a:noFill/>
          <a:ln/>
        </p:spPr>
        <p:txBody>
          <a:bodyPr wrap="square" lIns="0" tIns="0" rIns="0" bIns="0"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Engage SMEs at sprint inception</a:t>
            </a:r>
            <a:endParaRPr lang="en-US" sz="1150" dirty="0"/>
          </a:p>
        </p:txBody>
      </p:sp>
      <p:sp>
        <p:nvSpPr>
          <p:cNvPr id="26" name="Text 24"/>
          <p:cNvSpPr/>
          <p:nvPr/>
        </p:nvSpPr>
        <p:spPr>
          <a:xfrm>
            <a:off x="914400" y="3419856"/>
            <a:ext cx="7589520" cy="384048"/>
          </a:xfrm>
          <a:prstGeom prst="rect">
            <a:avLst/>
          </a:prstGeom>
          <a:noFill/>
          <a:ln/>
        </p:spPr>
        <p:txBody>
          <a:bodyPr wrap="square" lIns="0" tIns="0" rIns="0" bIns="0" rtlCol="0" anchor="ctr"/>
          <a:lstStyle/>
          <a:p>
            <a:pPr marL="0" indent="0">
              <a:buNone/>
            </a:pPr>
            <a:r>
              <a:rPr lang="en-US" sz="900" dirty="0">
                <a:solidFill>
                  <a:srgbClr val="5A6E8C"/>
                </a:solidFill>
                <a:latin typeface="Calibri" pitchFamily="34" charset="0"/>
                <a:ea typeface="Calibri" pitchFamily="34" charset="-122"/>
                <a:cs typeface="Calibri" pitchFamily="34" charset="-120"/>
              </a:rPr>
              <a:t>SMEs must participate in requirements and design sessions, not as a courtesy but as a delivery prerequisite. A sprint should not begin if the QA team cannot answer: what does this pipeline do, what does good output look like, and what are the edge cases?</a:t>
            </a:r>
            <a:endParaRPr lang="en-US" sz="900" dirty="0"/>
          </a:p>
        </p:txBody>
      </p:sp>
      <p:sp>
        <p:nvSpPr>
          <p:cNvPr id="27" name="Shape 25"/>
          <p:cNvSpPr/>
          <p:nvPr/>
        </p:nvSpPr>
        <p:spPr>
          <a:xfrm>
            <a:off x="365760" y="3950208"/>
            <a:ext cx="8412480" cy="80467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8" name="Shape 26"/>
          <p:cNvSpPr/>
          <p:nvPr/>
        </p:nvSpPr>
        <p:spPr>
          <a:xfrm>
            <a:off x="365760" y="3950208"/>
            <a:ext cx="50292" cy="804672"/>
          </a:xfrm>
          <a:prstGeom prst="rect">
            <a:avLst/>
          </a:prstGeom>
          <a:solidFill>
            <a:srgbClr val="16A34A"/>
          </a:solidFill>
          <a:ln w="12700">
            <a:solidFill>
              <a:srgbClr val="16A34A"/>
            </a:solidFill>
            <a:prstDash val="solid"/>
          </a:ln>
        </p:spPr>
        <p:txBody>
          <a:bodyPr/>
          <a:lstStyle/>
          <a:p>
            <a:endParaRPr lang="en-GB"/>
          </a:p>
        </p:txBody>
      </p:sp>
      <p:sp>
        <p:nvSpPr>
          <p:cNvPr id="29" name="Shape 27"/>
          <p:cNvSpPr/>
          <p:nvPr/>
        </p:nvSpPr>
        <p:spPr>
          <a:xfrm>
            <a:off x="502920" y="4187952"/>
            <a:ext cx="256032" cy="256032"/>
          </a:xfrm>
          <a:prstGeom prst="rect">
            <a:avLst/>
          </a:prstGeom>
          <a:solidFill>
            <a:srgbClr val="16A34A"/>
          </a:solidFill>
          <a:ln w="12700">
            <a:solidFill>
              <a:srgbClr val="16A34A"/>
            </a:solidFill>
            <a:prstDash val="solid"/>
          </a:ln>
        </p:spPr>
        <p:txBody>
          <a:bodyPr/>
          <a:lstStyle/>
          <a:p>
            <a:endParaRPr lang="en-GB"/>
          </a:p>
        </p:txBody>
      </p:sp>
      <p:sp>
        <p:nvSpPr>
          <p:cNvPr id="30" name="Text 28"/>
          <p:cNvSpPr/>
          <p:nvPr/>
        </p:nvSpPr>
        <p:spPr>
          <a:xfrm>
            <a:off x="502920" y="418795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914400" y="4014216"/>
            <a:ext cx="7589520" cy="274320"/>
          </a:xfrm>
          <a:prstGeom prst="rect">
            <a:avLst/>
          </a:prstGeom>
          <a:noFill/>
          <a:ln/>
        </p:spPr>
        <p:txBody>
          <a:bodyPr wrap="square" lIns="0" tIns="0" rIns="0" bIns="0"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Create a Common Requirements Template</a:t>
            </a:r>
            <a:endParaRPr lang="en-US" sz="1150" dirty="0"/>
          </a:p>
        </p:txBody>
      </p:sp>
      <p:sp>
        <p:nvSpPr>
          <p:cNvPr id="32" name="Text 30"/>
          <p:cNvSpPr/>
          <p:nvPr/>
        </p:nvSpPr>
        <p:spPr>
          <a:xfrm>
            <a:off x="914400" y="4315968"/>
            <a:ext cx="7589520" cy="384048"/>
          </a:xfrm>
          <a:prstGeom prst="rect">
            <a:avLst/>
          </a:prstGeom>
          <a:noFill/>
          <a:ln/>
        </p:spPr>
        <p:txBody>
          <a:bodyPr wrap="square" lIns="0" tIns="0" rIns="0" bIns="0" rtlCol="0" anchor="ctr"/>
          <a:lstStyle/>
          <a:p>
            <a:pPr marL="0" indent="0">
              <a:buNone/>
            </a:pPr>
            <a:r>
              <a:rPr lang="en-US" sz="900" dirty="0">
                <a:solidFill>
                  <a:srgbClr val="5A6E8C"/>
                </a:solidFill>
                <a:latin typeface="Calibri" pitchFamily="34" charset="0"/>
                <a:ea typeface="Calibri" pitchFamily="34" charset="-122"/>
                <a:cs typeface="Calibri" pitchFamily="34" charset="-120"/>
              </a:rPr>
              <a:t>A single intake template — tailored to the medallion architecture (raw / clean / curate) — should govern how all projects capture requirements, annotate stories with layer tags, and surface acceptance criteria before ADO tickets are created.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02 · Test Data Management</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No strategy. No ownership. No safety net.</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6 / 22</a:t>
            </a:r>
            <a:endParaRPr lang="en-US" sz="900" dirty="0"/>
          </a:p>
        </p:txBody>
      </p:sp>
      <p:sp>
        <p:nvSpPr>
          <p:cNvPr id="7" name="Shape 5"/>
          <p:cNvSpPr/>
          <p:nvPr/>
        </p:nvSpPr>
        <p:spPr>
          <a:xfrm>
            <a:off x="365760" y="932688"/>
            <a:ext cx="1417320" cy="256032"/>
          </a:xfrm>
          <a:prstGeom prst="rect">
            <a:avLst/>
          </a:prstGeom>
          <a:solidFill>
            <a:srgbClr val="E8453C"/>
          </a:solidFill>
          <a:ln w="12700">
            <a:solidFill>
              <a:srgbClr val="E8453C"/>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CRITICAL GAP</a:t>
            </a:r>
            <a:endParaRPr lang="en-US" sz="800" dirty="0"/>
          </a:p>
        </p:txBody>
      </p:sp>
      <p:sp>
        <p:nvSpPr>
          <p:cNvPr id="9" name="Shape 7"/>
          <p:cNvSpPr/>
          <p:nvPr/>
        </p:nvSpPr>
        <p:spPr>
          <a:xfrm>
            <a:off x="365760" y="1261872"/>
            <a:ext cx="3291840" cy="3657600"/>
          </a:xfrm>
          <a:prstGeom prst="rect">
            <a:avLst/>
          </a:prstGeom>
          <a:solidFill>
            <a:srgbClr val="0D1F35"/>
          </a:solidFill>
          <a:ln w="12700">
            <a:solidFill>
              <a:srgbClr val="0D1F35"/>
            </a:solidFill>
            <a:prstDash val="solid"/>
          </a:ln>
          <a:effectLst>
            <a:outerShdw blurRad="127000" dist="38100" dir="8100000" algn="bl" rotWithShape="0">
              <a:srgbClr val="000000">
                <a:alpha val="10000"/>
              </a:srgbClr>
            </a:outerShdw>
          </a:effectLst>
        </p:spPr>
        <p:txBody>
          <a:bodyPr/>
          <a:lstStyle/>
          <a:p>
            <a:endParaRPr lang="en-GB"/>
          </a:p>
        </p:txBody>
      </p:sp>
      <p:sp>
        <p:nvSpPr>
          <p:cNvPr id="10" name="Text 8"/>
          <p:cNvSpPr/>
          <p:nvPr/>
        </p:nvSpPr>
        <p:spPr>
          <a:xfrm>
            <a:off x="457200" y="1417320"/>
            <a:ext cx="3108960" cy="9144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The TDM</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Landscape</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Today</a:t>
            </a:r>
            <a:endParaRPr lang="en-US" sz="1700" dirty="0"/>
          </a:p>
        </p:txBody>
      </p:sp>
      <p:sp>
        <p:nvSpPr>
          <p:cNvPr id="11" name="Shape 9"/>
          <p:cNvSpPr/>
          <p:nvPr/>
        </p:nvSpPr>
        <p:spPr>
          <a:xfrm>
            <a:off x="438912" y="2450592"/>
            <a:ext cx="3145536" cy="530352"/>
          </a:xfrm>
          <a:prstGeom prst="rect">
            <a:avLst/>
          </a:prstGeom>
          <a:solidFill>
            <a:srgbClr val="1A2E45"/>
          </a:solidFill>
          <a:ln w="12700">
            <a:solidFill>
              <a:srgbClr val="2A4060"/>
            </a:solidFill>
            <a:prstDash val="solid"/>
          </a:ln>
        </p:spPr>
        <p:txBody>
          <a:bodyPr/>
          <a:lstStyle/>
          <a:p>
            <a:endParaRPr lang="en-GB"/>
          </a:p>
        </p:txBody>
      </p:sp>
      <p:sp>
        <p:nvSpPr>
          <p:cNvPr id="12" name="Shape 10"/>
          <p:cNvSpPr/>
          <p:nvPr/>
        </p:nvSpPr>
        <p:spPr>
          <a:xfrm>
            <a:off x="438912" y="2450592"/>
            <a:ext cx="45720" cy="530352"/>
          </a:xfrm>
          <a:prstGeom prst="rect">
            <a:avLst/>
          </a:prstGeom>
          <a:solidFill>
            <a:srgbClr val="E8453C"/>
          </a:solidFill>
          <a:ln w="12700">
            <a:solidFill>
              <a:srgbClr val="E8453C"/>
            </a:solidFill>
            <a:prstDash val="solid"/>
          </a:ln>
        </p:spPr>
        <p:txBody>
          <a:bodyPr/>
          <a:lstStyle/>
          <a:p>
            <a:endParaRPr lang="en-GB"/>
          </a:p>
        </p:txBody>
      </p:sp>
      <p:sp>
        <p:nvSpPr>
          <p:cNvPr id="13" name="Text 11"/>
          <p:cNvSpPr/>
          <p:nvPr/>
        </p:nvSpPr>
        <p:spPr>
          <a:xfrm>
            <a:off x="566928" y="2487168"/>
            <a:ext cx="2944368" cy="201168"/>
          </a:xfrm>
          <a:prstGeom prst="rect">
            <a:avLst/>
          </a:prstGeom>
          <a:noFill/>
          <a:ln/>
        </p:spPr>
        <p:txBody>
          <a:bodyPr wrap="square" lIns="0" tIns="0" rIns="0" bIns="0" rtlCol="0" anchor="ctr"/>
          <a:lstStyle/>
          <a:p>
            <a:pPr marL="0" indent="0">
              <a:buNone/>
            </a:pPr>
            <a:r>
              <a:rPr lang="en-US" sz="900" b="1" dirty="0">
                <a:solidFill>
                  <a:srgbClr val="FF8080"/>
                </a:solidFill>
                <a:latin typeface="Calibri" pitchFamily="34" charset="0"/>
                <a:ea typeface="Calibri" pitchFamily="34" charset="-122"/>
                <a:cs typeface="Calibri" pitchFamily="34" charset="-120"/>
              </a:rPr>
              <a:t>No TDM Ownership</a:t>
            </a:r>
            <a:endParaRPr lang="en-US" sz="900" dirty="0"/>
          </a:p>
        </p:txBody>
      </p:sp>
      <p:sp>
        <p:nvSpPr>
          <p:cNvPr id="14" name="Text 12"/>
          <p:cNvSpPr/>
          <p:nvPr/>
        </p:nvSpPr>
        <p:spPr>
          <a:xfrm>
            <a:off x="566928" y="2697480"/>
            <a:ext cx="2944368" cy="237744"/>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If test data is not supplied, there is no formal escalation path and no blocker raised.</a:t>
            </a:r>
            <a:endParaRPr lang="en-US" sz="750" dirty="0"/>
          </a:p>
        </p:txBody>
      </p:sp>
      <p:sp>
        <p:nvSpPr>
          <p:cNvPr id="15" name="Shape 13"/>
          <p:cNvSpPr/>
          <p:nvPr/>
        </p:nvSpPr>
        <p:spPr>
          <a:xfrm>
            <a:off x="438912" y="3054096"/>
            <a:ext cx="3145536" cy="530352"/>
          </a:xfrm>
          <a:prstGeom prst="rect">
            <a:avLst/>
          </a:prstGeom>
          <a:solidFill>
            <a:srgbClr val="1A2E45"/>
          </a:solidFill>
          <a:ln w="12700">
            <a:solidFill>
              <a:srgbClr val="2A4060"/>
            </a:solidFill>
            <a:prstDash val="solid"/>
          </a:ln>
        </p:spPr>
        <p:txBody>
          <a:bodyPr/>
          <a:lstStyle/>
          <a:p>
            <a:endParaRPr lang="en-GB"/>
          </a:p>
        </p:txBody>
      </p:sp>
      <p:sp>
        <p:nvSpPr>
          <p:cNvPr id="16" name="Shape 14"/>
          <p:cNvSpPr/>
          <p:nvPr/>
        </p:nvSpPr>
        <p:spPr>
          <a:xfrm>
            <a:off x="438912" y="3054096"/>
            <a:ext cx="45720" cy="530352"/>
          </a:xfrm>
          <a:prstGeom prst="rect">
            <a:avLst/>
          </a:prstGeom>
          <a:solidFill>
            <a:srgbClr val="E8453C"/>
          </a:solidFill>
          <a:ln w="12700">
            <a:solidFill>
              <a:srgbClr val="E8453C"/>
            </a:solidFill>
            <a:prstDash val="solid"/>
          </a:ln>
        </p:spPr>
        <p:txBody>
          <a:bodyPr/>
          <a:lstStyle/>
          <a:p>
            <a:endParaRPr lang="en-GB"/>
          </a:p>
        </p:txBody>
      </p:sp>
      <p:sp>
        <p:nvSpPr>
          <p:cNvPr id="17" name="Text 15"/>
          <p:cNvSpPr/>
          <p:nvPr/>
        </p:nvSpPr>
        <p:spPr>
          <a:xfrm>
            <a:off x="566928" y="3090672"/>
            <a:ext cx="2944368" cy="201168"/>
          </a:xfrm>
          <a:prstGeom prst="rect">
            <a:avLst/>
          </a:prstGeom>
          <a:noFill/>
          <a:ln/>
        </p:spPr>
        <p:txBody>
          <a:bodyPr wrap="square" lIns="0" tIns="0" rIns="0" bIns="0" rtlCol="0" anchor="ctr"/>
          <a:lstStyle/>
          <a:p>
            <a:pPr marL="0" indent="0">
              <a:buNone/>
            </a:pPr>
            <a:r>
              <a:rPr lang="en-US" sz="900" b="1" dirty="0">
                <a:solidFill>
                  <a:srgbClr val="FF8080"/>
                </a:solidFill>
                <a:latin typeface="Calibri" pitchFamily="34" charset="0"/>
                <a:ea typeface="Calibri" pitchFamily="34" charset="-122"/>
                <a:cs typeface="Calibri" pitchFamily="34" charset="-120"/>
              </a:rPr>
              <a:t>No Definition of Ready</a:t>
            </a:r>
            <a:endParaRPr lang="en-US" sz="900" dirty="0"/>
          </a:p>
        </p:txBody>
      </p:sp>
      <p:sp>
        <p:nvSpPr>
          <p:cNvPr id="18" name="Text 16"/>
          <p:cNvSpPr/>
          <p:nvPr/>
        </p:nvSpPr>
        <p:spPr>
          <a:xfrm>
            <a:off x="566928" y="3300984"/>
            <a:ext cx="2944368" cy="237744"/>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Engineering commitments are made without guaranteeing test data is available.</a:t>
            </a:r>
            <a:endParaRPr lang="en-US" sz="750" dirty="0"/>
          </a:p>
        </p:txBody>
      </p:sp>
      <p:sp>
        <p:nvSpPr>
          <p:cNvPr id="19" name="Shape 17"/>
          <p:cNvSpPr/>
          <p:nvPr/>
        </p:nvSpPr>
        <p:spPr>
          <a:xfrm>
            <a:off x="438912" y="3657600"/>
            <a:ext cx="3145536" cy="530352"/>
          </a:xfrm>
          <a:prstGeom prst="rect">
            <a:avLst/>
          </a:prstGeom>
          <a:solidFill>
            <a:srgbClr val="1A2E45"/>
          </a:solidFill>
          <a:ln w="12700">
            <a:solidFill>
              <a:srgbClr val="2A4060"/>
            </a:solidFill>
            <a:prstDash val="solid"/>
          </a:ln>
        </p:spPr>
        <p:txBody>
          <a:bodyPr/>
          <a:lstStyle/>
          <a:p>
            <a:endParaRPr lang="en-GB"/>
          </a:p>
        </p:txBody>
      </p:sp>
      <p:sp>
        <p:nvSpPr>
          <p:cNvPr id="20" name="Shape 18"/>
          <p:cNvSpPr/>
          <p:nvPr/>
        </p:nvSpPr>
        <p:spPr>
          <a:xfrm>
            <a:off x="438912" y="3657600"/>
            <a:ext cx="45720" cy="530352"/>
          </a:xfrm>
          <a:prstGeom prst="rect">
            <a:avLst/>
          </a:prstGeom>
          <a:solidFill>
            <a:srgbClr val="E8453C"/>
          </a:solidFill>
          <a:ln w="12700">
            <a:solidFill>
              <a:srgbClr val="E8453C"/>
            </a:solidFill>
            <a:prstDash val="solid"/>
          </a:ln>
        </p:spPr>
        <p:txBody>
          <a:bodyPr/>
          <a:lstStyle/>
          <a:p>
            <a:endParaRPr lang="en-GB"/>
          </a:p>
        </p:txBody>
      </p:sp>
      <p:sp>
        <p:nvSpPr>
          <p:cNvPr id="21" name="Text 19"/>
          <p:cNvSpPr/>
          <p:nvPr/>
        </p:nvSpPr>
        <p:spPr>
          <a:xfrm>
            <a:off x="566928" y="3694176"/>
            <a:ext cx="2944368" cy="201168"/>
          </a:xfrm>
          <a:prstGeom prst="rect">
            <a:avLst/>
          </a:prstGeom>
          <a:noFill/>
          <a:ln/>
        </p:spPr>
        <p:txBody>
          <a:bodyPr wrap="square" lIns="0" tIns="0" rIns="0" bIns="0" rtlCol="0" anchor="ctr"/>
          <a:lstStyle/>
          <a:p>
            <a:pPr marL="0" indent="0">
              <a:buNone/>
            </a:pPr>
            <a:r>
              <a:rPr lang="en-US" sz="900" b="1" dirty="0">
                <a:solidFill>
                  <a:srgbClr val="FF8080"/>
                </a:solidFill>
                <a:latin typeface="Calibri" pitchFamily="34" charset="0"/>
                <a:ea typeface="Calibri" pitchFamily="34" charset="-122"/>
                <a:cs typeface="Calibri" pitchFamily="34" charset="-120"/>
              </a:rPr>
              <a:t>No SharePoint Test Folders</a:t>
            </a:r>
            <a:endParaRPr lang="en-US" sz="900" dirty="0"/>
          </a:p>
        </p:txBody>
      </p:sp>
      <p:sp>
        <p:nvSpPr>
          <p:cNvPr id="22" name="Text 20"/>
          <p:cNvSpPr/>
          <p:nvPr/>
        </p:nvSpPr>
        <p:spPr>
          <a:xfrm>
            <a:off x="566928" y="3904488"/>
            <a:ext cx="2944368" cy="237744"/>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Testers have no controlled source to use when testing orchestrated pipelines.</a:t>
            </a:r>
            <a:endParaRPr lang="en-US" sz="750" dirty="0"/>
          </a:p>
        </p:txBody>
      </p:sp>
      <p:sp>
        <p:nvSpPr>
          <p:cNvPr id="23" name="Shape 21"/>
          <p:cNvSpPr/>
          <p:nvPr/>
        </p:nvSpPr>
        <p:spPr>
          <a:xfrm>
            <a:off x="438912" y="4261104"/>
            <a:ext cx="3145536" cy="530352"/>
          </a:xfrm>
          <a:prstGeom prst="rect">
            <a:avLst/>
          </a:prstGeom>
          <a:solidFill>
            <a:srgbClr val="1A2E45"/>
          </a:solidFill>
          <a:ln w="12700">
            <a:solidFill>
              <a:srgbClr val="2A4060"/>
            </a:solidFill>
            <a:prstDash val="solid"/>
          </a:ln>
        </p:spPr>
        <p:txBody>
          <a:bodyPr/>
          <a:lstStyle/>
          <a:p>
            <a:endParaRPr lang="en-GB"/>
          </a:p>
        </p:txBody>
      </p:sp>
      <p:sp>
        <p:nvSpPr>
          <p:cNvPr id="24" name="Shape 22"/>
          <p:cNvSpPr/>
          <p:nvPr/>
        </p:nvSpPr>
        <p:spPr>
          <a:xfrm>
            <a:off x="438912" y="4261104"/>
            <a:ext cx="45720" cy="530352"/>
          </a:xfrm>
          <a:prstGeom prst="rect">
            <a:avLst/>
          </a:prstGeom>
          <a:solidFill>
            <a:srgbClr val="E8453C"/>
          </a:solidFill>
          <a:ln w="12700">
            <a:solidFill>
              <a:srgbClr val="E8453C"/>
            </a:solidFill>
            <a:prstDash val="solid"/>
          </a:ln>
        </p:spPr>
        <p:txBody>
          <a:bodyPr/>
          <a:lstStyle/>
          <a:p>
            <a:endParaRPr lang="en-GB"/>
          </a:p>
        </p:txBody>
      </p:sp>
      <p:sp>
        <p:nvSpPr>
          <p:cNvPr id="25" name="Text 23"/>
          <p:cNvSpPr/>
          <p:nvPr/>
        </p:nvSpPr>
        <p:spPr>
          <a:xfrm>
            <a:off x="566928" y="4297680"/>
            <a:ext cx="2944368" cy="201168"/>
          </a:xfrm>
          <a:prstGeom prst="rect">
            <a:avLst/>
          </a:prstGeom>
          <a:noFill/>
          <a:ln/>
        </p:spPr>
        <p:txBody>
          <a:bodyPr wrap="square" lIns="0" tIns="0" rIns="0" bIns="0" rtlCol="0" anchor="ctr"/>
          <a:lstStyle/>
          <a:p>
            <a:pPr marL="0" indent="0">
              <a:buNone/>
            </a:pPr>
            <a:r>
              <a:rPr lang="en-US" sz="900" b="1" dirty="0">
                <a:solidFill>
                  <a:srgbClr val="FF8080"/>
                </a:solidFill>
                <a:latin typeface="Calibri" pitchFamily="34" charset="0"/>
                <a:ea typeface="Calibri" pitchFamily="34" charset="-122"/>
                <a:cs typeface="Calibri" pitchFamily="34" charset="-120"/>
              </a:rPr>
              <a:t>No Production Access</a:t>
            </a:r>
            <a:endParaRPr lang="en-US" sz="900" dirty="0"/>
          </a:p>
        </p:txBody>
      </p:sp>
      <p:sp>
        <p:nvSpPr>
          <p:cNvPr id="26" name="Text 24"/>
          <p:cNvSpPr/>
          <p:nvPr/>
        </p:nvSpPr>
        <p:spPr>
          <a:xfrm>
            <a:off x="566928" y="4507992"/>
            <a:ext cx="2944368" cy="237744"/>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Teams lack visibility of real data shapes, volumes, and edge cases.</a:t>
            </a:r>
            <a:endParaRPr lang="en-US" sz="750" dirty="0"/>
          </a:p>
        </p:txBody>
      </p:sp>
      <p:sp>
        <p:nvSpPr>
          <p:cNvPr id="27" name="Shape 25"/>
          <p:cNvSpPr/>
          <p:nvPr/>
        </p:nvSpPr>
        <p:spPr>
          <a:xfrm>
            <a:off x="3858768" y="1261872"/>
            <a:ext cx="4919472" cy="111556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8" name="Shape 26"/>
          <p:cNvSpPr/>
          <p:nvPr/>
        </p:nvSpPr>
        <p:spPr>
          <a:xfrm>
            <a:off x="3858768" y="1261872"/>
            <a:ext cx="50292" cy="1115568"/>
          </a:xfrm>
          <a:prstGeom prst="rect">
            <a:avLst/>
          </a:prstGeom>
          <a:solidFill>
            <a:srgbClr val="E8453C"/>
          </a:solidFill>
          <a:ln w="12700">
            <a:solidFill>
              <a:srgbClr val="E8453C"/>
            </a:solidFill>
            <a:prstDash val="solid"/>
          </a:ln>
        </p:spPr>
        <p:txBody>
          <a:bodyPr/>
          <a:lstStyle/>
          <a:p>
            <a:endParaRPr lang="en-GB"/>
          </a:p>
        </p:txBody>
      </p:sp>
      <p:sp>
        <p:nvSpPr>
          <p:cNvPr id="29" name="Text 27"/>
          <p:cNvSpPr/>
          <p:nvPr/>
        </p:nvSpPr>
        <p:spPr>
          <a:xfrm>
            <a:off x="4005072" y="1335024"/>
            <a:ext cx="4663440" cy="274320"/>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No Snapshot Strategy Enforced</a:t>
            </a:r>
            <a:endParaRPr lang="en-US" sz="1100" dirty="0"/>
          </a:p>
        </p:txBody>
      </p:sp>
      <p:sp>
        <p:nvSpPr>
          <p:cNvPr id="30" name="Text 28"/>
          <p:cNvSpPr/>
          <p:nvPr/>
        </p:nvSpPr>
        <p:spPr>
          <a:xfrm>
            <a:off x="4005072" y="1645920"/>
            <a:ext cx="4663440" cy="658368"/>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Snapshot types (happy path, empty response, missing fields, large volume) exist in strategy documents but are not systematically applied or seeded before test runs. Raw layer seeding is ad hoc. This means tests run against undefined data states.</a:t>
            </a:r>
            <a:endParaRPr lang="en-US" sz="880" dirty="0"/>
          </a:p>
        </p:txBody>
      </p:sp>
      <p:sp>
        <p:nvSpPr>
          <p:cNvPr id="31" name="Shape 29"/>
          <p:cNvSpPr/>
          <p:nvPr/>
        </p:nvSpPr>
        <p:spPr>
          <a:xfrm>
            <a:off x="3858768" y="2487168"/>
            <a:ext cx="4919472" cy="111556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32" name="Shape 30"/>
          <p:cNvSpPr/>
          <p:nvPr/>
        </p:nvSpPr>
        <p:spPr>
          <a:xfrm>
            <a:off x="3858768" y="2487168"/>
            <a:ext cx="50292" cy="1115568"/>
          </a:xfrm>
          <a:prstGeom prst="rect">
            <a:avLst/>
          </a:prstGeom>
          <a:solidFill>
            <a:srgbClr val="F59E0B"/>
          </a:solidFill>
          <a:ln w="12700">
            <a:solidFill>
              <a:srgbClr val="F59E0B"/>
            </a:solidFill>
            <a:prstDash val="solid"/>
          </a:ln>
        </p:spPr>
        <p:txBody>
          <a:bodyPr/>
          <a:lstStyle/>
          <a:p>
            <a:endParaRPr lang="en-GB"/>
          </a:p>
        </p:txBody>
      </p:sp>
      <p:sp>
        <p:nvSpPr>
          <p:cNvPr id="33" name="Text 31"/>
          <p:cNvSpPr/>
          <p:nvPr/>
        </p:nvSpPr>
        <p:spPr>
          <a:xfrm>
            <a:off x="4005072" y="2560320"/>
            <a:ext cx="4663440" cy="274320"/>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Sensitive Data — Unresolved Access</a:t>
            </a:r>
            <a:endParaRPr lang="en-US" sz="1100" dirty="0"/>
          </a:p>
        </p:txBody>
      </p:sp>
      <p:sp>
        <p:nvSpPr>
          <p:cNvPr id="34" name="Text 32"/>
          <p:cNvSpPr/>
          <p:nvPr/>
        </p:nvSpPr>
        <p:spPr>
          <a:xfrm>
            <a:off x="4005072" y="2871216"/>
            <a:ext cx="4663440" cy="658368"/>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Where full SharePoint or production access cannot be granted to all testers, no formal alternative has been established. A sanitised test SharePoint environment, or anonymised data copy, must be provisioned. The current position — some testers having no access — is not acceptable.</a:t>
            </a:r>
            <a:endParaRPr lang="en-US" sz="880" dirty="0"/>
          </a:p>
        </p:txBody>
      </p:sp>
      <p:sp>
        <p:nvSpPr>
          <p:cNvPr id="35" name="Shape 33"/>
          <p:cNvSpPr/>
          <p:nvPr/>
        </p:nvSpPr>
        <p:spPr>
          <a:xfrm>
            <a:off x="3858768" y="3712464"/>
            <a:ext cx="4919472" cy="111556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36" name="Shape 34"/>
          <p:cNvSpPr/>
          <p:nvPr/>
        </p:nvSpPr>
        <p:spPr>
          <a:xfrm>
            <a:off x="3858768" y="3712464"/>
            <a:ext cx="50292" cy="1115568"/>
          </a:xfrm>
          <a:prstGeom prst="rect">
            <a:avLst/>
          </a:prstGeom>
          <a:solidFill>
            <a:srgbClr val="0E7C7B"/>
          </a:solidFill>
          <a:ln w="12700">
            <a:solidFill>
              <a:srgbClr val="0E7C7B"/>
            </a:solidFill>
            <a:prstDash val="solid"/>
          </a:ln>
        </p:spPr>
        <p:txBody>
          <a:bodyPr/>
          <a:lstStyle/>
          <a:p>
            <a:endParaRPr lang="en-GB"/>
          </a:p>
        </p:txBody>
      </p:sp>
      <p:sp>
        <p:nvSpPr>
          <p:cNvPr id="37" name="Text 35"/>
          <p:cNvSpPr/>
          <p:nvPr/>
        </p:nvSpPr>
        <p:spPr>
          <a:xfrm>
            <a:off x="4005072" y="3785616"/>
            <a:ext cx="4663440" cy="274320"/>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Synthetic Data is Not Being Leveraged</a:t>
            </a:r>
            <a:endParaRPr lang="en-US" sz="1100" dirty="0"/>
          </a:p>
        </p:txBody>
      </p:sp>
      <p:sp>
        <p:nvSpPr>
          <p:cNvPr id="38" name="Text 36"/>
          <p:cNvSpPr/>
          <p:nvPr/>
        </p:nvSpPr>
        <p:spPr>
          <a:xfrm>
            <a:off x="4005072" y="4096512"/>
            <a:ext cx="4663440" cy="658368"/>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A JavaScript/Node.js synthetic data generator uploading NDJSON to Azure Blob Storage exists in principle. This capability must be formalised, documented, and adopted as the standard TDM mechanism for controlled test layer seeding across all pipeline tests.</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02 · Test Data Management — Recommendations</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Making TDM a first-class delivery concern</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7 / 22</a:t>
            </a:r>
            <a:endParaRPr lang="en-US" sz="900" dirty="0"/>
          </a:p>
        </p:txBody>
      </p:sp>
      <p:sp>
        <p:nvSpPr>
          <p:cNvPr id="7" name="Shape 5"/>
          <p:cNvSpPr/>
          <p:nvPr/>
        </p:nvSpPr>
        <p:spPr>
          <a:xfrm>
            <a:off x="365760" y="932688"/>
            <a:ext cx="1417320" cy="256032"/>
          </a:xfrm>
          <a:prstGeom prst="rect">
            <a:avLst/>
          </a:prstGeom>
          <a:solidFill>
            <a:srgbClr val="16A34A"/>
          </a:solidFill>
          <a:ln w="12700">
            <a:solidFill>
              <a:srgbClr val="16A34A"/>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RECOMMENDATION</a:t>
            </a:r>
            <a:endParaRPr lang="en-US" sz="800" dirty="0"/>
          </a:p>
        </p:txBody>
      </p:sp>
      <p:sp>
        <p:nvSpPr>
          <p:cNvPr id="9" name="Text 7"/>
          <p:cNvSpPr/>
          <p:nvPr/>
        </p:nvSpPr>
        <p:spPr>
          <a:xfrm>
            <a:off x="365760" y="1261872"/>
            <a:ext cx="8412480" cy="411480"/>
          </a:xfrm>
          <a:prstGeom prst="rect">
            <a:avLst/>
          </a:prstGeom>
          <a:noFill/>
          <a:ln/>
        </p:spPr>
        <p:txBody>
          <a:bodyPr wrap="square" lIns="0" tIns="0" rIns="0" bIns="0" rtlCol="0" anchor="ctr"/>
          <a:lstStyle/>
          <a:p>
            <a:pPr marL="0" indent="0">
              <a:buNone/>
            </a:pPr>
            <a:r>
              <a:rPr lang="en-US" sz="1000" i="1" dirty="0">
                <a:solidFill>
                  <a:srgbClr val="5A6E8C"/>
                </a:solidFill>
                <a:latin typeface="Calibri" pitchFamily="34" charset="0"/>
                <a:ea typeface="Calibri" pitchFamily="34" charset="-122"/>
                <a:cs typeface="Calibri" pitchFamily="34" charset="-120"/>
              </a:rPr>
              <a:t>The following actions, taken together, transform TDM from an afterthought into a delivery gate. None of these require large investment — they require agreement and consistency.</a:t>
            </a:r>
            <a:endParaRPr lang="en-US" sz="1000" dirty="0"/>
          </a:p>
        </p:txBody>
      </p:sp>
      <p:sp>
        <p:nvSpPr>
          <p:cNvPr id="10" name="Shape 8"/>
          <p:cNvSpPr/>
          <p:nvPr/>
        </p:nvSpPr>
        <p:spPr>
          <a:xfrm>
            <a:off x="365760" y="1764792"/>
            <a:ext cx="8412480" cy="56692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1" name="Shape 9"/>
          <p:cNvSpPr/>
          <p:nvPr/>
        </p:nvSpPr>
        <p:spPr>
          <a:xfrm>
            <a:off x="365760" y="1764792"/>
            <a:ext cx="50292" cy="566928"/>
          </a:xfrm>
          <a:prstGeom prst="rect">
            <a:avLst/>
          </a:prstGeom>
          <a:solidFill>
            <a:srgbClr val="E8453C"/>
          </a:solidFill>
          <a:ln w="12700">
            <a:solidFill>
              <a:srgbClr val="E8453C"/>
            </a:solidFill>
            <a:prstDash val="solid"/>
          </a:ln>
        </p:spPr>
        <p:txBody>
          <a:bodyPr/>
          <a:lstStyle/>
          <a:p>
            <a:endParaRPr lang="en-GB"/>
          </a:p>
        </p:txBody>
      </p:sp>
      <p:sp>
        <p:nvSpPr>
          <p:cNvPr id="12" name="Shape 10"/>
          <p:cNvSpPr/>
          <p:nvPr/>
        </p:nvSpPr>
        <p:spPr>
          <a:xfrm>
            <a:off x="502920" y="1920240"/>
            <a:ext cx="566928" cy="237744"/>
          </a:xfrm>
          <a:prstGeom prst="rect">
            <a:avLst/>
          </a:prstGeom>
          <a:solidFill>
            <a:srgbClr val="E8453C"/>
          </a:solidFill>
          <a:ln w="12700">
            <a:solidFill>
              <a:srgbClr val="E8453C"/>
            </a:solidFill>
            <a:prstDash val="solid"/>
          </a:ln>
        </p:spPr>
        <p:txBody>
          <a:bodyPr/>
          <a:lstStyle/>
          <a:p>
            <a:endParaRPr lang="en-GB"/>
          </a:p>
        </p:txBody>
      </p:sp>
      <p:sp>
        <p:nvSpPr>
          <p:cNvPr id="13" name="Text 11"/>
          <p:cNvSpPr/>
          <p:nvPr/>
        </p:nvSpPr>
        <p:spPr>
          <a:xfrm>
            <a:off x="502920" y="1920240"/>
            <a:ext cx="566928"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14" name="Text 12"/>
          <p:cNvSpPr/>
          <p:nvPr/>
        </p:nvSpPr>
        <p:spPr>
          <a:xfrm>
            <a:off x="1170432" y="1810512"/>
            <a:ext cx="7132320" cy="256032"/>
          </a:xfrm>
          <a:prstGeom prst="rect">
            <a:avLst/>
          </a:prstGeom>
          <a:noFill/>
          <a:ln/>
        </p:spPr>
        <p:txBody>
          <a:bodyPr wrap="square" lIns="0" tIns="0" rIns="0" bIns="0" rtlCol="0" anchor="ctr"/>
          <a:lstStyle/>
          <a:p>
            <a:pPr marL="0" indent="0">
              <a:buNone/>
            </a:pPr>
            <a:r>
              <a:rPr lang="en-US" sz="1050" b="1" dirty="0">
                <a:solidFill>
                  <a:srgbClr val="1C2B3A"/>
                </a:solidFill>
                <a:latin typeface="Calibri" pitchFamily="34" charset="0"/>
                <a:ea typeface="Calibri" pitchFamily="34" charset="-122"/>
                <a:cs typeface="Calibri" pitchFamily="34" charset="-120"/>
              </a:rPr>
              <a:t>Assign a TDM Owner per Project</a:t>
            </a:r>
            <a:endParaRPr lang="en-US" sz="1050" dirty="0"/>
          </a:p>
        </p:txBody>
      </p:sp>
      <p:sp>
        <p:nvSpPr>
          <p:cNvPr id="15" name="Text 13"/>
          <p:cNvSpPr/>
          <p:nvPr/>
        </p:nvSpPr>
        <p:spPr>
          <a:xfrm>
            <a:off x="1170432" y="2075688"/>
            <a:ext cx="7132320" cy="228600"/>
          </a:xfrm>
          <a:prstGeom prst="rect">
            <a:avLst/>
          </a:prstGeom>
          <a:noFill/>
          <a:ln/>
        </p:spPr>
        <p:txBody>
          <a:bodyPr wrap="square" lIns="0" tIns="0" rIns="0" bIns="0" rtlCol="0" anchor="ctr"/>
          <a:lstStyle/>
          <a:p>
            <a:pPr marL="0" indent="0">
              <a:buNone/>
            </a:pPr>
            <a:r>
              <a:rPr lang="en-US" sz="850" dirty="0">
                <a:solidFill>
                  <a:srgbClr val="5A6E8C"/>
                </a:solidFill>
                <a:latin typeface="Calibri" pitchFamily="34" charset="0"/>
                <a:ea typeface="Calibri" pitchFamily="34" charset="-122"/>
                <a:cs typeface="Calibri" pitchFamily="34" charset="-120"/>
              </a:rPr>
              <a:t>One named person — Dev or QA — owns test data readiness. They confirm data is available before sprint start and raise a blocker if it is not. This is non-negotiable.</a:t>
            </a:r>
            <a:endParaRPr lang="en-US" sz="850" dirty="0"/>
          </a:p>
        </p:txBody>
      </p:sp>
      <p:sp>
        <p:nvSpPr>
          <p:cNvPr id="16" name="Shape 14"/>
          <p:cNvSpPr/>
          <p:nvPr/>
        </p:nvSpPr>
        <p:spPr>
          <a:xfrm>
            <a:off x="365760" y="2404872"/>
            <a:ext cx="8412480" cy="56692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7" name="Shape 15"/>
          <p:cNvSpPr/>
          <p:nvPr/>
        </p:nvSpPr>
        <p:spPr>
          <a:xfrm>
            <a:off x="365760" y="2404872"/>
            <a:ext cx="50292" cy="566928"/>
          </a:xfrm>
          <a:prstGeom prst="rect">
            <a:avLst/>
          </a:prstGeom>
          <a:solidFill>
            <a:srgbClr val="E8453C"/>
          </a:solidFill>
          <a:ln w="12700">
            <a:solidFill>
              <a:srgbClr val="E8453C"/>
            </a:solidFill>
            <a:prstDash val="solid"/>
          </a:ln>
        </p:spPr>
        <p:txBody>
          <a:bodyPr/>
          <a:lstStyle/>
          <a:p>
            <a:endParaRPr lang="en-GB"/>
          </a:p>
        </p:txBody>
      </p:sp>
      <p:sp>
        <p:nvSpPr>
          <p:cNvPr id="18" name="Shape 16"/>
          <p:cNvSpPr/>
          <p:nvPr/>
        </p:nvSpPr>
        <p:spPr>
          <a:xfrm>
            <a:off x="502920" y="2560320"/>
            <a:ext cx="566928" cy="237744"/>
          </a:xfrm>
          <a:prstGeom prst="rect">
            <a:avLst/>
          </a:prstGeom>
          <a:solidFill>
            <a:srgbClr val="E8453C"/>
          </a:solidFill>
          <a:ln w="12700">
            <a:solidFill>
              <a:srgbClr val="E8453C"/>
            </a:solidFill>
            <a:prstDash val="solid"/>
          </a:ln>
        </p:spPr>
        <p:txBody>
          <a:bodyPr/>
          <a:lstStyle/>
          <a:p>
            <a:endParaRPr lang="en-GB"/>
          </a:p>
        </p:txBody>
      </p:sp>
      <p:sp>
        <p:nvSpPr>
          <p:cNvPr id="19" name="Text 17"/>
          <p:cNvSpPr/>
          <p:nvPr/>
        </p:nvSpPr>
        <p:spPr>
          <a:xfrm>
            <a:off x="502920" y="2560320"/>
            <a:ext cx="566928"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20" name="Text 18"/>
          <p:cNvSpPr/>
          <p:nvPr/>
        </p:nvSpPr>
        <p:spPr>
          <a:xfrm>
            <a:off x="1170432" y="2450592"/>
            <a:ext cx="7132320" cy="256032"/>
          </a:xfrm>
          <a:prstGeom prst="rect">
            <a:avLst/>
          </a:prstGeom>
          <a:noFill/>
          <a:ln/>
        </p:spPr>
        <p:txBody>
          <a:bodyPr wrap="square" lIns="0" tIns="0" rIns="0" bIns="0" rtlCol="0" anchor="ctr"/>
          <a:lstStyle/>
          <a:p>
            <a:pPr marL="0" indent="0">
              <a:buNone/>
            </a:pPr>
            <a:r>
              <a:rPr lang="en-US" sz="1050" b="1" dirty="0">
                <a:solidFill>
                  <a:srgbClr val="1C2B3A"/>
                </a:solidFill>
                <a:latin typeface="Calibri" pitchFamily="34" charset="0"/>
                <a:ea typeface="Calibri" pitchFamily="34" charset="-122"/>
                <a:cs typeface="Calibri" pitchFamily="34" charset="-120"/>
              </a:rPr>
              <a:t>Update Definition of Ready</a:t>
            </a:r>
            <a:endParaRPr lang="en-US" sz="1050" dirty="0"/>
          </a:p>
        </p:txBody>
      </p:sp>
      <p:sp>
        <p:nvSpPr>
          <p:cNvPr id="21" name="Text 19"/>
          <p:cNvSpPr/>
          <p:nvPr/>
        </p:nvSpPr>
        <p:spPr>
          <a:xfrm>
            <a:off x="1170432" y="2715768"/>
            <a:ext cx="7132320" cy="228600"/>
          </a:xfrm>
          <a:prstGeom prst="rect">
            <a:avLst/>
          </a:prstGeom>
          <a:noFill/>
          <a:ln/>
        </p:spPr>
        <p:txBody>
          <a:bodyPr wrap="square" lIns="0" tIns="0" rIns="0" bIns="0" rtlCol="0" anchor="ctr"/>
          <a:lstStyle/>
          <a:p>
            <a:pPr marL="0" indent="0">
              <a:buNone/>
            </a:pPr>
            <a:r>
              <a:rPr lang="en-US" sz="850" dirty="0">
                <a:solidFill>
                  <a:srgbClr val="5A6E8C"/>
                </a:solidFill>
                <a:latin typeface="Calibri" pitchFamily="34" charset="0"/>
                <a:ea typeface="Calibri" pitchFamily="34" charset="-122"/>
                <a:cs typeface="Calibri" pitchFamily="34" charset="-120"/>
              </a:rPr>
              <a:t>Add an explicit TDM clause: 'Test data for this story is identified, sourced, and seeded.' No story moves to In Progress without it.</a:t>
            </a:r>
            <a:endParaRPr lang="en-US" sz="850" dirty="0"/>
          </a:p>
        </p:txBody>
      </p:sp>
      <p:sp>
        <p:nvSpPr>
          <p:cNvPr id="22" name="Shape 20"/>
          <p:cNvSpPr/>
          <p:nvPr/>
        </p:nvSpPr>
        <p:spPr>
          <a:xfrm>
            <a:off x="365760" y="3044952"/>
            <a:ext cx="8412480" cy="56692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3" name="Shape 21"/>
          <p:cNvSpPr/>
          <p:nvPr/>
        </p:nvSpPr>
        <p:spPr>
          <a:xfrm>
            <a:off x="365760" y="3044952"/>
            <a:ext cx="50292" cy="566928"/>
          </a:xfrm>
          <a:prstGeom prst="rect">
            <a:avLst/>
          </a:prstGeom>
          <a:solidFill>
            <a:srgbClr val="E8453C"/>
          </a:solidFill>
          <a:ln w="12700">
            <a:solidFill>
              <a:srgbClr val="E8453C"/>
            </a:solidFill>
            <a:prstDash val="solid"/>
          </a:ln>
        </p:spPr>
        <p:txBody>
          <a:bodyPr/>
          <a:lstStyle/>
          <a:p>
            <a:endParaRPr lang="en-GB"/>
          </a:p>
        </p:txBody>
      </p:sp>
      <p:sp>
        <p:nvSpPr>
          <p:cNvPr id="24" name="Shape 22"/>
          <p:cNvSpPr/>
          <p:nvPr/>
        </p:nvSpPr>
        <p:spPr>
          <a:xfrm>
            <a:off x="502920" y="3200400"/>
            <a:ext cx="566928" cy="237744"/>
          </a:xfrm>
          <a:prstGeom prst="rect">
            <a:avLst/>
          </a:prstGeom>
          <a:solidFill>
            <a:srgbClr val="E8453C"/>
          </a:solidFill>
          <a:ln w="12700">
            <a:solidFill>
              <a:srgbClr val="E8453C"/>
            </a:solidFill>
            <a:prstDash val="solid"/>
          </a:ln>
        </p:spPr>
        <p:txBody>
          <a:bodyPr/>
          <a:lstStyle/>
          <a:p>
            <a:endParaRPr lang="en-GB"/>
          </a:p>
        </p:txBody>
      </p:sp>
      <p:sp>
        <p:nvSpPr>
          <p:cNvPr id="25" name="Text 23"/>
          <p:cNvSpPr/>
          <p:nvPr/>
        </p:nvSpPr>
        <p:spPr>
          <a:xfrm>
            <a:off x="502920" y="3200400"/>
            <a:ext cx="566928"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26" name="Text 24"/>
          <p:cNvSpPr/>
          <p:nvPr/>
        </p:nvSpPr>
        <p:spPr>
          <a:xfrm>
            <a:off x="1170432" y="3090672"/>
            <a:ext cx="7132320" cy="256032"/>
          </a:xfrm>
          <a:prstGeom prst="rect">
            <a:avLst/>
          </a:prstGeom>
          <a:noFill/>
          <a:ln/>
        </p:spPr>
        <p:txBody>
          <a:bodyPr wrap="square" lIns="0" tIns="0" rIns="0" bIns="0" rtlCol="0" anchor="ctr"/>
          <a:lstStyle/>
          <a:p>
            <a:pPr marL="0" indent="0">
              <a:buNone/>
            </a:pPr>
            <a:r>
              <a:rPr lang="en-US" sz="1050" b="1" dirty="0">
                <a:solidFill>
                  <a:srgbClr val="1C2B3A"/>
                </a:solidFill>
                <a:latin typeface="Calibri" pitchFamily="34" charset="0"/>
                <a:ea typeface="Calibri" pitchFamily="34" charset="-122"/>
                <a:cs typeface="Calibri" pitchFamily="34" charset="-120"/>
              </a:rPr>
              <a:t>Provision a Test SharePoint Environment</a:t>
            </a:r>
            <a:endParaRPr lang="en-US" sz="1050" dirty="0"/>
          </a:p>
        </p:txBody>
      </p:sp>
      <p:sp>
        <p:nvSpPr>
          <p:cNvPr id="27" name="Text 25"/>
          <p:cNvSpPr/>
          <p:nvPr/>
        </p:nvSpPr>
        <p:spPr>
          <a:xfrm>
            <a:off x="1170432" y="3355848"/>
            <a:ext cx="7132320" cy="228600"/>
          </a:xfrm>
          <a:prstGeom prst="rect">
            <a:avLst/>
          </a:prstGeom>
          <a:noFill/>
          <a:ln/>
        </p:spPr>
        <p:txBody>
          <a:bodyPr wrap="square" lIns="0" tIns="0" rIns="0" bIns="0" rtlCol="0" anchor="ctr"/>
          <a:lstStyle/>
          <a:p>
            <a:pPr marL="0" indent="0">
              <a:buNone/>
            </a:pPr>
            <a:r>
              <a:rPr lang="en-US" sz="850" dirty="0">
                <a:solidFill>
                  <a:srgbClr val="5A6E8C"/>
                </a:solidFill>
                <a:latin typeface="Calibri" pitchFamily="34" charset="0"/>
                <a:ea typeface="Calibri" pitchFamily="34" charset="-122"/>
                <a:cs typeface="Calibri" pitchFamily="34" charset="-120"/>
              </a:rPr>
              <a:t>Where sensitive file access cannot be granted to all testers, a curated, sanitised SharePoint test folder must be created. This removes a critical dependency blocking pipeline testing.</a:t>
            </a:r>
            <a:endParaRPr lang="en-US" sz="850" dirty="0"/>
          </a:p>
        </p:txBody>
      </p:sp>
      <p:sp>
        <p:nvSpPr>
          <p:cNvPr id="28" name="Shape 26"/>
          <p:cNvSpPr/>
          <p:nvPr/>
        </p:nvSpPr>
        <p:spPr>
          <a:xfrm>
            <a:off x="365760" y="3685032"/>
            <a:ext cx="8412480" cy="56692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9" name="Shape 27"/>
          <p:cNvSpPr/>
          <p:nvPr/>
        </p:nvSpPr>
        <p:spPr>
          <a:xfrm>
            <a:off x="365760" y="3685032"/>
            <a:ext cx="50292" cy="566928"/>
          </a:xfrm>
          <a:prstGeom prst="rect">
            <a:avLst/>
          </a:prstGeom>
          <a:solidFill>
            <a:srgbClr val="0E7C7B"/>
          </a:solidFill>
          <a:ln w="12700">
            <a:solidFill>
              <a:srgbClr val="0E7C7B"/>
            </a:solidFill>
            <a:prstDash val="solid"/>
          </a:ln>
        </p:spPr>
        <p:txBody>
          <a:bodyPr/>
          <a:lstStyle/>
          <a:p>
            <a:endParaRPr lang="en-GB"/>
          </a:p>
        </p:txBody>
      </p:sp>
      <p:sp>
        <p:nvSpPr>
          <p:cNvPr id="30" name="Shape 28"/>
          <p:cNvSpPr/>
          <p:nvPr/>
        </p:nvSpPr>
        <p:spPr>
          <a:xfrm>
            <a:off x="502920" y="3840480"/>
            <a:ext cx="566928" cy="237744"/>
          </a:xfrm>
          <a:prstGeom prst="rect">
            <a:avLst/>
          </a:prstGeom>
          <a:solidFill>
            <a:srgbClr val="F59E0B"/>
          </a:solidFill>
          <a:ln w="12700">
            <a:solidFill>
              <a:srgbClr val="F59E0B"/>
            </a:solidFill>
            <a:prstDash val="solid"/>
          </a:ln>
        </p:spPr>
        <p:txBody>
          <a:bodyPr/>
          <a:lstStyle/>
          <a:p>
            <a:endParaRPr lang="en-GB"/>
          </a:p>
        </p:txBody>
      </p:sp>
      <p:sp>
        <p:nvSpPr>
          <p:cNvPr id="31" name="Text 29"/>
          <p:cNvSpPr/>
          <p:nvPr/>
        </p:nvSpPr>
        <p:spPr>
          <a:xfrm>
            <a:off x="502920" y="3840480"/>
            <a:ext cx="566928"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32" name="Text 30"/>
          <p:cNvSpPr/>
          <p:nvPr/>
        </p:nvSpPr>
        <p:spPr>
          <a:xfrm>
            <a:off x="1170432" y="3730752"/>
            <a:ext cx="7132320" cy="256032"/>
          </a:xfrm>
          <a:prstGeom prst="rect">
            <a:avLst/>
          </a:prstGeom>
          <a:noFill/>
          <a:ln/>
        </p:spPr>
        <p:txBody>
          <a:bodyPr wrap="square" lIns="0" tIns="0" rIns="0" bIns="0" rtlCol="0" anchor="ctr"/>
          <a:lstStyle/>
          <a:p>
            <a:pPr marL="0" indent="0">
              <a:buNone/>
            </a:pPr>
            <a:r>
              <a:rPr lang="en-US" sz="1050" b="1" dirty="0">
                <a:solidFill>
                  <a:srgbClr val="1C2B3A"/>
                </a:solidFill>
                <a:latin typeface="Calibri" pitchFamily="34" charset="0"/>
                <a:ea typeface="Calibri" pitchFamily="34" charset="-122"/>
                <a:cs typeface="Calibri" pitchFamily="34" charset="-120"/>
              </a:rPr>
              <a:t>Formalise the Synthetic Data Generator</a:t>
            </a:r>
            <a:endParaRPr lang="en-US" sz="1050" dirty="0"/>
          </a:p>
        </p:txBody>
      </p:sp>
      <p:sp>
        <p:nvSpPr>
          <p:cNvPr id="33" name="Text 31"/>
          <p:cNvSpPr/>
          <p:nvPr/>
        </p:nvSpPr>
        <p:spPr>
          <a:xfrm>
            <a:off x="1170432" y="3995928"/>
            <a:ext cx="7132320" cy="228600"/>
          </a:xfrm>
          <a:prstGeom prst="rect">
            <a:avLst/>
          </a:prstGeom>
          <a:noFill/>
          <a:ln/>
        </p:spPr>
        <p:txBody>
          <a:bodyPr wrap="square" lIns="0" tIns="0" rIns="0" bIns="0" rtlCol="0" anchor="ctr"/>
          <a:lstStyle/>
          <a:p>
            <a:pPr marL="0" indent="0">
              <a:buNone/>
            </a:pPr>
            <a:r>
              <a:rPr lang="en-US" sz="850" dirty="0">
                <a:solidFill>
                  <a:srgbClr val="5A6E8C"/>
                </a:solidFill>
                <a:latin typeface="Calibri" pitchFamily="34" charset="0"/>
                <a:ea typeface="Calibri" pitchFamily="34" charset="-122"/>
                <a:cs typeface="Calibri" pitchFamily="34" charset="-120"/>
              </a:rPr>
              <a:t>Document, version-control, and onboard all QAs to the NDJSON synthetic data toolchain. Use it as the standard mechanism for seeding raw/bronze layer data before test runs.</a:t>
            </a:r>
            <a:endParaRPr lang="en-US" sz="850" dirty="0"/>
          </a:p>
        </p:txBody>
      </p:sp>
      <p:sp>
        <p:nvSpPr>
          <p:cNvPr id="34" name="Shape 32"/>
          <p:cNvSpPr/>
          <p:nvPr/>
        </p:nvSpPr>
        <p:spPr>
          <a:xfrm>
            <a:off x="365760" y="4325112"/>
            <a:ext cx="8412480" cy="56692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35" name="Shape 33"/>
          <p:cNvSpPr/>
          <p:nvPr/>
        </p:nvSpPr>
        <p:spPr>
          <a:xfrm>
            <a:off x="365760" y="4325112"/>
            <a:ext cx="50292" cy="566928"/>
          </a:xfrm>
          <a:prstGeom prst="rect">
            <a:avLst/>
          </a:prstGeom>
          <a:solidFill>
            <a:srgbClr val="0E7C7B"/>
          </a:solidFill>
          <a:ln w="12700">
            <a:solidFill>
              <a:srgbClr val="0E7C7B"/>
            </a:solidFill>
            <a:prstDash val="solid"/>
          </a:ln>
        </p:spPr>
        <p:txBody>
          <a:bodyPr/>
          <a:lstStyle/>
          <a:p>
            <a:endParaRPr lang="en-GB"/>
          </a:p>
        </p:txBody>
      </p:sp>
      <p:sp>
        <p:nvSpPr>
          <p:cNvPr id="36" name="Shape 34"/>
          <p:cNvSpPr/>
          <p:nvPr/>
        </p:nvSpPr>
        <p:spPr>
          <a:xfrm>
            <a:off x="502920" y="4480560"/>
            <a:ext cx="566928" cy="237744"/>
          </a:xfrm>
          <a:prstGeom prst="rect">
            <a:avLst/>
          </a:prstGeom>
          <a:solidFill>
            <a:srgbClr val="F59E0B"/>
          </a:solidFill>
          <a:ln w="12700">
            <a:solidFill>
              <a:srgbClr val="F59E0B"/>
            </a:solidFill>
            <a:prstDash val="solid"/>
          </a:ln>
        </p:spPr>
        <p:txBody>
          <a:bodyPr/>
          <a:lstStyle/>
          <a:p>
            <a:endParaRPr lang="en-GB"/>
          </a:p>
        </p:txBody>
      </p:sp>
      <p:sp>
        <p:nvSpPr>
          <p:cNvPr id="37" name="Text 35"/>
          <p:cNvSpPr/>
          <p:nvPr/>
        </p:nvSpPr>
        <p:spPr>
          <a:xfrm>
            <a:off x="502920" y="4480560"/>
            <a:ext cx="566928"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MEDIUM</a:t>
            </a:r>
            <a:endParaRPr lang="en-US" sz="700" dirty="0"/>
          </a:p>
        </p:txBody>
      </p:sp>
      <p:sp>
        <p:nvSpPr>
          <p:cNvPr id="38" name="Text 36"/>
          <p:cNvSpPr/>
          <p:nvPr/>
        </p:nvSpPr>
        <p:spPr>
          <a:xfrm>
            <a:off x="1170432" y="4370832"/>
            <a:ext cx="7132320" cy="256032"/>
          </a:xfrm>
          <a:prstGeom prst="rect">
            <a:avLst/>
          </a:prstGeom>
          <a:noFill/>
          <a:ln/>
        </p:spPr>
        <p:txBody>
          <a:bodyPr wrap="square" lIns="0" tIns="0" rIns="0" bIns="0" rtlCol="0" anchor="ctr"/>
          <a:lstStyle/>
          <a:p>
            <a:pPr marL="0" indent="0">
              <a:buNone/>
            </a:pPr>
            <a:r>
              <a:rPr lang="en-US" sz="1050" b="1" dirty="0">
                <a:solidFill>
                  <a:srgbClr val="1C2B3A"/>
                </a:solidFill>
                <a:latin typeface="Calibri" pitchFamily="34" charset="0"/>
                <a:ea typeface="Calibri" pitchFamily="34" charset="-122"/>
                <a:cs typeface="Calibri" pitchFamily="34" charset="-120"/>
              </a:rPr>
              <a:t>Controlled Production Read Access for QA Lead</a:t>
            </a:r>
            <a:endParaRPr lang="en-US" sz="1050" dirty="0"/>
          </a:p>
        </p:txBody>
      </p:sp>
      <p:sp>
        <p:nvSpPr>
          <p:cNvPr id="39" name="Text 37"/>
          <p:cNvSpPr/>
          <p:nvPr/>
        </p:nvSpPr>
        <p:spPr>
          <a:xfrm>
            <a:off x="1170432" y="4636008"/>
            <a:ext cx="7132320" cy="228600"/>
          </a:xfrm>
          <a:prstGeom prst="rect">
            <a:avLst/>
          </a:prstGeom>
          <a:noFill/>
          <a:ln/>
        </p:spPr>
        <p:txBody>
          <a:bodyPr wrap="square" lIns="0" tIns="0" rIns="0" bIns="0" rtlCol="0" anchor="ctr"/>
          <a:lstStyle/>
          <a:p>
            <a:pPr marL="0" indent="0">
              <a:buNone/>
            </a:pPr>
            <a:r>
              <a:rPr lang="en-US" sz="850" dirty="0">
                <a:solidFill>
                  <a:srgbClr val="5A6E8C"/>
                </a:solidFill>
                <a:latin typeface="Calibri" pitchFamily="34" charset="0"/>
                <a:ea typeface="Calibri" pitchFamily="34" charset="-122"/>
                <a:cs typeface="Calibri" pitchFamily="34" charset="-120"/>
              </a:rPr>
              <a:t>At least one senior QA should have controlled, audited read access to production. This enables edge case identification, volume calibration, and production-replica testing where required.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03 · Requirements &amp; ADO Board Hygiene</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Hazy requirements are the root cause of most quality failures</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8 / 22</a:t>
            </a:r>
            <a:endParaRPr lang="en-US" sz="900" dirty="0"/>
          </a:p>
        </p:txBody>
      </p:sp>
      <p:sp>
        <p:nvSpPr>
          <p:cNvPr id="7" name="Shape 5"/>
          <p:cNvSpPr/>
          <p:nvPr/>
        </p:nvSpPr>
        <p:spPr>
          <a:xfrm>
            <a:off x="365760" y="932688"/>
            <a:ext cx="1417320" cy="256032"/>
          </a:xfrm>
          <a:prstGeom prst="rect">
            <a:avLst/>
          </a:prstGeom>
          <a:solidFill>
            <a:srgbClr val="E8453C"/>
          </a:solidFill>
          <a:ln w="12700">
            <a:solidFill>
              <a:srgbClr val="E8453C"/>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CRITICAL GAP</a:t>
            </a:r>
            <a:endParaRPr lang="en-US" sz="800" dirty="0"/>
          </a:p>
        </p:txBody>
      </p:sp>
      <p:sp>
        <p:nvSpPr>
          <p:cNvPr id="9" name="Text 7"/>
          <p:cNvSpPr/>
          <p:nvPr/>
        </p:nvSpPr>
        <p:spPr>
          <a:xfrm>
            <a:off x="365760" y="1234440"/>
            <a:ext cx="8412480" cy="594360"/>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Business and system design requirements have not been captured in a structured, centralised way. As a consequence, ADO boards do not reflect reality, sprint goals are unwritten, and testers are writing test cases against systems they are expected to treat as black boxes — with no design documentation to work from.</a:t>
            </a:r>
            <a:endParaRPr lang="en-US" sz="1050" dirty="0"/>
          </a:p>
        </p:txBody>
      </p:sp>
      <p:sp>
        <p:nvSpPr>
          <p:cNvPr id="10" name="Shape 8"/>
          <p:cNvSpPr/>
          <p:nvPr/>
        </p:nvSpPr>
        <p:spPr>
          <a:xfrm>
            <a:off x="365760" y="1920240"/>
            <a:ext cx="8412480" cy="676656"/>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1" name="Shape 9"/>
          <p:cNvSpPr/>
          <p:nvPr/>
        </p:nvSpPr>
        <p:spPr>
          <a:xfrm>
            <a:off x="365760" y="1920240"/>
            <a:ext cx="50292" cy="676656"/>
          </a:xfrm>
          <a:prstGeom prst="rect">
            <a:avLst/>
          </a:prstGeom>
          <a:solidFill>
            <a:srgbClr val="E8453C"/>
          </a:solidFill>
          <a:ln w="12700">
            <a:solidFill>
              <a:srgbClr val="E8453C"/>
            </a:solidFill>
            <a:prstDash val="solid"/>
          </a:ln>
        </p:spPr>
        <p:txBody>
          <a:bodyPr/>
          <a:lstStyle/>
          <a:p>
            <a:endParaRPr lang="en-GB"/>
          </a:p>
        </p:txBody>
      </p:sp>
      <p:sp>
        <p:nvSpPr>
          <p:cNvPr id="12" name="Text 10"/>
          <p:cNvSpPr/>
          <p:nvPr/>
        </p:nvSpPr>
        <p:spPr>
          <a:xfrm>
            <a:off x="530352" y="1984248"/>
            <a:ext cx="8046720" cy="256032"/>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User Stories Do Not Follow INVEST</a:t>
            </a:r>
            <a:endParaRPr lang="en-US" sz="1100" dirty="0"/>
          </a:p>
        </p:txBody>
      </p:sp>
      <p:sp>
        <p:nvSpPr>
          <p:cNvPr id="13" name="Text 11"/>
          <p:cNvSpPr/>
          <p:nvPr/>
        </p:nvSpPr>
        <p:spPr>
          <a:xfrm>
            <a:off x="530352" y="2267712"/>
            <a:ext cx="8046720" cy="274320"/>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Stories are not Independent, Negotiable, Valuable, Estimable, Small, or Testable — even superficially. Acceptance criteria are either absent or too vague to generate meaningful test cases. Stories are effectively placeholders, not engineering contracts.</a:t>
            </a:r>
            <a:endParaRPr lang="en-US" sz="880" dirty="0"/>
          </a:p>
        </p:txBody>
      </p:sp>
      <p:sp>
        <p:nvSpPr>
          <p:cNvPr id="14" name="Shape 12"/>
          <p:cNvSpPr/>
          <p:nvPr/>
        </p:nvSpPr>
        <p:spPr>
          <a:xfrm>
            <a:off x="365760" y="2688336"/>
            <a:ext cx="8412480" cy="676656"/>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5" name="Shape 13"/>
          <p:cNvSpPr/>
          <p:nvPr/>
        </p:nvSpPr>
        <p:spPr>
          <a:xfrm>
            <a:off x="365760" y="2688336"/>
            <a:ext cx="50292" cy="676656"/>
          </a:xfrm>
          <a:prstGeom prst="rect">
            <a:avLst/>
          </a:prstGeom>
          <a:solidFill>
            <a:srgbClr val="F59E0B"/>
          </a:solidFill>
          <a:ln w="12700">
            <a:solidFill>
              <a:srgbClr val="F59E0B"/>
            </a:solidFill>
            <a:prstDash val="solid"/>
          </a:ln>
        </p:spPr>
        <p:txBody>
          <a:bodyPr/>
          <a:lstStyle/>
          <a:p>
            <a:endParaRPr lang="en-GB"/>
          </a:p>
        </p:txBody>
      </p:sp>
      <p:sp>
        <p:nvSpPr>
          <p:cNvPr id="16" name="Text 14"/>
          <p:cNvSpPr/>
          <p:nvPr/>
        </p:nvSpPr>
        <p:spPr>
          <a:xfrm>
            <a:off x="530352" y="2752344"/>
            <a:ext cx="8046720" cy="256032"/>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No Single Source of Truth</a:t>
            </a:r>
            <a:endParaRPr lang="en-US" sz="1100" dirty="0"/>
          </a:p>
        </p:txBody>
      </p:sp>
      <p:sp>
        <p:nvSpPr>
          <p:cNvPr id="17" name="Text 15"/>
          <p:cNvSpPr/>
          <p:nvPr/>
        </p:nvSpPr>
        <p:spPr>
          <a:xfrm>
            <a:off x="530352" y="3035808"/>
            <a:ext cx="8046720" cy="274320"/>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Requirements exist across emails, meetings, informal conversations, and partially-updated Confluence pages. The deliverables tracker is out of date. There is no authoritative, living view of what each project must deliver and to what standard.</a:t>
            </a:r>
            <a:endParaRPr lang="en-US" sz="880" dirty="0"/>
          </a:p>
        </p:txBody>
      </p:sp>
      <p:sp>
        <p:nvSpPr>
          <p:cNvPr id="18" name="Shape 16"/>
          <p:cNvSpPr/>
          <p:nvPr/>
        </p:nvSpPr>
        <p:spPr>
          <a:xfrm>
            <a:off x="365760" y="3456432"/>
            <a:ext cx="8412480" cy="676656"/>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9" name="Shape 17"/>
          <p:cNvSpPr/>
          <p:nvPr/>
        </p:nvSpPr>
        <p:spPr>
          <a:xfrm>
            <a:off x="365760" y="3456432"/>
            <a:ext cx="50292" cy="676656"/>
          </a:xfrm>
          <a:prstGeom prst="rect">
            <a:avLst/>
          </a:prstGeom>
          <a:solidFill>
            <a:srgbClr val="E8453C"/>
          </a:solidFill>
          <a:ln w="12700">
            <a:solidFill>
              <a:srgbClr val="E8453C"/>
            </a:solidFill>
            <a:prstDash val="solid"/>
          </a:ln>
        </p:spPr>
        <p:txBody>
          <a:bodyPr/>
          <a:lstStyle/>
          <a:p>
            <a:endParaRPr lang="en-GB"/>
          </a:p>
        </p:txBody>
      </p:sp>
      <p:sp>
        <p:nvSpPr>
          <p:cNvPr id="20" name="Text 18"/>
          <p:cNvSpPr/>
          <p:nvPr/>
        </p:nvSpPr>
        <p:spPr>
          <a:xfrm>
            <a:off x="530352" y="3520440"/>
            <a:ext cx="8046720" cy="256032"/>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ADO Boards Are Not Being Used Effectively</a:t>
            </a:r>
            <a:endParaRPr lang="en-US" sz="1100" dirty="0"/>
          </a:p>
        </p:txBody>
      </p:sp>
      <p:sp>
        <p:nvSpPr>
          <p:cNvPr id="21" name="Text 19"/>
          <p:cNvSpPr/>
          <p:nvPr/>
        </p:nvSpPr>
        <p:spPr>
          <a:xfrm>
            <a:off x="530352" y="3803904"/>
            <a:ext cx="8046720" cy="274320"/>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Boards do not give any reliable picture of quality, progress, or risk. Tickets are created but not maintained. There is no consistent tagging by architecture layer (raw / clean / curate), no traceability from story to test case, and no way to answer 'what is the quality of Project A right now?'</a:t>
            </a:r>
            <a:endParaRPr lang="en-US" sz="880" dirty="0"/>
          </a:p>
        </p:txBody>
      </p:sp>
      <p:sp>
        <p:nvSpPr>
          <p:cNvPr id="22" name="Shape 20"/>
          <p:cNvSpPr/>
          <p:nvPr/>
        </p:nvSpPr>
        <p:spPr>
          <a:xfrm>
            <a:off x="365760" y="4224528"/>
            <a:ext cx="8412480" cy="676656"/>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3" name="Shape 21"/>
          <p:cNvSpPr/>
          <p:nvPr/>
        </p:nvSpPr>
        <p:spPr>
          <a:xfrm>
            <a:off x="365760" y="4224528"/>
            <a:ext cx="50292" cy="676656"/>
          </a:xfrm>
          <a:prstGeom prst="rect">
            <a:avLst/>
          </a:prstGeom>
          <a:solidFill>
            <a:srgbClr val="F59E0B"/>
          </a:solidFill>
          <a:ln w="12700">
            <a:solidFill>
              <a:srgbClr val="F59E0B"/>
            </a:solidFill>
            <a:prstDash val="solid"/>
          </a:ln>
        </p:spPr>
        <p:txBody>
          <a:bodyPr/>
          <a:lstStyle/>
          <a:p>
            <a:endParaRPr lang="en-GB"/>
          </a:p>
        </p:txBody>
      </p:sp>
      <p:sp>
        <p:nvSpPr>
          <p:cNvPr id="24" name="Text 22"/>
          <p:cNvSpPr/>
          <p:nvPr/>
        </p:nvSpPr>
        <p:spPr>
          <a:xfrm>
            <a:off x="530352" y="4288536"/>
            <a:ext cx="8046720" cy="256032"/>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No Architecture-Aware Story Annotation</a:t>
            </a:r>
            <a:endParaRPr lang="en-US" sz="1100" dirty="0"/>
          </a:p>
        </p:txBody>
      </p:sp>
      <p:sp>
        <p:nvSpPr>
          <p:cNvPr id="25" name="Text 23"/>
          <p:cNvSpPr/>
          <p:nvPr/>
        </p:nvSpPr>
        <p:spPr>
          <a:xfrm>
            <a:off x="530352" y="4572000"/>
            <a:ext cx="8046720" cy="274320"/>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The medallion architecture (raw → bronze → silver → gold) is central to this programme. Yet stories are not annotated to indicate which layer they affect. This makes test planning, regression scoping, and impact analysis extremely difficult.</a:t>
            </a:r>
            <a:endParaRPr lang="en-US" sz="8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03 · Requirements &amp; Boards — Recommendations</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Structure that enables speed, not slows it</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9 / 22</a:t>
            </a:r>
            <a:endParaRPr lang="en-US" sz="900" dirty="0"/>
          </a:p>
        </p:txBody>
      </p:sp>
      <p:sp>
        <p:nvSpPr>
          <p:cNvPr id="7" name="Shape 5"/>
          <p:cNvSpPr/>
          <p:nvPr/>
        </p:nvSpPr>
        <p:spPr>
          <a:xfrm>
            <a:off x="365760" y="932688"/>
            <a:ext cx="1417320" cy="256032"/>
          </a:xfrm>
          <a:prstGeom prst="rect">
            <a:avLst/>
          </a:prstGeom>
          <a:solidFill>
            <a:srgbClr val="16A34A"/>
          </a:solidFill>
          <a:ln w="12700">
            <a:solidFill>
              <a:srgbClr val="16A34A"/>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RECOMMENDATION</a:t>
            </a:r>
            <a:endParaRPr lang="en-US" sz="800" dirty="0"/>
          </a:p>
        </p:txBody>
      </p:sp>
      <p:sp>
        <p:nvSpPr>
          <p:cNvPr id="9" name="Shape 7"/>
          <p:cNvSpPr/>
          <p:nvPr/>
        </p:nvSpPr>
        <p:spPr>
          <a:xfrm>
            <a:off x="365760" y="1261872"/>
            <a:ext cx="4069080" cy="155448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0" name="Shape 8"/>
          <p:cNvSpPr/>
          <p:nvPr/>
        </p:nvSpPr>
        <p:spPr>
          <a:xfrm>
            <a:off x="365760" y="1261872"/>
            <a:ext cx="50292" cy="1554480"/>
          </a:xfrm>
          <a:prstGeom prst="rect">
            <a:avLst/>
          </a:prstGeom>
          <a:solidFill>
            <a:srgbClr val="16A34A"/>
          </a:solidFill>
          <a:ln w="12700">
            <a:solidFill>
              <a:srgbClr val="16A34A"/>
            </a:solidFill>
            <a:prstDash val="solid"/>
          </a:ln>
        </p:spPr>
        <p:txBody>
          <a:bodyPr/>
          <a:lstStyle/>
          <a:p>
            <a:endParaRPr lang="en-GB"/>
          </a:p>
        </p:txBody>
      </p:sp>
      <p:sp>
        <p:nvSpPr>
          <p:cNvPr id="11" name="Shape 9"/>
          <p:cNvSpPr/>
          <p:nvPr/>
        </p:nvSpPr>
        <p:spPr>
          <a:xfrm>
            <a:off x="420624" y="1261872"/>
            <a:ext cx="4014216" cy="329184"/>
          </a:xfrm>
          <a:prstGeom prst="rect">
            <a:avLst/>
          </a:prstGeom>
          <a:solidFill>
            <a:srgbClr val="16A34A">
              <a:alpha val="12000"/>
            </a:srgbClr>
          </a:solidFill>
          <a:ln w="12700">
            <a:solidFill>
              <a:srgbClr val="16A34A"/>
            </a:solidFill>
            <a:prstDash val="solid"/>
          </a:ln>
        </p:spPr>
        <p:txBody>
          <a:bodyPr/>
          <a:lstStyle/>
          <a:p>
            <a:endParaRPr lang="en-GB"/>
          </a:p>
        </p:txBody>
      </p:sp>
      <p:sp>
        <p:nvSpPr>
          <p:cNvPr id="12" name="Text 10"/>
          <p:cNvSpPr/>
          <p:nvPr/>
        </p:nvSpPr>
        <p:spPr>
          <a:xfrm>
            <a:off x="493776" y="1307592"/>
            <a:ext cx="3886200" cy="24688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Common Requirements Template</a:t>
            </a:r>
            <a:endParaRPr lang="en-US" sz="1100" dirty="0"/>
          </a:p>
        </p:txBody>
      </p:sp>
      <p:sp>
        <p:nvSpPr>
          <p:cNvPr id="13" name="Text 11"/>
          <p:cNvSpPr/>
          <p:nvPr/>
        </p:nvSpPr>
        <p:spPr>
          <a:xfrm>
            <a:off x="493776" y="1673352"/>
            <a:ext cx="3886200" cy="1051560"/>
          </a:xfrm>
          <a:prstGeom prst="rect">
            <a:avLst/>
          </a:prstGeom>
          <a:noFill/>
          <a:ln/>
        </p:spPr>
        <p:txBody>
          <a:bodyPr wrap="square" lIns="0" tIns="0" rIns="0" bIns="0" rtlCol="0" anchor="ctr"/>
          <a:lstStyle/>
          <a:p>
            <a:pPr marL="0" indent="0">
              <a:buNone/>
            </a:pPr>
            <a:r>
              <a:rPr lang="en-US" sz="950" dirty="0">
                <a:solidFill>
                  <a:srgbClr val="5A6E8C"/>
                </a:solidFill>
                <a:latin typeface="Calibri" pitchFamily="34" charset="0"/>
                <a:ea typeface="Calibri" pitchFamily="34" charset="-122"/>
                <a:cs typeface="Calibri" pitchFamily="34" charset="-120"/>
              </a:rPr>
              <a:t>Design a single intake template that covers: business context, data source, expected outputs, layer(s) affected (raw/clean/curate), volume expectations, edge cases, and acceptance criteria. Use this for every project, every story.</a:t>
            </a:r>
            <a:endParaRPr lang="en-US" sz="950" dirty="0"/>
          </a:p>
        </p:txBody>
      </p:sp>
      <p:sp>
        <p:nvSpPr>
          <p:cNvPr id="14" name="Shape 12"/>
          <p:cNvSpPr/>
          <p:nvPr/>
        </p:nvSpPr>
        <p:spPr>
          <a:xfrm>
            <a:off x="4526280" y="1261872"/>
            <a:ext cx="4069080" cy="155448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5" name="Shape 13"/>
          <p:cNvSpPr/>
          <p:nvPr/>
        </p:nvSpPr>
        <p:spPr>
          <a:xfrm>
            <a:off x="4526280" y="1261872"/>
            <a:ext cx="50292" cy="1554480"/>
          </a:xfrm>
          <a:prstGeom prst="rect">
            <a:avLst/>
          </a:prstGeom>
          <a:solidFill>
            <a:srgbClr val="0E7C7B"/>
          </a:solidFill>
          <a:ln w="12700">
            <a:solidFill>
              <a:srgbClr val="0E7C7B"/>
            </a:solidFill>
            <a:prstDash val="solid"/>
          </a:ln>
        </p:spPr>
        <p:txBody>
          <a:bodyPr/>
          <a:lstStyle/>
          <a:p>
            <a:endParaRPr lang="en-GB"/>
          </a:p>
        </p:txBody>
      </p:sp>
      <p:sp>
        <p:nvSpPr>
          <p:cNvPr id="16" name="Shape 14"/>
          <p:cNvSpPr/>
          <p:nvPr/>
        </p:nvSpPr>
        <p:spPr>
          <a:xfrm>
            <a:off x="4581144" y="1261872"/>
            <a:ext cx="4014216" cy="329184"/>
          </a:xfrm>
          <a:prstGeom prst="rect">
            <a:avLst/>
          </a:prstGeom>
          <a:solidFill>
            <a:srgbClr val="0E7C7B">
              <a:alpha val="12000"/>
            </a:srgbClr>
          </a:solidFill>
          <a:ln w="12700">
            <a:solidFill>
              <a:srgbClr val="0E7C7B"/>
            </a:solidFill>
            <a:prstDash val="solid"/>
          </a:ln>
        </p:spPr>
        <p:txBody>
          <a:bodyPr/>
          <a:lstStyle/>
          <a:p>
            <a:endParaRPr lang="en-GB"/>
          </a:p>
        </p:txBody>
      </p:sp>
      <p:sp>
        <p:nvSpPr>
          <p:cNvPr id="17" name="Text 15"/>
          <p:cNvSpPr/>
          <p:nvPr/>
        </p:nvSpPr>
        <p:spPr>
          <a:xfrm>
            <a:off x="4654296" y="1307592"/>
            <a:ext cx="3886200" cy="246888"/>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Enforce INVEST on All User Stories</a:t>
            </a:r>
            <a:endParaRPr lang="en-US" sz="1100" dirty="0"/>
          </a:p>
        </p:txBody>
      </p:sp>
      <p:sp>
        <p:nvSpPr>
          <p:cNvPr id="18" name="Text 16"/>
          <p:cNvSpPr/>
          <p:nvPr/>
        </p:nvSpPr>
        <p:spPr>
          <a:xfrm>
            <a:off x="4654296" y="1673352"/>
            <a:ext cx="3886200" cy="1051560"/>
          </a:xfrm>
          <a:prstGeom prst="rect">
            <a:avLst/>
          </a:prstGeom>
          <a:noFill/>
          <a:ln/>
        </p:spPr>
        <p:txBody>
          <a:bodyPr wrap="square" lIns="0" tIns="0" rIns="0" bIns="0" rtlCol="0" anchor="ctr"/>
          <a:lstStyle/>
          <a:p>
            <a:pPr marL="0" indent="0">
              <a:buNone/>
            </a:pPr>
            <a:r>
              <a:rPr lang="en-US" sz="950" dirty="0">
                <a:solidFill>
                  <a:srgbClr val="5A6E8C"/>
                </a:solidFill>
                <a:latin typeface="Calibri" pitchFamily="34" charset="0"/>
                <a:ea typeface="Calibri" pitchFamily="34" charset="-122"/>
                <a:cs typeface="Calibri" pitchFamily="34" charset="-120"/>
              </a:rPr>
              <a:t>Run a story refinement health check: every story must have a clear 'Given / When / Then' acceptance criterion before it is sprint-ready. QA must formally sign off story readiness before sprint commitment.</a:t>
            </a:r>
            <a:endParaRPr lang="en-US" sz="950" dirty="0"/>
          </a:p>
        </p:txBody>
      </p:sp>
      <p:sp>
        <p:nvSpPr>
          <p:cNvPr id="19" name="Shape 17"/>
          <p:cNvSpPr/>
          <p:nvPr/>
        </p:nvSpPr>
        <p:spPr>
          <a:xfrm>
            <a:off x="365760" y="2907792"/>
            <a:ext cx="4069080" cy="155448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0" name="Shape 18"/>
          <p:cNvSpPr/>
          <p:nvPr/>
        </p:nvSpPr>
        <p:spPr>
          <a:xfrm>
            <a:off x="365760" y="2907792"/>
            <a:ext cx="50292" cy="1554480"/>
          </a:xfrm>
          <a:prstGeom prst="rect">
            <a:avLst/>
          </a:prstGeom>
          <a:solidFill>
            <a:srgbClr val="0E7C7B"/>
          </a:solidFill>
          <a:ln w="12700">
            <a:solidFill>
              <a:srgbClr val="0E7C7B"/>
            </a:solidFill>
            <a:prstDash val="solid"/>
          </a:ln>
        </p:spPr>
        <p:txBody>
          <a:bodyPr/>
          <a:lstStyle/>
          <a:p>
            <a:endParaRPr lang="en-GB"/>
          </a:p>
        </p:txBody>
      </p:sp>
      <p:sp>
        <p:nvSpPr>
          <p:cNvPr id="21" name="Shape 19"/>
          <p:cNvSpPr/>
          <p:nvPr/>
        </p:nvSpPr>
        <p:spPr>
          <a:xfrm>
            <a:off x="420624" y="2907792"/>
            <a:ext cx="4014216" cy="329184"/>
          </a:xfrm>
          <a:prstGeom prst="rect">
            <a:avLst/>
          </a:prstGeom>
          <a:solidFill>
            <a:srgbClr val="0E7C7B">
              <a:alpha val="12000"/>
            </a:srgbClr>
          </a:solidFill>
          <a:ln w="12700">
            <a:solidFill>
              <a:srgbClr val="0E7C7B"/>
            </a:solidFill>
            <a:prstDash val="solid"/>
          </a:ln>
        </p:spPr>
        <p:txBody>
          <a:bodyPr/>
          <a:lstStyle/>
          <a:p>
            <a:endParaRPr lang="en-GB"/>
          </a:p>
        </p:txBody>
      </p:sp>
      <p:sp>
        <p:nvSpPr>
          <p:cNvPr id="22" name="Text 20"/>
          <p:cNvSpPr/>
          <p:nvPr/>
        </p:nvSpPr>
        <p:spPr>
          <a:xfrm>
            <a:off x="493776" y="2953512"/>
            <a:ext cx="3886200" cy="246888"/>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Layer-Tag All ADO Tickets</a:t>
            </a:r>
            <a:endParaRPr lang="en-US" sz="1100" dirty="0"/>
          </a:p>
        </p:txBody>
      </p:sp>
      <p:sp>
        <p:nvSpPr>
          <p:cNvPr id="23" name="Text 21"/>
          <p:cNvSpPr/>
          <p:nvPr/>
        </p:nvSpPr>
        <p:spPr>
          <a:xfrm>
            <a:off x="493776" y="3319272"/>
            <a:ext cx="3886200" cy="1051560"/>
          </a:xfrm>
          <a:prstGeom prst="rect">
            <a:avLst/>
          </a:prstGeom>
          <a:noFill/>
          <a:ln/>
        </p:spPr>
        <p:txBody>
          <a:bodyPr wrap="square" lIns="0" tIns="0" rIns="0" bIns="0" rtlCol="0" anchor="ctr"/>
          <a:lstStyle/>
          <a:p>
            <a:pPr marL="0" indent="0">
              <a:buNone/>
            </a:pPr>
            <a:r>
              <a:rPr lang="en-US" sz="950" dirty="0">
                <a:solidFill>
                  <a:srgbClr val="5A6E8C"/>
                </a:solidFill>
                <a:latin typeface="Calibri" pitchFamily="34" charset="0"/>
                <a:ea typeface="Calibri" pitchFamily="34" charset="-122"/>
                <a:cs typeface="Calibri" pitchFamily="34" charset="-120"/>
              </a:rPr>
              <a:t>Introduce mandatory tagging: [RAW], [CLEAN], [CURATE] on every ticket. This enables filtered views, layer-specific regression planning, and meaningful sprint goal setting.</a:t>
            </a:r>
            <a:endParaRPr lang="en-US" sz="950" dirty="0"/>
          </a:p>
        </p:txBody>
      </p:sp>
      <p:sp>
        <p:nvSpPr>
          <p:cNvPr id="24" name="Shape 22"/>
          <p:cNvSpPr/>
          <p:nvPr/>
        </p:nvSpPr>
        <p:spPr>
          <a:xfrm>
            <a:off x="4526280" y="2907792"/>
            <a:ext cx="4069080" cy="155448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5" name="Shape 23"/>
          <p:cNvSpPr/>
          <p:nvPr/>
        </p:nvSpPr>
        <p:spPr>
          <a:xfrm>
            <a:off x="4526280" y="2907792"/>
            <a:ext cx="50292" cy="1554480"/>
          </a:xfrm>
          <a:prstGeom prst="rect">
            <a:avLst/>
          </a:prstGeom>
          <a:solidFill>
            <a:srgbClr val="16A34A"/>
          </a:solidFill>
          <a:ln w="12700">
            <a:solidFill>
              <a:srgbClr val="16A34A"/>
            </a:solidFill>
            <a:prstDash val="solid"/>
          </a:ln>
        </p:spPr>
        <p:txBody>
          <a:bodyPr/>
          <a:lstStyle/>
          <a:p>
            <a:endParaRPr lang="en-GB"/>
          </a:p>
        </p:txBody>
      </p:sp>
      <p:sp>
        <p:nvSpPr>
          <p:cNvPr id="26" name="Shape 24"/>
          <p:cNvSpPr/>
          <p:nvPr/>
        </p:nvSpPr>
        <p:spPr>
          <a:xfrm>
            <a:off x="4581144" y="2907792"/>
            <a:ext cx="4014216" cy="329184"/>
          </a:xfrm>
          <a:prstGeom prst="rect">
            <a:avLst/>
          </a:prstGeom>
          <a:solidFill>
            <a:srgbClr val="16A34A">
              <a:alpha val="12000"/>
            </a:srgbClr>
          </a:solidFill>
          <a:ln w="12700">
            <a:solidFill>
              <a:srgbClr val="16A34A"/>
            </a:solidFill>
            <a:prstDash val="solid"/>
          </a:ln>
        </p:spPr>
        <p:txBody>
          <a:bodyPr/>
          <a:lstStyle/>
          <a:p>
            <a:endParaRPr lang="en-GB"/>
          </a:p>
        </p:txBody>
      </p:sp>
      <p:sp>
        <p:nvSpPr>
          <p:cNvPr id="27" name="Text 25"/>
          <p:cNvSpPr/>
          <p:nvPr/>
        </p:nvSpPr>
        <p:spPr>
          <a:xfrm>
            <a:off x="4654296" y="2953512"/>
            <a:ext cx="3886200" cy="24688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Centralise Project Documentation in Confluence</a:t>
            </a:r>
            <a:endParaRPr lang="en-US" sz="1100" dirty="0"/>
          </a:p>
        </p:txBody>
      </p:sp>
      <p:sp>
        <p:nvSpPr>
          <p:cNvPr id="28" name="Text 26"/>
          <p:cNvSpPr/>
          <p:nvPr/>
        </p:nvSpPr>
        <p:spPr>
          <a:xfrm>
            <a:off x="4654296" y="3319272"/>
            <a:ext cx="3886200" cy="1051560"/>
          </a:xfrm>
          <a:prstGeom prst="rect">
            <a:avLst/>
          </a:prstGeom>
          <a:noFill/>
          <a:ln/>
        </p:spPr>
        <p:txBody>
          <a:bodyPr wrap="square" lIns="0" tIns="0" rIns="0" bIns="0" rtlCol="0" anchor="ctr"/>
          <a:lstStyle/>
          <a:p>
            <a:pPr marL="0" indent="0">
              <a:buNone/>
            </a:pPr>
            <a:r>
              <a:rPr lang="en-US" sz="950" dirty="0">
                <a:solidFill>
                  <a:srgbClr val="5A6E8C"/>
                </a:solidFill>
                <a:latin typeface="Calibri" pitchFamily="34" charset="0"/>
                <a:ea typeface="Calibri" pitchFamily="34" charset="-122"/>
                <a:cs typeface="Calibri" pitchFamily="34" charset="-120"/>
              </a:rPr>
              <a:t>One Confluence page per project: requirements, architecture decisions, test strategy, open questions, and known gaps. Linked from every ADO ticket. Reviewed fortnightly and dated when last updated.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04 · Dev–Test Collaboration &amp; 3-Amigos</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The space where quality should be born — but currently isn't</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10 / 22</a:t>
            </a:r>
            <a:endParaRPr lang="en-US" sz="900" dirty="0"/>
          </a:p>
        </p:txBody>
      </p:sp>
      <p:sp>
        <p:nvSpPr>
          <p:cNvPr id="7" name="Shape 5"/>
          <p:cNvSpPr/>
          <p:nvPr/>
        </p:nvSpPr>
        <p:spPr>
          <a:xfrm>
            <a:off x="365760" y="932688"/>
            <a:ext cx="1417320" cy="256032"/>
          </a:xfrm>
          <a:prstGeom prst="rect">
            <a:avLst/>
          </a:prstGeom>
          <a:solidFill>
            <a:srgbClr val="F59E0B"/>
          </a:solidFill>
          <a:ln w="12700">
            <a:solidFill>
              <a:srgbClr val="F59E0B"/>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 PRIORITY GAP</a:t>
            </a:r>
            <a:endParaRPr lang="en-US" sz="800" dirty="0"/>
          </a:p>
        </p:txBody>
      </p:sp>
      <p:sp>
        <p:nvSpPr>
          <p:cNvPr id="9" name="Text 7"/>
          <p:cNvSpPr/>
          <p:nvPr/>
        </p:nvSpPr>
        <p:spPr>
          <a:xfrm>
            <a:off x="365760" y="1234440"/>
            <a:ext cx="8412480" cy="566928"/>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Development and testing are operating in separate tracks. Testers are learning about implementation after the fact, chasing design details, and writing test cases against unclear specifications. The 3-Amigos practice — bringing business, dev, and QA together before a story begins — is entirely absent.</a:t>
            </a:r>
            <a:endParaRPr lang="en-US" sz="1050" dirty="0"/>
          </a:p>
        </p:txBody>
      </p:sp>
      <p:sp>
        <p:nvSpPr>
          <p:cNvPr id="10" name="Shape 8"/>
          <p:cNvSpPr/>
          <p:nvPr/>
        </p:nvSpPr>
        <p:spPr>
          <a:xfrm>
            <a:off x="365760" y="1901952"/>
            <a:ext cx="8412480" cy="475488"/>
          </a:xfrm>
          <a:prstGeom prst="rect">
            <a:avLst/>
          </a:prstGeom>
          <a:solidFill>
            <a:srgbClr val="0D1F35"/>
          </a:solidFill>
          <a:ln w="12700">
            <a:solidFill>
              <a:srgbClr val="0D1F35"/>
            </a:solidFill>
            <a:prstDash val="solid"/>
          </a:ln>
          <a:effectLst>
            <a:outerShdw blurRad="127000" dist="38100" dir="8100000" algn="bl" rotWithShape="0">
              <a:srgbClr val="000000">
                <a:alpha val="10000"/>
              </a:srgbClr>
            </a:outerShdw>
          </a:effectLst>
        </p:spPr>
        <p:txBody>
          <a:bodyPr/>
          <a:lstStyle/>
          <a:p>
            <a:endParaRPr lang="en-GB"/>
          </a:p>
        </p:txBody>
      </p:sp>
      <p:sp>
        <p:nvSpPr>
          <p:cNvPr id="11" name="Text 9"/>
          <p:cNvSpPr/>
          <p:nvPr/>
        </p:nvSpPr>
        <p:spPr>
          <a:xfrm>
            <a:off x="530352" y="1938528"/>
            <a:ext cx="8138160" cy="402336"/>
          </a:xfrm>
          <a:prstGeom prst="rect">
            <a:avLst/>
          </a:prstGeom>
          <a:noFill/>
          <a:ln/>
        </p:spPr>
        <p:txBody>
          <a:bodyPr wrap="square" lIns="0" tIns="0" rIns="0" bIns="0" rtlCol="0" anchor="ctr"/>
          <a:lstStyle/>
          <a:p>
            <a:pPr marL="0" indent="0">
              <a:buNone/>
            </a:pPr>
            <a:r>
              <a:rPr lang="en-US" sz="950" i="1" dirty="0">
                <a:solidFill>
                  <a:srgbClr val="C4D4E5"/>
                </a:solidFill>
                <a:latin typeface="Calibri" pitchFamily="34" charset="0"/>
                <a:ea typeface="Calibri" pitchFamily="34" charset="-122"/>
                <a:cs typeface="Calibri" pitchFamily="34" charset="-120"/>
              </a:rPr>
              <a:t>The 3-Amigos Principle: Before a story enters a sprint, three perspectives must align — Business (what?), Developer (how?), Tester (how do we know it's right?). Skipping this is not saving time. It is spending that time later, at higher cost, under more pressure.</a:t>
            </a:r>
            <a:endParaRPr lang="en-US" sz="950" dirty="0"/>
          </a:p>
        </p:txBody>
      </p:sp>
      <p:sp>
        <p:nvSpPr>
          <p:cNvPr id="12" name="Shape 10"/>
          <p:cNvSpPr/>
          <p:nvPr/>
        </p:nvSpPr>
        <p:spPr>
          <a:xfrm>
            <a:off x="365760" y="2487168"/>
            <a:ext cx="8412480" cy="74980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3" name="Shape 11"/>
          <p:cNvSpPr/>
          <p:nvPr/>
        </p:nvSpPr>
        <p:spPr>
          <a:xfrm>
            <a:off x="365760" y="2487168"/>
            <a:ext cx="50292" cy="749808"/>
          </a:xfrm>
          <a:prstGeom prst="rect">
            <a:avLst/>
          </a:prstGeom>
          <a:solidFill>
            <a:srgbClr val="F59E0B"/>
          </a:solidFill>
          <a:ln w="12700">
            <a:solidFill>
              <a:srgbClr val="F59E0B"/>
            </a:solidFill>
            <a:prstDash val="solid"/>
          </a:ln>
        </p:spPr>
        <p:txBody>
          <a:bodyPr/>
          <a:lstStyle/>
          <a:p>
            <a:endParaRPr lang="en-GB"/>
          </a:p>
        </p:txBody>
      </p:sp>
      <p:sp>
        <p:nvSpPr>
          <p:cNvPr id="14" name="Text 12"/>
          <p:cNvSpPr/>
          <p:nvPr/>
        </p:nvSpPr>
        <p:spPr>
          <a:xfrm>
            <a:off x="530352" y="2551176"/>
            <a:ext cx="8046720" cy="256032"/>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Testers Are Chasing Implementation Detail</a:t>
            </a:r>
            <a:endParaRPr lang="en-US" sz="1100" dirty="0"/>
          </a:p>
        </p:txBody>
      </p:sp>
      <p:sp>
        <p:nvSpPr>
          <p:cNvPr id="15" name="Text 13"/>
          <p:cNvSpPr/>
          <p:nvPr/>
        </p:nvSpPr>
        <p:spPr>
          <a:xfrm>
            <a:off x="530352" y="2825496"/>
            <a:ext cx="8046720" cy="347472"/>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In the current workflow, testers learn how a pipeline has been implemented either informally (hallway conversations) or not at all. This means test cases cannot be designed with confidence. There must be a formal, lightweight design handover from Dev to QA before testing begins — documented, not verbal.</a:t>
            </a:r>
            <a:endParaRPr lang="en-US" sz="880" dirty="0"/>
          </a:p>
        </p:txBody>
      </p:sp>
      <p:sp>
        <p:nvSpPr>
          <p:cNvPr id="16" name="Shape 14"/>
          <p:cNvSpPr/>
          <p:nvPr/>
        </p:nvSpPr>
        <p:spPr>
          <a:xfrm>
            <a:off x="365760" y="3328416"/>
            <a:ext cx="8412480" cy="74980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7" name="Shape 15"/>
          <p:cNvSpPr/>
          <p:nvPr/>
        </p:nvSpPr>
        <p:spPr>
          <a:xfrm>
            <a:off x="365760" y="3328416"/>
            <a:ext cx="50292" cy="749808"/>
          </a:xfrm>
          <a:prstGeom prst="rect">
            <a:avLst/>
          </a:prstGeom>
          <a:solidFill>
            <a:srgbClr val="F59E0B"/>
          </a:solidFill>
          <a:ln w="12700">
            <a:solidFill>
              <a:srgbClr val="F59E0B"/>
            </a:solidFill>
            <a:prstDash val="solid"/>
          </a:ln>
        </p:spPr>
        <p:txBody>
          <a:bodyPr/>
          <a:lstStyle/>
          <a:p>
            <a:endParaRPr lang="en-GB"/>
          </a:p>
        </p:txBody>
      </p:sp>
      <p:sp>
        <p:nvSpPr>
          <p:cNvPr id="18" name="Text 16"/>
          <p:cNvSpPr/>
          <p:nvPr/>
        </p:nvSpPr>
        <p:spPr>
          <a:xfrm>
            <a:off x="530352" y="3392424"/>
            <a:ext cx="8046720" cy="256032"/>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No Agreed Implementation Standard Across Projects</a:t>
            </a:r>
            <a:endParaRPr lang="en-US" sz="1100" dirty="0"/>
          </a:p>
        </p:txBody>
      </p:sp>
      <p:sp>
        <p:nvSpPr>
          <p:cNvPr id="19" name="Text 17"/>
          <p:cNvSpPr/>
          <p:nvPr/>
        </p:nvSpPr>
        <p:spPr>
          <a:xfrm>
            <a:off x="530352" y="3666744"/>
            <a:ext cx="8046720" cy="347472"/>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Pipelines are built in different ways across projects: sometimes with notebooks attached, sometimes without. There is no common development pattern. This inconsistency forces QAs to decipher each project individually — consuming time that should go into quality engineering.</a:t>
            </a:r>
            <a:endParaRPr lang="en-US" sz="880" dirty="0"/>
          </a:p>
        </p:txBody>
      </p:sp>
      <p:sp>
        <p:nvSpPr>
          <p:cNvPr id="20" name="Shape 18"/>
          <p:cNvSpPr/>
          <p:nvPr/>
        </p:nvSpPr>
        <p:spPr>
          <a:xfrm>
            <a:off x="365760" y="4169664"/>
            <a:ext cx="8412480" cy="74980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1" name="Shape 19"/>
          <p:cNvSpPr/>
          <p:nvPr/>
        </p:nvSpPr>
        <p:spPr>
          <a:xfrm>
            <a:off x="365760" y="4169664"/>
            <a:ext cx="50292" cy="749808"/>
          </a:xfrm>
          <a:prstGeom prst="rect">
            <a:avLst/>
          </a:prstGeom>
          <a:solidFill>
            <a:srgbClr val="E8453C"/>
          </a:solidFill>
          <a:ln w="12700">
            <a:solidFill>
              <a:srgbClr val="E8453C"/>
            </a:solidFill>
            <a:prstDash val="solid"/>
          </a:ln>
        </p:spPr>
        <p:txBody>
          <a:bodyPr/>
          <a:lstStyle/>
          <a:p>
            <a:endParaRPr lang="en-GB"/>
          </a:p>
        </p:txBody>
      </p:sp>
      <p:sp>
        <p:nvSpPr>
          <p:cNvPr id="22" name="Text 20"/>
          <p:cNvSpPr/>
          <p:nvPr/>
        </p:nvSpPr>
        <p:spPr>
          <a:xfrm>
            <a:off x="530352" y="4233672"/>
            <a:ext cx="8046720" cy="256032"/>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Test Case Authoring Without Design Context Is High-Risk</a:t>
            </a:r>
            <a:endParaRPr lang="en-US" sz="1100" dirty="0"/>
          </a:p>
        </p:txBody>
      </p:sp>
      <p:sp>
        <p:nvSpPr>
          <p:cNvPr id="23" name="Text 21"/>
          <p:cNvSpPr/>
          <p:nvPr/>
        </p:nvSpPr>
        <p:spPr>
          <a:xfrm>
            <a:off x="530352" y="4507992"/>
            <a:ext cx="8046720" cy="347472"/>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Writing test cases against a system treated as a black box — without knowing the implementation intent, transformation logic, or data contract — produces shallow tests that give false confidence. We need agreed test design gates before pipeline delivery, not after.</a:t>
            </a:r>
            <a:endParaRPr lang="en-US" sz="8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04 · Dev–Test Collaboration — Recommendations</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Simple practices that eliminate an entire class of defects</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11 / 22</a:t>
            </a:r>
            <a:endParaRPr lang="en-US" sz="900" dirty="0"/>
          </a:p>
        </p:txBody>
      </p:sp>
      <p:sp>
        <p:nvSpPr>
          <p:cNvPr id="7" name="Shape 5"/>
          <p:cNvSpPr/>
          <p:nvPr/>
        </p:nvSpPr>
        <p:spPr>
          <a:xfrm>
            <a:off x="365760" y="932688"/>
            <a:ext cx="1417320" cy="256032"/>
          </a:xfrm>
          <a:prstGeom prst="rect">
            <a:avLst/>
          </a:prstGeom>
          <a:solidFill>
            <a:srgbClr val="16A34A"/>
          </a:solidFill>
          <a:ln w="12700">
            <a:solidFill>
              <a:srgbClr val="16A34A"/>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RECOMMENDATION</a:t>
            </a:r>
            <a:endParaRPr lang="en-US" sz="800" dirty="0"/>
          </a:p>
        </p:txBody>
      </p:sp>
      <p:sp>
        <p:nvSpPr>
          <p:cNvPr id="9" name="Text 7"/>
          <p:cNvSpPr/>
          <p:nvPr/>
        </p:nvSpPr>
        <p:spPr>
          <a:xfrm>
            <a:off x="365760" y="1234440"/>
            <a:ext cx="8412480" cy="320040"/>
          </a:xfrm>
          <a:prstGeom prst="rect">
            <a:avLst/>
          </a:prstGeom>
          <a:noFill/>
          <a:ln/>
        </p:spPr>
        <p:txBody>
          <a:bodyPr wrap="square" lIns="0" tIns="0" rIns="0" bIns="0" rtlCol="0" anchor="ctr"/>
          <a:lstStyle/>
          <a:p>
            <a:pPr marL="0" indent="0">
              <a:buNone/>
            </a:pPr>
            <a:r>
              <a:rPr lang="en-US" sz="1400" b="1" dirty="0">
                <a:solidFill>
                  <a:srgbClr val="1C2B3A"/>
                </a:solidFill>
                <a:latin typeface="Calibri" pitchFamily="34" charset="0"/>
                <a:ea typeface="Calibri" pitchFamily="34" charset="-122"/>
                <a:cs typeface="Calibri" pitchFamily="34" charset="-120"/>
              </a:rPr>
              <a:t>Introduce 3-Amigos Sessions at Sprint Inception</a:t>
            </a:r>
            <a:endParaRPr lang="en-US" sz="1400" dirty="0"/>
          </a:p>
        </p:txBody>
      </p:sp>
      <p:sp>
        <p:nvSpPr>
          <p:cNvPr id="10" name="Shape 8"/>
          <p:cNvSpPr/>
          <p:nvPr/>
        </p:nvSpPr>
        <p:spPr>
          <a:xfrm>
            <a:off x="365760" y="1627632"/>
            <a:ext cx="2697480" cy="1371600"/>
          </a:xfrm>
          <a:prstGeom prst="rect">
            <a:avLst/>
          </a:prstGeom>
          <a:solidFill>
            <a:srgbClr val="0D1F35"/>
          </a:solidFill>
          <a:ln w="12700">
            <a:solidFill>
              <a:srgbClr val="0D1F35"/>
            </a:solidFill>
            <a:prstDash val="solid"/>
          </a:ln>
          <a:effectLst>
            <a:outerShdw blurRad="127000" dist="38100" dir="8100000" algn="bl" rotWithShape="0">
              <a:srgbClr val="000000">
                <a:alpha val="10000"/>
              </a:srgbClr>
            </a:outerShdw>
          </a:effectLst>
        </p:spPr>
        <p:txBody>
          <a:bodyPr/>
          <a:lstStyle/>
          <a:p>
            <a:endParaRPr lang="en-GB"/>
          </a:p>
        </p:txBody>
      </p:sp>
      <p:sp>
        <p:nvSpPr>
          <p:cNvPr id="11" name="Shape 9"/>
          <p:cNvSpPr/>
          <p:nvPr/>
        </p:nvSpPr>
        <p:spPr>
          <a:xfrm>
            <a:off x="365760" y="1627632"/>
            <a:ext cx="2697480" cy="73152"/>
          </a:xfrm>
          <a:prstGeom prst="rect">
            <a:avLst/>
          </a:prstGeom>
          <a:solidFill>
            <a:srgbClr val="F59E0B"/>
          </a:solidFill>
          <a:ln w="12700">
            <a:solidFill>
              <a:srgbClr val="F59E0B"/>
            </a:solidFill>
            <a:prstDash val="solid"/>
          </a:ln>
        </p:spPr>
        <p:txBody>
          <a:bodyPr/>
          <a:lstStyle/>
          <a:p>
            <a:endParaRPr lang="en-GB"/>
          </a:p>
        </p:txBody>
      </p:sp>
      <p:sp>
        <p:nvSpPr>
          <p:cNvPr id="12" name="Text 10"/>
          <p:cNvSpPr/>
          <p:nvPr/>
        </p:nvSpPr>
        <p:spPr>
          <a:xfrm>
            <a:off x="457200" y="1737360"/>
            <a:ext cx="251460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Business / Analyst</a:t>
            </a:r>
            <a:endParaRPr lang="en-US" sz="1100" dirty="0"/>
          </a:p>
        </p:txBody>
      </p:sp>
      <p:sp>
        <p:nvSpPr>
          <p:cNvPr id="13" name="Text 11"/>
          <p:cNvSpPr/>
          <p:nvPr/>
        </p:nvSpPr>
        <p:spPr>
          <a:xfrm>
            <a:off x="457200" y="2103120"/>
            <a:ext cx="2514600" cy="822960"/>
          </a:xfrm>
          <a:prstGeom prst="rect">
            <a:avLst/>
          </a:prstGeom>
          <a:noFill/>
          <a:ln/>
        </p:spPr>
        <p:txBody>
          <a:bodyPr wrap="square" lIns="0" tIns="0" rIns="0" bIns="0" rtlCol="0" anchor="ctr"/>
          <a:lstStyle/>
          <a:p>
            <a:pPr marL="0" indent="0">
              <a:buNone/>
            </a:pPr>
            <a:r>
              <a:rPr lang="en-US" sz="900" dirty="0">
                <a:solidFill>
                  <a:srgbClr val="C4D4E5"/>
                </a:solidFill>
                <a:latin typeface="Calibri" pitchFamily="34" charset="0"/>
                <a:ea typeface="Calibri" pitchFamily="34" charset="-122"/>
                <a:cs typeface="Calibri" pitchFamily="34" charset="-120"/>
              </a:rPr>
              <a:t>Confirms business intent, edge cases, and acceptance criteria. Signs off the story definition.</a:t>
            </a:r>
            <a:endParaRPr lang="en-US" sz="900" dirty="0"/>
          </a:p>
        </p:txBody>
      </p:sp>
      <p:sp>
        <p:nvSpPr>
          <p:cNvPr id="14" name="Shape 12"/>
          <p:cNvSpPr/>
          <p:nvPr/>
        </p:nvSpPr>
        <p:spPr>
          <a:xfrm>
            <a:off x="3200400" y="1627632"/>
            <a:ext cx="2697480" cy="1371600"/>
          </a:xfrm>
          <a:prstGeom prst="rect">
            <a:avLst/>
          </a:prstGeom>
          <a:solidFill>
            <a:srgbClr val="0D1F35"/>
          </a:solidFill>
          <a:ln w="12700">
            <a:solidFill>
              <a:srgbClr val="0D1F35"/>
            </a:solidFill>
            <a:prstDash val="solid"/>
          </a:ln>
          <a:effectLst>
            <a:outerShdw blurRad="127000" dist="38100" dir="8100000" algn="bl" rotWithShape="0">
              <a:srgbClr val="000000">
                <a:alpha val="10000"/>
              </a:srgbClr>
            </a:outerShdw>
          </a:effectLst>
        </p:spPr>
        <p:txBody>
          <a:bodyPr/>
          <a:lstStyle/>
          <a:p>
            <a:endParaRPr lang="en-GB"/>
          </a:p>
        </p:txBody>
      </p:sp>
      <p:sp>
        <p:nvSpPr>
          <p:cNvPr id="15" name="Shape 13"/>
          <p:cNvSpPr/>
          <p:nvPr/>
        </p:nvSpPr>
        <p:spPr>
          <a:xfrm>
            <a:off x="3200400" y="1627632"/>
            <a:ext cx="2697480" cy="73152"/>
          </a:xfrm>
          <a:prstGeom prst="rect">
            <a:avLst/>
          </a:prstGeom>
          <a:solidFill>
            <a:srgbClr val="0E7C7B"/>
          </a:solidFill>
          <a:ln w="12700">
            <a:solidFill>
              <a:srgbClr val="0E7C7B"/>
            </a:solidFill>
            <a:prstDash val="solid"/>
          </a:ln>
        </p:spPr>
        <p:txBody>
          <a:bodyPr/>
          <a:lstStyle/>
          <a:p>
            <a:endParaRPr lang="en-GB"/>
          </a:p>
        </p:txBody>
      </p:sp>
      <p:sp>
        <p:nvSpPr>
          <p:cNvPr id="16" name="Text 14"/>
          <p:cNvSpPr/>
          <p:nvPr/>
        </p:nvSpPr>
        <p:spPr>
          <a:xfrm>
            <a:off x="3291840" y="1737360"/>
            <a:ext cx="251460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Developer</a:t>
            </a:r>
            <a:endParaRPr lang="en-US" sz="1100" dirty="0"/>
          </a:p>
        </p:txBody>
      </p:sp>
      <p:sp>
        <p:nvSpPr>
          <p:cNvPr id="17" name="Text 15"/>
          <p:cNvSpPr/>
          <p:nvPr/>
        </p:nvSpPr>
        <p:spPr>
          <a:xfrm>
            <a:off x="3291840" y="2103120"/>
            <a:ext cx="2514600" cy="822960"/>
          </a:xfrm>
          <a:prstGeom prst="rect">
            <a:avLst/>
          </a:prstGeom>
          <a:noFill/>
          <a:ln/>
        </p:spPr>
        <p:txBody>
          <a:bodyPr wrap="square" lIns="0" tIns="0" rIns="0" bIns="0" rtlCol="0" anchor="ctr"/>
          <a:lstStyle/>
          <a:p>
            <a:pPr marL="0" indent="0">
              <a:buNone/>
            </a:pPr>
            <a:r>
              <a:rPr lang="en-US" sz="900" dirty="0">
                <a:solidFill>
                  <a:srgbClr val="C4D4E5"/>
                </a:solidFill>
                <a:latin typeface="Calibri" pitchFamily="34" charset="0"/>
                <a:ea typeface="Calibri" pitchFamily="34" charset="-122"/>
                <a:cs typeface="Calibri" pitchFamily="34" charset="-120"/>
              </a:rPr>
              <a:t>Explains the implementation approach, transformation logic, and any constraints or assumptions.</a:t>
            </a:r>
            <a:endParaRPr lang="en-US" sz="900" dirty="0"/>
          </a:p>
        </p:txBody>
      </p:sp>
      <p:sp>
        <p:nvSpPr>
          <p:cNvPr id="18" name="Shape 16"/>
          <p:cNvSpPr/>
          <p:nvPr/>
        </p:nvSpPr>
        <p:spPr>
          <a:xfrm>
            <a:off x="6035040" y="1627632"/>
            <a:ext cx="2697480" cy="1371600"/>
          </a:xfrm>
          <a:prstGeom prst="rect">
            <a:avLst/>
          </a:prstGeom>
          <a:solidFill>
            <a:srgbClr val="0D1F35"/>
          </a:solidFill>
          <a:ln w="12700">
            <a:solidFill>
              <a:srgbClr val="0D1F35"/>
            </a:solidFill>
            <a:prstDash val="solid"/>
          </a:ln>
          <a:effectLst>
            <a:outerShdw blurRad="127000" dist="38100" dir="8100000" algn="bl" rotWithShape="0">
              <a:srgbClr val="000000">
                <a:alpha val="10000"/>
              </a:srgbClr>
            </a:outerShdw>
          </a:effectLst>
        </p:spPr>
        <p:txBody>
          <a:bodyPr/>
          <a:lstStyle/>
          <a:p>
            <a:endParaRPr lang="en-GB"/>
          </a:p>
        </p:txBody>
      </p:sp>
      <p:sp>
        <p:nvSpPr>
          <p:cNvPr id="19" name="Shape 17"/>
          <p:cNvSpPr/>
          <p:nvPr/>
        </p:nvSpPr>
        <p:spPr>
          <a:xfrm>
            <a:off x="6035040" y="1627632"/>
            <a:ext cx="2697480" cy="73152"/>
          </a:xfrm>
          <a:prstGeom prst="rect">
            <a:avLst/>
          </a:prstGeom>
          <a:solidFill>
            <a:srgbClr val="16A34A"/>
          </a:solidFill>
          <a:ln w="12700">
            <a:solidFill>
              <a:srgbClr val="16A34A"/>
            </a:solidFill>
            <a:prstDash val="solid"/>
          </a:ln>
        </p:spPr>
        <p:txBody>
          <a:bodyPr/>
          <a:lstStyle/>
          <a:p>
            <a:endParaRPr lang="en-GB"/>
          </a:p>
        </p:txBody>
      </p:sp>
      <p:sp>
        <p:nvSpPr>
          <p:cNvPr id="20" name="Text 18"/>
          <p:cNvSpPr/>
          <p:nvPr/>
        </p:nvSpPr>
        <p:spPr>
          <a:xfrm>
            <a:off x="6126480" y="1737360"/>
            <a:ext cx="251460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QA / Tester</a:t>
            </a:r>
            <a:endParaRPr lang="en-US" sz="1100" dirty="0"/>
          </a:p>
        </p:txBody>
      </p:sp>
      <p:sp>
        <p:nvSpPr>
          <p:cNvPr id="21" name="Text 19"/>
          <p:cNvSpPr/>
          <p:nvPr/>
        </p:nvSpPr>
        <p:spPr>
          <a:xfrm>
            <a:off x="6126480" y="2103120"/>
            <a:ext cx="2514600" cy="822960"/>
          </a:xfrm>
          <a:prstGeom prst="rect">
            <a:avLst/>
          </a:prstGeom>
          <a:noFill/>
          <a:ln/>
        </p:spPr>
        <p:txBody>
          <a:bodyPr wrap="square" lIns="0" tIns="0" rIns="0" bIns="0" rtlCol="0" anchor="ctr"/>
          <a:lstStyle/>
          <a:p>
            <a:pPr marL="0" indent="0">
              <a:buNone/>
            </a:pPr>
            <a:r>
              <a:rPr lang="en-US" sz="900" dirty="0">
                <a:solidFill>
                  <a:srgbClr val="C4D4E5"/>
                </a:solidFill>
                <a:latin typeface="Calibri" pitchFamily="34" charset="0"/>
                <a:ea typeface="Calibri" pitchFamily="34" charset="-122"/>
                <a:cs typeface="Calibri" pitchFamily="34" charset="-120"/>
              </a:rPr>
              <a:t>Identifies testability gaps, data requirements, and raises risks before a line of code is written.</a:t>
            </a:r>
            <a:endParaRPr lang="en-US" sz="900" dirty="0"/>
          </a:p>
        </p:txBody>
      </p:sp>
      <p:sp>
        <p:nvSpPr>
          <p:cNvPr id="22" name="Shape 20"/>
          <p:cNvSpPr/>
          <p:nvPr/>
        </p:nvSpPr>
        <p:spPr>
          <a:xfrm>
            <a:off x="365760" y="3090672"/>
            <a:ext cx="8412480" cy="56692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3" name="Shape 21"/>
          <p:cNvSpPr/>
          <p:nvPr/>
        </p:nvSpPr>
        <p:spPr>
          <a:xfrm>
            <a:off x="365760" y="3090672"/>
            <a:ext cx="50292" cy="566928"/>
          </a:xfrm>
          <a:prstGeom prst="rect">
            <a:avLst/>
          </a:prstGeom>
          <a:solidFill>
            <a:srgbClr val="16A34A"/>
          </a:solidFill>
          <a:ln w="12700">
            <a:solidFill>
              <a:srgbClr val="16A34A"/>
            </a:solidFill>
            <a:prstDash val="solid"/>
          </a:ln>
        </p:spPr>
        <p:txBody>
          <a:bodyPr/>
          <a:lstStyle/>
          <a:p>
            <a:endParaRPr lang="en-GB"/>
          </a:p>
        </p:txBody>
      </p:sp>
      <p:sp>
        <p:nvSpPr>
          <p:cNvPr id="24" name="Text 22"/>
          <p:cNvSpPr/>
          <p:nvPr/>
        </p:nvSpPr>
        <p:spPr>
          <a:xfrm>
            <a:off x="530352" y="3154680"/>
            <a:ext cx="8046720" cy="228600"/>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Formalise a Design Handover Checkpoint</a:t>
            </a:r>
            <a:endParaRPr lang="en-US" sz="1100" dirty="0"/>
          </a:p>
        </p:txBody>
      </p:sp>
      <p:sp>
        <p:nvSpPr>
          <p:cNvPr id="25" name="Text 23"/>
          <p:cNvSpPr/>
          <p:nvPr/>
        </p:nvSpPr>
        <p:spPr>
          <a:xfrm>
            <a:off x="530352" y="3401568"/>
            <a:ext cx="8046720" cy="219456"/>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Before any QA testing begins, the developer must provide a brief written handover: what the pipeline does, what transformations are applied, what the expected output looks like, and what known edge cases exist. This does not need to be long — it needs to be consistent.</a:t>
            </a:r>
            <a:endParaRPr lang="en-US" sz="880" dirty="0"/>
          </a:p>
        </p:txBody>
      </p:sp>
      <p:sp>
        <p:nvSpPr>
          <p:cNvPr id="26" name="Shape 24"/>
          <p:cNvSpPr/>
          <p:nvPr/>
        </p:nvSpPr>
        <p:spPr>
          <a:xfrm>
            <a:off x="365760" y="3749040"/>
            <a:ext cx="8412480" cy="56692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7" name="Shape 25"/>
          <p:cNvSpPr/>
          <p:nvPr/>
        </p:nvSpPr>
        <p:spPr>
          <a:xfrm>
            <a:off x="365760" y="3749040"/>
            <a:ext cx="50292" cy="566928"/>
          </a:xfrm>
          <a:prstGeom prst="rect">
            <a:avLst/>
          </a:prstGeom>
          <a:solidFill>
            <a:srgbClr val="16A34A"/>
          </a:solidFill>
          <a:ln w="12700">
            <a:solidFill>
              <a:srgbClr val="16A34A"/>
            </a:solidFill>
            <a:prstDash val="solid"/>
          </a:ln>
        </p:spPr>
        <p:txBody>
          <a:bodyPr/>
          <a:lstStyle/>
          <a:p>
            <a:endParaRPr lang="en-GB"/>
          </a:p>
        </p:txBody>
      </p:sp>
      <p:sp>
        <p:nvSpPr>
          <p:cNvPr id="28" name="Text 26"/>
          <p:cNvSpPr/>
          <p:nvPr/>
        </p:nvSpPr>
        <p:spPr>
          <a:xfrm>
            <a:off x="530352" y="3813048"/>
            <a:ext cx="8046720" cy="228600"/>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Agree a Common Pipeline Implementation Pattern</a:t>
            </a:r>
            <a:endParaRPr lang="en-US" sz="1100" dirty="0"/>
          </a:p>
        </p:txBody>
      </p:sp>
      <p:sp>
        <p:nvSpPr>
          <p:cNvPr id="29" name="Text 27"/>
          <p:cNvSpPr/>
          <p:nvPr/>
        </p:nvSpPr>
        <p:spPr>
          <a:xfrm>
            <a:off x="530352" y="4059936"/>
            <a:ext cx="8046720" cy="219456"/>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Establish a shared playbook: pipeline always accompanied by notebook? Notebooks testable in isolation? Transformation logic always documented in-code? Agree once, apply consistently. QAs can then build reusable test patterns rather than starting from scratch each time.</a:t>
            </a:r>
            <a:endParaRPr lang="en-US" sz="880" dirty="0"/>
          </a:p>
        </p:txBody>
      </p:sp>
      <p:sp>
        <p:nvSpPr>
          <p:cNvPr id="30" name="Shape 28"/>
          <p:cNvSpPr/>
          <p:nvPr/>
        </p:nvSpPr>
        <p:spPr>
          <a:xfrm>
            <a:off x="365760" y="4407408"/>
            <a:ext cx="8412480" cy="56692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31" name="Shape 29"/>
          <p:cNvSpPr/>
          <p:nvPr/>
        </p:nvSpPr>
        <p:spPr>
          <a:xfrm>
            <a:off x="365760" y="4407408"/>
            <a:ext cx="50292" cy="566928"/>
          </a:xfrm>
          <a:prstGeom prst="rect">
            <a:avLst/>
          </a:prstGeom>
          <a:solidFill>
            <a:srgbClr val="16A34A"/>
          </a:solidFill>
          <a:ln w="12700">
            <a:solidFill>
              <a:srgbClr val="16A34A"/>
            </a:solidFill>
            <a:prstDash val="solid"/>
          </a:ln>
        </p:spPr>
        <p:txBody>
          <a:bodyPr/>
          <a:lstStyle/>
          <a:p>
            <a:endParaRPr lang="en-GB"/>
          </a:p>
        </p:txBody>
      </p:sp>
      <p:sp>
        <p:nvSpPr>
          <p:cNvPr id="32" name="Text 30"/>
          <p:cNvSpPr/>
          <p:nvPr/>
        </p:nvSpPr>
        <p:spPr>
          <a:xfrm>
            <a:off x="530352" y="4471416"/>
            <a:ext cx="8046720" cy="228600"/>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Define a Degree of Test Design Flexibility</a:t>
            </a:r>
            <a:endParaRPr lang="en-US" sz="1100" dirty="0"/>
          </a:p>
        </p:txBody>
      </p:sp>
      <p:sp>
        <p:nvSpPr>
          <p:cNvPr id="33" name="Text 31"/>
          <p:cNvSpPr/>
          <p:nvPr/>
        </p:nvSpPr>
        <p:spPr>
          <a:xfrm>
            <a:off x="530352" y="4718304"/>
            <a:ext cx="8046720" cy="219456"/>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Acknowledge formally that detailed test case authoring is not always possible before implementation is visible. Agree a tiered approach: high-level test scenarios pre-implementation, detailed cases post-handover. Remove the expectation that QAs can write comprehensive tests against unknowns.</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05 · Development Patterns &amp; Handovers</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Without a shared pattern, every project starts from zero</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12 / 22</a:t>
            </a:r>
            <a:endParaRPr lang="en-US" sz="900" dirty="0"/>
          </a:p>
        </p:txBody>
      </p:sp>
      <p:sp>
        <p:nvSpPr>
          <p:cNvPr id="7" name="Shape 5"/>
          <p:cNvSpPr/>
          <p:nvPr/>
        </p:nvSpPr>
        <p:spPr>
          <a:xfrm>
            <a:off x="365760" y="932688"/>
            <a:ext cx="1417320" cy="256032"/>
          </a:xfrm>
          <a:prstGeom prst="rect">
            <a:avLst/>
          </a:prstGeom>
          <a:solidFill>
            <a:srgbClr val="F59E0B"/>
          </a:solidFill>
          <a:ln w="12700">
            <a:solidFill>
              <a:srgbClr val="F59E0B"/>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PROCESS GAP</a:t>
            </a:r>
            <a:endParaRPr lang="en-US" sz="800" dirty="0"/>
          </a:p>
        </p:txBody>
      </p:sp>
      <p:sp>
        <p:nvSpPr>
          <p:cNvPr id="9" name="Text 7"/>
          <p:cNvSpPr/>
          <p:nvPr/>
        </p:nvSpPr>
        <p:spPr>
          <a:xfrm>
            <a:off x="365760" y="1234440"/>
            <a:ext cx="8412480" cy="566928"/>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There is no common development pattern governing how pipelines are built or handed over to QA. Version control practices, notebook usage, and delivery conventions vary between projects and sometimes within the same project. This inconsistency is a direct tax on QA efficiency.</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883664"/>
          <a:ext cx="8412480" cy="2852928"/>
        </p:xfrm>
        <a:graphic>
          <a:graphicData uri="http://schemas.openxmlformats.org/drawingml/2006/table">
            <a:tbl>
              <a:tblPr/>
              <a:tblGrid>
                <a:gridCol w="21945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75488">
                <a:tc>
                  <a:txBody>
                    <a:bodyPr/>
                    <a:lstStyle/>
                    <a:p>
                      <a:pPr marL="0" indent="0">
                        <a:buNone/>
                      </a:pPr>
                      <a:r>
                        <a:rPr lang="en-US" sz="880" b="1" dirty="0">
                          <a:solidFill>
                            <a:srgbClr val="FFFFFF"/>
                          </a:solidFill>
                          <a:latin typeface="Calibri" pitchFamily="34" charset="0"/>
                          <a:ea typeface="Calibri" pitchFamily="34" charset="-122"/>
                          <a:cs typeface="Calibri" pitchFamily="34" charset="-120"/>
                        </a:rPr>
                        <a:t>Dimension</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solidFill>
                      <a:srgbClr val="12203A"/>
                    </a:solidFill>
                  </a:tcPr>
                </a:tc>
                <a:tc>
                  <a:txBody>
                    <a:bodyPr/>
                    <a:lstStyle/>
                    <a:p>
                      <a:pPr marL="0" indent="0">
                        <a:buNone/>
                      </a:pPr>
                      <a:r>
                        <a:rPr lang="en-US" sz="880" b="1" dirty="0">
                          <a:solidFill>
                            <a:srgbClr val="FFFFFF"/>
                          </a:solidFill>
                          <a:latin typeface="Calibri" pitchFamily="34" charset="0"/>
                          <a:ea typeface="Calibri" pitchFamily="34" charset="-122"/>
                          <a:cs typeface="Calibri" pitchFamily="34" charset="-120"/>
                        </a:rPr>
                        <a:t>Current State</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solidFill>
                      <a:srgbClr val="E8453C"/>
                    </a:solidFill>
                  </a:tcPr>
                </a:tc>
                <a:tc>
                  <a:txBody>
                    <a:bodyPr/>
                    <a:lstStyle/>
                    <a:p>
                      <a:pPr marL="0" indent="0">
                        <a:buNone/>
                      </a:pPr>
                      <a:r>
                        <a:rPr lang="en-US" sz="880" b="1" dirty="0">
                          <a:solidFill>
                            <a:srgbClr val="FFFFFF"/>
                          </a:solidFill>
                          <a:latin typeface="Calibri" pitchFamily="34" charset="0"/>
                          <a:ea typeface="Calibri" pitchFamily="34" charset="-122"/>
                          <a:cs typeface="Calibri" pitchFamily="34" charset="-120"/>
                        </a:rPr>
                        <a:t>Target State</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475488">
                <a:tc>
                  <a:txBody>
                    <a:bodyPr/>
                    <a:lstStyle/>
                    <a:p>
                      <a:pPr marL="0" indent="0">
                        <a:buNone/>
                      </a:pPr>
                      <a:r>
                        <a:rPr lang="en-US" sz="880" b="1" dirty="0">
                          <a:solidFill>
                            <a:srgbClr val="1C2B3A"/>
                          </a:solidFill>
                          <a:latin typeface="Calibri" pitchFamily="34" charset="0"/>
                          <a:ea typeface="Calibri" pitchFamily="34" charset="-122"/>
                          <a:cs typeface="Calibri" pitchFamily="34" charset="-120"/>
                        </a:rPr>
                        <a:t>Pipeline construction pattern</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tc>
                  <a:txBody>
                    <a:bodyPr/>
                    <a:lstStyle/>
                    <a:p>
                      <a:pPr marL="0" indent="0">
                        <a:buNone/>
                      </a:pPr>
                      <a:r>
                        <a:rPr lang="en-US" sz="880" i="1" dirty="0">
                          <a:solidFill>
                            <a:srgbClr val="8B0000"/>
                          </a:solidFill>
                          <a:latin typeface="Calibri" pitchFamily="34" charset="0"/>
                          <a:ea typeface="Calibri" pitchFamily="34" charset="-122"/>
                          <a:cs typeface="Calibri" pitchFamily="34" charset="-120"/>
                        </a:rPr>
                        <a:t>Varies — sometimes with notebooks, sometimes without</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tc>
                  <a:txBody>
                    <a:bodyPr/>
                    <a:lstStyle/>
                    <a:p>
                      <a:pPr marL="0" indent="0">
                        <a:buNone/>
                      </a:pPr>
                      <a:r>
                        <a:rPr lang="en-US" sz="880" dirty="0">
                          <a:solidFill>
                            <a:srgbClr val="14532D"/>
                          </a:solidFill>
                          <a:latin typeface="Calibri" pitchFamily="34" charset="0"/>
                          <a:ea typeface="Calibri" pitchFamily="34" charset="-122"/>
                          <a:cs typeface="Calibri" pitchFamily="34" charset="-120"/>
                        </a:rPr>
                        <a:t>Agreed standard: all pipelines documented with notebook references and transformation logic</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880" b="1" dirty="0">
                          <a:solidFill>
                            <a:srgbClr val="1C2B3A"/>
                          </a:solidFill>
                          <a:latin typeface="Calibri" pitchFamily="34" charset="0"/>
                          <a:ea typeface="Calibri" pitchFamily="34" charset="-122"/>
                          <a:cs typeface="Calibri" pitchFamily="34" charset="-120"/>
                        </a:rPr>
                        <a:t>Version control handover</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tc>
                  <a:txBody>
                    <a:bodyPr/>
                    <a:lstStyle/>
                    <a:p>
                      <a:pPr marL="0" indent="0">
                        <a:buNone/>
                      </a:pPr>
                      <a:r>
                        <a:rPr lang="en-US" sz="880" i="1" dirty="0">
                          <a:solidFill>
                            <a:srgbClr val="8B0000"/>
                          </a:solidFill>
                          <a:latin typeface="Calibri" pitchFamily="34" charset="0"/>
                          <a:ea typeface="Calibri" pitchFamily="34" charset="-122"/>
                          <a:cs typeface="Calibri" pitchFamily="34" charset="-120"/>
                        </a:rPr>
                        <a:t>No formal handover from Dev to QA at branch merge</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tc>
                  <a:txBody>
                    <a:bodyPr/>
                    <a:lstStyle/>
                    <a:p>
                      <a:pPr marL="0" indent="0">
                        <a:buNone/>
                      </a:pPr>
                      <a:r>
                        <a:rPr lang="en-US" sz="880" dirty="0">
                          <a:solidFill>
                            <a:srgbClr val="14532D"/>
                          </a:solidFill>
                          <a:latin typeface="Calibri" pitchFamily="34" charset="0"/>
                          <a:ea typeface="Calibri" pitchFamily="34" charset="-122"/>
                          <a:cs typeface="Calibri" pitchFamily="34" charset="-120"/>
                        </a:rPr>
                        <a:t>QA receives a merge notification with a brief change summary and test scope</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880" b="1" dirty="0">
                          <a:solidFill>
                            <a:srgbClr val="1C2B3A"/>
                          </a:solidFill>
                          <a:latin typeface="Calibri" pitchFamily="34" charset="0"/>
                          <a:ea typeface="Calibri" pitchFamily="34" charset="-122"/>
                          <a:cs typeface="Calibri" pitchFamily="34" charset="-120"/>
                        </a:rPr>
                        <a:t>Branching and environment promotion</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tc>
                  <a:txBody>
                    <a:bodyPr/>
                    <a:lstStyle/>
                    <a:p>
                      <a:pPr marL="0" indent="0">
                        <a:buNone/>
                      </a:pPr>
                      <a:r>
                        <a:rPr lang="en-US" sz="880" i="1" dirty="0">
                          <a:solidFill>
                            <a:srgbClr val="8B0000"/>
                          </a:solidFill>
                          <a:latin typeface="Calibri" pitchFamily="34" charset="0"/>
                          <a:ea typeface="Calibri" pitchFamily="34" charset="-122"/>
                          <a:cs typeface="Calibri" pitchFamily="34" charset="-120"/>
                        </a:rPr>
                        <a:t>Blind — QA is not informed of branch promotions</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tc>
                  <a:txBody>
                    <a:bodyPr/>
                    <a:lstStyle/>
                    <a:p>
                      <a:pPr marL="0" indent="0">
                        <a:buNone/>
                      </a:pPr>
                      <a:r>
                        <a:rPr lang="en-US" sz="880" dirty="0">
                          <a:solidFill>
                            <a:srgbClr val="14532D"/>
                          </a:solidFill>
                          <a:latin typeface="Calibri" pitchFamily="34" charset="0"/>
                          <a:ea typeface="Calibri" pitchFamily="34" charset="-122"/>
                          <a:cs typeface="Calibri" pitchFamily="34" charset="-120"/>
                        </a:rPr>
                        <a:t>QA is included in promotion notifications; environment state is visible</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880" b="1" dirty="0">
                          <a:solidFill>
                            <a:srgbClr val="1C2B3A"/>
                          </a:solidFill>
                          <a:latin typeface="Calibri" pitchFamily="34" charset="0"/>
                          <a:ea typeface="Calibri" pitchFamily="34" charset="-122"/>
                          <a:cs typeface="Calibri" pitchFamily="34" charset="-120"/>
                        </a:rPr>
                        <a:t>Implementation documentation</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tc>
                  <a:txBody>
                    <a:bodyPr/>
                    <a:lstStyle/>
                    <a:p>
                      <a:pPr marL="0" indent="0">
                        <a:buNone/>
                      </a:pPr>
                      <a:r>
                        <a:rPr lang="en-US" sz="880" i="1" dirty="0">
                          <a:solidFill>
                            <a:srgbClr val="8B0000"/>
                          </a:solidFill>
                          <a:latin typeface="Calibri" pitchFamily="34" charset="0"/>
                          <a:ea typeface="Calibri" pitchFamily="34" charset="-122"/>
                          <a:cs typeface="Calibri" pitchFamily="34" charset="-120"/>
                        </a:rPr>
                        <a:t>Verbal or absent</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tc>
                  <a:txBody>
                    <a:bodyPr/>
                    <a:lstStyle/>
                    <a:p>
                      <a:pPr marL="0" indent="0">
                        <a:buNone/>
                      </a:pPr>
                      <a:r>
                        <a:rPr lang="en-US" sz="880" dirty="0">
                          <a:solidFill>
                            <a:srgbClr val="14532D"/>
                          </a:solidFill>
                          <a:latin typeface="Calibri" pitchFamily="34" charset="0"/>
                          <a:ea typeface="Calibri" pitchFamily="34" charset="-122"/>
                          <a:cs typeface="Calibri" pitchFamily="34" charset="-120"/>
                        </a:rPr>
                        <a:t>Short written summary per pipeline: inputs, logic, outputs, edge cases</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880" b="1" dirty="0">
                          <a:solidFill>
                            <a:srgbClr val="1C2B3A"/>
                          </a:solidFill>
                          <a:latin typeface="Calibri" pitchFamily="34" charset="0"/>
                          <a:ea typeface="Calibri" pitchFamily="34" charset="-122"/>
                          <a:cs typeface="Calibri" pitchFamily="34" charset="-120"/>
                        </a:rPr>
                        <a:t>Test data alignment</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tc>
                  <a:txBody>
                    <a:bodyPr/>
                    <a:lstStyle/>
                    <a:p>
                      <a:pPr marL="0" indent="0">
                        <a:buNone/>
                      </a:pPr>
                      <a:r>
                        <a:rPr lang="en-US" sz="880" i="1" dirty="0">
                          <a:solidFill>
                            <a:srgbClr val="8B0000"/>
                          </a:solidFill>
                          <a:latin typeface="Calibri" pitchFamily="34" charset="0"/>
                          <a:ea typeface="Calibri" pitchFamily="34" charset="-122"/>
                          <a:cs typeface="Calibri" pitchFamily="34" charset="-120"/>
                        </a:rPr>
                        <a:t>QA sourcing data independently after the fact</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tc>
                  <a:txBody>
                    <a:bodyPr/>
                    <a:lstStyle/>
                    <a:p>
                      <a:pPr marL="0" indent="0">
                        <a:buNone/>
                      </a:pPr>
                      <a:r>
                        <a:rPr lang="en-US" sz="880" dirty="0">
                          <a:solidFill>
                            <a:srgbClr val="14532D"/>
                          </a:solidFill>
                          <a:latin typeface="Calibri" pitchFamily="34" charset="0"/>
                          <a:ea typeface="Calibri" pitchFamily="34" charset="-122"/>
                          <a:cs typeface="Calibri" pitchFamily="34" charset="-120"/>
                        </a:rPr>
                        <a:t>Data sourced alongside implementation; TDM Owner signs off before sprint end</a:t>
                      </a:r>
                      <a:endParaRPr lang="en-US" sz="880" dirty="0">
                        <a:latin typeface="Calibri" charset="0"/>
                        <a:ea typeface="Calibri" charset="0"/>
                        <a:cs typeface="Calibri" charset="0"/>
                      </a:endParaRPr>
                    </a:p>
                  </a:txBody>
                  <a:tcPr>
                    <a:lnL w="10160" cap="flat" cmpd="sng" algn="ctr">
                      <a:solidFill>
                        <a:srgbClr val="DDE3EE"/>
                      </a:solidFill>
                      <a:prstDash val="solid"/>
                      <a:round/>
                      <a:headEnd type="none" w="med" len="med"/>
                      <a:tailEnd type="none" w="med" len="med"/>
                    </a:lnL>
                    <a:lnR w="10160" cap="flat" cmpd="sng" algn="ctr">
                      <a:solidFill>
                        <a:srgbClr val="DDE3EE"/>
                      </a:solidFill>
                      <a:prstDash val="solid"/>
                      <a:round/>
                      <a:headEnd type="none" w="med" len="med"/>
                      <a:tailEnd type="none" w="med" len="med"/>
                    </a:lnR>
                    <a:lnT w="10160" cap="flat" cmpd="sng" algn="ctr">
                      <a:solidFill>
                        <a:srgbClr val="DDE3EE"/>
                      </a:solidFill>
                      <a:prstDash val="solid"/>
                      <a:round/>
                      <a:headEnd type="none" w="med" len="med"/>
                      <a:tailEnd type="none" w="med" len="med"/>
                    </a:lnT>
                    <a:lnB w="1016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06 · Deployment, Environments &amp; Access</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Testers cannot assure quality in environments they cannot see</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13 / 22</a:t>
            </a:r>
            <a:endParaRPr lang="en-US" sz="900" dirty="0"/>
          </a:p>
        </p:txBody>
      </p:sp>
      <p:sp>
        <p:nvSpPr>
          <p:cNvPr id="7" name="Shape 5"/>
          <p:cNvSpPr/>
          <p:nvPr/>
        </p:nvSpPr>
        <p:spPr>
          <a:xfrm>
            <a:off x="365760" y="932688"/>
            <a:ext cx="1417320" cy="256032"/>
          </a:xfrm>
          <a:prstGeom prst="rect">
            <a:avLst/>
          </a:prstGeom>
          <a:solidFill>
            <a:srgbClr val="F59E0B"/>
          </a:solidFill>
          <a:ln w="12700">
            <a:solidFill>
              <a:srgbClr val="F59E0B"/>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OPERATIONAL GAP</a:t>
            </a:r>
            <a:endParaRPr lang="en-US" sz="800" dirty="0"/>
          </a:p>
        </p:txBody>
      </p:sp>
      <p:sp>
        <p:nvSpPr>
          <p:cNvPr id="9" name="Text 7"/>
          <p:cNvSpPr/>
          <p:nvPr/>
        </p:nvSpPr>
        <p:spPr>
          <a:xfrm>
            <a:off x="365760" y="1234440"/>
            <a:ext cx="8412480" cy="566928"/>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Deployments to environments happen without testers being informed, involved, or given visibility of what has changed. There is no deployment history, no environment state dashboard, and no formal gate where QA signs off readiness. This is not how quality delivery works.</a:t>
            </a:r>
            <a:endParaRPr lang="en-US" sz="1050" dirty="0"/>
          </a:p>
        </p:txBody>
      </p:sp>
      <p:sp>
        <p:nvSpPr>
          <p:cNvPr id="10" name="Shape 8"/>
          <p:cNvSpPr/>
          <p:nvPr/>
        </p:nvSpPr>
        <p:spPr>
          <a:xfrm>
            <a:off x="365760" y="1901952"/>
            <a:ext cx="8412480" cy="66751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1" name="Shape 9"/>
          <p:cNvSpPr/>
          <p:nvPr/>
        </p:nvSpPr>
        <p:spPr>
          <a:xfrm>
            <a:off x="365760" y="1901952"/>
            <a:ext cx="50292" cy="667512"/>
          </a:xfrm>
          <a:prstGeom prst="rect">
            <a:avLst/>
          </a:prstGeom>
          <a:solidFill>
            <a:srgbClr val="E8453C"/>
          </a:solidFill>
          <a:ln w="12700">
            <a:solidFill>
              <a:srgbClr val="E8453C"/>
            </a:solidFill>
            <a:prstDash val="solid"/>
          </a:ln>
        </p:spPr>
        <p:txBody>
          <a:bodyPr/>
          <a:lstStyle/>
          <a:p>
            <a:endParaRPr lang="en-GB"/>
          </a:p>
        </p:txBody>
      </p:sp>
      <p:sp>
        <p:nvSpPr>
          <p:cNvPr id="12" name="Text 10"/>
          <p:cNvSpPr/>
          <p:nvPr/>
        </p:nvSpPr>
        <p:spPr>
          <a:xfrm>
            <a:off x="530352" y="1965960"/>
            <a:ext cx="8046720" cy="246888"/>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Deployment to Environments is Blind for QA</a:t>
            </a:r>
            <a:endParaRPr lang="en-US" sz="1100" dirty="0"/>
          </a:p>
        </p:txBody>
      </p:sp>
      <p:sp>
        <p:nvSpPr>
          <p:cNvPr id="13" name="Text 11"/>
          <p:cNvSpPr/>
          <p:nvPr/>
        </p:nvSpPr>
        <p:spPr>
          <a:xfrm>
            <a:off x="530352" y="2231136"/>
            <a:ext cx="8046720" cy="292608"/>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Testers are not notified when code is promoted between environments. They discover changes by accident or by chasing developers. There is no deployment log, no Confluence deployment history, and no 'what changed?' summary attached to environment promotions. This is a fundamental quality gate failure.</a:t>
            </a:r>
            <a:endParaRPr lang="en-US" sz="880" dirty="0"/>
          </a:p>
        </p:txBody>
      </p:sp>
      <p:sp>
        <p:nvSpPr>
          <p:cNvPr id="14" name="Shape 12"/>
          <p:cNvSpPr/>
          <p:nvPr/>
        </p:nvSpPr>
        <p:spPr>
          <a:xfrm>
            <a:off x="365760" y="2660904"/>
            <a:ext cx="8412480" cy="66751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5" name="Shape 13"/>
          <p:cNvSpPr/>
          <p:nvPr/>
        </p:nvSpPr>
        <p:spPr>
          <a:xfrm>
            <a:off x="365760" y="2660904"/>
            <a:ext cx="50292" cy="667512"/>
          </a:xfrm>
          <a:prstGeom prst="rect">
            <a:avLst/>
          </a:prstGeom>
          <a:solidFill>
            <a:srgbClr val="E8453C"/>
          </a:solidFill>
          <a:ln w="12700">
            <a:solidFill>
              <a:srgbClr val="E8453C"/>
            </a:solidFill>
            <a:prstDash val="solid"/>
          </a:ln>
        </p:spPr>
        <p:txBody>
          <a:bodyPr/>
          <a:lstStyle/>
          <a:p>
            <a:endParaRPr lang="en-GB"/>
          </a:p>
        </p:txBody>
      </p:sp>
      <p:sp>
        <p:nvSpPr>
          <p:cNvPr id="16" name="Text 14"/>
          <p:cNvSpPr/>
          <p:nvPr/>
        </p:nvSpPr>
        <p:spPr>
          <a:xfrm>
            <a:off x="530352" y="2724912"/>
            <a:ext cx="8046720" cy="246888"/>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No QA Gate in the Deployment Pipeline</a:t>
            </a:r>
            <a:endParaRPr lang="en-US" sz="1100" dirty="0"/>
          </a:p>
        </p:txBody>
      </p:sp>
      <p:sp>
        <p:nvSpPr>
          <p:cNvPr id="17" name="Text 15"/>
          <p:cNvSpPr/>
          <p:nvPr/>
        </p:nvSpPr>
        <p:spPr>
          <a:xfrm>
            <a:off x="530352" y="2990088"/>
            <a:ext cx="8046720" cy="292608"/>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The current path to production does not include a formal QA sign-off checkpoint. Code can reach production without a tester confirming that the pipeline behaves as expected in the target environment. This must change. QA sign-off must be a deployment prerequisite, not an optional step.</a:t>
            </a:r>
            <a:endParaRPr lang="en-US" sz="880" dirty="0"/>
          </a:p>
        </p:txBody>
      </p:sp>
      <p:sp>
        <p:nvSpPr>
          <p:cNvPr id="18" name="Shape 16"/>
          <p:cNvSpPr/>
          <p:nvPr/>
        </p:nvSpPr>
        <p:spPr>
          <a:xfrm>
            <a:off x="365760" y="3419856"/>
            <a:ext cx="8412480" cy="66751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9" name="Shape 17"/>
          <p:cNvSpPr/>
          <p:nvPr/>
        </p:nvSpPr>
        <p:spPr>
          <a:xfrm>
            <a:off x="365760" y="3419856"/>
            <a:ext cx="50292" cy="667512"/>
          </a:xfrm>
          <a:prstGeom prst="rect">
            <a:avLst/>
          </a:prstGeom>
          <a:solidFill>
            <a:srgbClr val="F59E0B"/>
          </a:solidFill>
          <a:ln w="12700">
            <a:solidFill>
              <a:srgbClr val="F59E0B"/>
            </a:solidFill>
            <a:prstDash val="solid"/>
          </a:ln>
        </p:spPr>
        <p:txBody>
          <a:bodyPr/>
          <a:lstStyle/>
          <a:p>
            <a:endParaRPr lang="en-GB"/>
          </a:p>
        </p:txBody>
      </p:sp>
      <p:sp>
        <p:nvSpPr>
          <p:cNvPr id="20" name="Text 18"/>
          <p:cNvSpPr/>
          <p:nvPr/>
        </p:nvSpPr>
        <p:spPr>
          <a:xfrm>
            <a:off x="530352" y="3483864"/>
            <a:ext cx="8046720" cy="246888"/>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Environment Configuration and Infrastructure Are Unknown to QA</a:t>
            </a:r>
            <a:endParaRPr lang="en-US" sz="1100" dirty="0"/>
          </a:p>
        </p:txBody>
      </p:sp>
      <p:sp>
        <p:nvSpPr>
          <p:cNvPr id="21" name="Text 19"/>
          <p:cNvSpPr/>
          <p:nvPr/>
        </p:nvSpPr>
        <p:spPr>
          <a:xfrm>
            <a:off x="530352" y="3749040"/>
            <a:ext cx="8046720" cy="292608"/>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QAs do not have visibility of infrastructure configuration, environment differences, or production metrics. Non-functional requirements — security, performance, data retention — are not tested because they are not documented and QA has no access to the information needed to test them.</a:t>
            </a:r>
            <a:endParaRPr lang="en-US" sz="880" dirty="0"/>
          </a:p>
        </p:txBody>
      </p:sp>
      <p:sp>
        <p:nvSpPr>
          <p:cNvPr id="22" name="Shape 20"/>
          <p:cNvSpPr/>
          <p:nvPr/>
        </p:nvSpPr>
        <p:spPr>
          <a:xfrm>
            <a:off x="365760" y="4178808"/>
            <a:ext cx="8412480" cy="66751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3" name="Shape 21"/>
          <p:cNvSpPr/>
          <p:nvPr/>
        </p:nvSpPr>
        <p:spPr>
          <a:xfrm>
            <a:off x="365760" y="4178808"/>
            <a:ext cx="50292" cy="667512"/>
          </a:xfrm>
          <a:prstGeom prst="rect">
            <a:avLst/>
          </a:prstGeom>
          <a:solidFill>
            <a:srgbClr val="16A34A"/>
          </a:solidFill>
          <a:ln w="12700">
            <a:solidFill>
              <a:srgbClr val="16A34A"/>
            </a:solidFill>
            <a:prstDash val="solid"/>
          </a:ln>
        </p:spPr>
        <p:txBody>
          <a:bodyPr/>
          <a:lstStyle/>
          <a:p>
            <a:endParaRPr lang="en-GB"/>
          </a:p>
        </p:txBody>
      </p:sp>
      <p:sp>
        <p:nvSpPr>
          <p:cNvPr id="24" name="Text 22"/>
          <p:cNvSpPr/>
          <p:nvPr/>
        </p:nvSpPr>
        <p:spPr>
          <a:xfrm>
            <a:off x="530352" y="4242816"/>
            <a:ext cx="8046720" cy="246888"/>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Proposed: Maintain a Deployment Log in Confluence</a:t>
            </a:r>
            <a:endParaRPr lang="en-US" sz="1100" dirty="0"/>
          </a:p>
        </p:txBody>
      </p:sp>
      <p:sp>
        <p:nvSpPr>
          <p:cNvPr id="25" name="Text 23"/>
          <p:cNvSpPr/>
          <p:nvPr/>
        </p:nvSpPr>
        <p:spPr>
          <a:xfrm>
            <a:off x="530352" y="4507992"/>
            <a:ext cx="8046720" cy="292608"/>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Every deployment to every environment should be recorded: what was deployed, when, by whom, what it contains, and whether QA has signed off. This creates accountability, supports incident investigation, and enables pattern identification. This log should be the single source of truth for environment state.</a:t>
            </a:r>
            <a:endParaRPr lang="en-US" sz="8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07 · Incidents, Production Ops &amp; Learning Loops</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Without a record of failure, we are condemned to repeat it</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14 / 22</a:t>
            </a:r>
            <a:endParaRPr lang="en-US" sz="900" dirty="0"/>
          </a:p>
        </p:txBody>
      </p:sp>
      <p:sp>
        <p:nvSpPr>
          <p:cNvPr id="7" name="Shape 5"/>
          <p:cNvSpPr/>
          <p:nvPr/>
        </p:nvSpPr>
        <p:spPr>
          <a:xfrm>
            <a:off x="365760" y="932688"/>
            <a:ext cx="1417320" cy="256032"/>
          </a:xfrm>
          <a:prstGeom prst="rect">
            <a:avLst/>
          </a:prstGeom>
          <a:solidFill>
            <a:srgbClr val="E8453C"/>
          </a:solidFill>
          <a:ln w="12700">
            <a:solidFill>
              <a:srgbClr val="E8453C"/>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CRITICAL GAP</a:t>
            </a:r>
            <a:endParaRPr lang="en-US" sz="800" dirty="0"/>
          </a:p>
        </p:txBody>
      </p:sp>
      <p:pic>
        <p:nvPicPr>
          <p:cNvPr id="9" name="Image 0" descr="preencoded.png"/>
          <p:cNvPicPr>
            <a:picLocks noChangeAspect="1"/>
          </p:cNvPicPr>
          <p:nvPr/>
        </p:nvPicPr>
        <p:blipFill>
          <a:blip r:embed="rId3">
            <a:alphaModFix amt="80000"/>
          </a:blip>
          <a:stretch>
            <a:fillRect/>
          </a:stretch>
        </p:blipFill>
        <p:spPr>
          <a:xfrm>
            <a:off x="7589520" y="868680"/>
            <a:ext cx="1188720" cy="1188720"/>
          </a:xfrm>
          <a:prstGeom prst="rect">
            <a:avLst/>
          </a:prstGeom>
        </p:spPr>
      </p:pic>
      <p:sp>
        <p:nvSpPr>
          <p:cNvPr id="10" name="Text 7"/>
          <p:cNvSpPr/>
          <p:nvPr/>
        </p:nvSpPr>
        <p:spPr>
          <a:xfrm>
            <a:off x="365760" y="1234440"/>
            <a:ext cx="7040880" cy="804672"/>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When production issues are raised, they are resolved — and then forgotten. There is no centralised production issues log, no incident write-up process, no pattern analysis, and no record of how data operations or service operations teams have handled issues across any project in the last three months. This means we fight the same fires repeatedly and cannot demonstrate improvement over time.</a:t>
            </a:r>
            <a:endParaRPr lang="en-US" sz="1050" dirty="0"/>
          </a:p>
        </p:txBody>
      </p:sp>
      <p:sp>
        <p:nvSpPr>
          <p:cNvPr id="11" name="Shape 8"/>
          <p:cNvSpPr/>
          <p:nvPr/>
        </p:nvSpPr>
        <p:spPr>
          <a:xfrm>
            <a:off x="365760" y="2130552"/>
            <a:ext cx="8412480" cy="65836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2" name="Shape 9"/>
          <p:cNvSpPr/>
          <p:nvPr/>
        </p:nvSpPr>
        <p:spPr>
          <a:xfrm>
            <a:off x="365760" y="2130552"/>
            <a:ext cx="50292" cy="658368"/>
          </a:xfrm>
          <a:prstGeom prst="rect">
            <a:avLst/>
          </a:prstGeom>
          <a:solidFill>
            <a:srgbClr val="E8453C"/>
          </a:solidFill>
          <a:ln w="12700">
            <a:solidFill>
              <a:srgbClr val="E8453C"/>
            </a:solidFill>
            <a:prstDash val="solid"/>
          </a:ln>
        </p:spPr>
        <p:txBody>
          <a:bodyPr/>
          <a:lstStyle/>
          <a:p>
            <a:endParaRPr lang="en-GB"/>
          </a:p>
        </p:txBody>
      </p:sp>
      <p:sp>
        <p:nvSpPr>
          <p:cNvPr id="13" name="Text 10"/>
          <p:cNvSpPr/>
          <p:nvPr/>
        </p:nvSpPr>
        <p:spPr>
          <a:xfrm>
            <a:off x="530352" y="2194560"/>
            <a:ext cx="8046720" cy="246888"/>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No Production Issues Log</a:t>
            </a:r>
            <a:endParaRPr lang="en-US" sz="1100" dirty="0"/>
          </a:p>
        </p:txBody>
      </p:sp>
      <p:sp>
        <p:nvSpPr>
          <p:cNvPr id="14" name="Text 11"/>
          <p:cNvSpPr/>
          <p:nvPr/>
        </p:nvSpPr>
        <p:spPr>
          <a:xfrm>
            <a:off x="530352" y="2459736"/>
            <a:ext cx="8046720" cy="283464"/>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ADO ticket creation alone is not sufficient. Tickets record tasks, not incidents. There is no Confluence production issues log capturing: what failed, when, impact, root cause, resolution, and actions taken to prevent recurrence.</a:t>
            </a:r>
            <a:endParaRPr lang="en-US" sz="880" dirty="0"/>
          </a:p>
        </p:txBody>
      </p:sp>
      <p:sp>
        <p:nvSpPr>
          <p:cNvPr id="15" name="Shape 12"/>
          <p:cNvSpPr/>
          <p:nvPr/>
        </p:nvSpPr>
        <p:spPr>
          <a:xfrm>
            <a:off x="365760" y="2880360"/>
            <a:ext cx="8412480" cy="65836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6" name="Shape 13"/>
          <p:cNvSpPr/>
          <p:nvPr/>
        </p:nvSpPr>
        <p:spPr>
          <a:xfrm>
            <a:off x="365760" y="2880360"/>
            <a:ext cx="50292" cy="658368"/>
          </a:xfrm>
          <a:prstGeom prst="rect">
            <a:avLst/>
          </a:prstGeom>
          <a:solidFill>
            <a:srgbClr val="E8453C"/>
          </a:solidFill>
          <a:ln w="12700">
            <a:solidFill>
              <a:srgbClr val="E8453C"/>
            </a:solidFill>
            <a:prstDash val="solid"/>
          </a:ln>
        </p:spPr>
        <p:txBody>
          <a:bodyPr/>
          <a:lstStyle/>
          <a:p>
            <a:endParaRPr lang="en-GB"/>
          </a:p>
        </p:txBody>
      </p:sp>
      <p:sp>
        <p:nvSpPr>
          <p:cNvPr id="17" name="Text 14"/>
          <p:cNvSpPr/>
          <p:nvPr/>
        </p:nvSpPr>
        <p:spPr>
          <a:xfrm>
            <a:off x="530352" y="2944368"/>
            <a:ext cx="8046720" cy="246888"/>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No Incident Summary Write-Ups</a:t>
            </a:r>
            <a:endParaRPr lang="en-US" sz="1100" dirty="0"/>
          </a:p>
        </p:txBody>
      </p:sp>
      <p:sp>
        <p:nvSpPr>
          <p:cNvPr id="18" name="Text 15"/>
          <p:cNvSpPr/>
          <p:nvPr/>
        </p:nvSpPr>
        <p:spPr>
          <a:xfrm>
            <a:off x="530352" y="3209544"/>
            <a:ext cx="8046720" cy="283464"/>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Issues are closed without a structured write-up. The team loses the institutional knowledge contained in each incident. After a few months, the same vulnerabilities reappear because nobody remembers — or was informed — that this exact failure pattern occurred before.</a:t>
            </a:r>
            <a:endParaRPr lang="en-US" sz="880" dirty="0"/>
          </a:p>
        </p:txBody>
      </p:sp>
      <p:sp>
        <p:nvSpPr>
          <p:cNvPr id="19" name="Shape 16"/>
          <p:cNvSpPr/>
          <p:nvPr/>
        </p:nvSpPr>
        <p:spPr>
          <a:xfrm>
            <a:off x="365760" y="3630168"/>
            <a:ext cx="8412480" cy="65836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0" name="Shape 17"/>
          <p:cNvSpPr/>
          <p:nvPr/>
        </p:nvSpPr>
        <p:spPr>
          <a:xfrm>
            <a:off x="365760" y="3630168"/>
            <a:ext cx="50292" cy="658368"/>
          </a:xfrm>
          <a:prstGeom prst="rect">
            <a:avLst/>
          </a:prstGeom>
          <a:solidFill>
            <a:srgbClr val="F59E0B"/>
          </a:solidFill>
          <a:ln w="12700">
            <a:solidFill>
              <a:srgbClr val="F59E0B"/>
            </a:solidFill>
            <a:prstDash val="solid"/>
          </a:ln>
        </p:spPr>
        <p:txBody>
          <a:bodyPr/>
          <a:lstStyle/>
          <a:p>
            <a:endParaRPr lang="en-GB"/>
          </a:p>
        </p:txBody>
      </p:sp>
      <p:sp>
        <p:nvSpPr>
          <p:cNvPr id="21" name="Text 18"/>
          <p:cNvSpPr/>
          <p:nvPr/>
        </p:nvSpPr>
        <p:spPr>
          <a:xfrm>
            <a:off x="530352" y="3694176"/>
            <a:ext cx="8046720" cy="246888"/>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No Path-to-Production Documentation</a:t>
            </a:r>
            <a:endParaRPr lang="en-US" sz="1100" dirty="0"/>
          </a:p>
        </p:txBody>
      </p:sp>
      <p:sp>
        <p:nvSpPr>
          <p:cNvPr id="22" name="Text 19"/>
          <p:cNvSpPr/>
          <p:nvPr/>
        </p:nvSpPr>
        <p:spPr>
          <a:xfrm>
            <a:off x="530352" y="3959352"/>
            <a:ext cx="8046720" cy="283464"/>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How does code reach production? Who approves it? What are the checks? What happens when something breaks in production? What is the escalation path? None of this is documented. Testers cannot support production assurance without this information.</a:t>
            </a:r>
            <a:endParaRPr lang="en-US" sz="880" dirty="0"/>
          </a:p>
        </p:txBody>
      </p:sp>
      <p:sp>
        <p:nvSpPr>
          <p:cNvPr id="23" name="Shape 20"/>
          <p:cNvSpPr/>
          <p:nvPr/>
        </p:nvSpPr>
        <p:spPr>
          <a:xfrm>
            <a:off x="365760" y="4379976"/>
            <a:ext cx="8412480" cy="65836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4" name="Shape 21"/>
          <p:cNvSpPr/>
          <p:nvPr/>
        </p:nvSpPr>
        <p:spPr>
          <a:xfrm>
            <a:off x="365760" y="4379976"/>
            <a:ext cx="50292" cy="658368"/>
          </a:xfrm>
          <a:prstGeom prst="rect">
            <a:avLst/>
          </a:prstGeom>
          <a:solidFill>
            <a:srgbClr val="F59E0B"/>
          </a:solidFill>
          <a:ln w="12700">
            <a:solidFill>
              <a:srgbClr val="F59E0B"/>
            </a:solidFill>
            <a:prstDash val="solid"/>
          </a:ln>
        </p:spPr>
        <p:txBody>
          <a:bodyPr/>
          <a:lstStyle/>
          <a:p>
            <a:endParaRPr lang="en-GB"/>
          </a:p>
        </p:txBody>
      </p:sp>
      <p:sp>
        <p:nvSpPr>
          <p:cNvPr id="25" name="Text 22"/>
          <p:cNvSpPr/>
          <p:nvPr/>
        </p:nvSpPr>
        <p:spPr>
          <a:xfrm>
            <a:off x="530352" y="4443984"/>
            <a:ext cx="8046720" cy="246888"/>
          </a:xfrm>
          <a:prstGeom prst="rect">
            <a:avLst/>
          </a:prstGeom>
          <a:noFill/>
          <a:ln/>
        </p:spPr>
        <p:txBody>
          <a:bodyPr wrap="square" lIns="0" tIns="0" rIns="0" bIns="0" rtlCol="0" anchor="ctr"/>
          <a:lstStyle/>
          <a:p>
            <a:pPr marL="0" indent="0">
              <a:buNone/>
            </a:pPr>
            <a:r>
              <a:rPr lang="en-US" sz="1100" b="1" dirty="0">
                <a:solidFill>
                  <a:srgbClr val="1C2B3A"/>
                </a:solidFill>
                <a:latin typeface="Calibri" pitchFamily="34" charset="0"/>
                <a:ea typeface="Calibri" pitchFamily="34" charset="-122"/>
                <a:cs typeface="Calibri" pitchFamily="34" charset="-120"/>
              </a:rPr>
              <a:t>No Pattern Analysis or Trend Reporting</a:t>
            </a:r>
            <a:endParaRPr lang="en-US" sz="1100" dirty="0"/>
          </a:p>
        </p:txBody>
      </p:sp>
      <p:sp>
        <p:nvSpPr>
          <p:cNvPr id="26" name="Text 23"/>
          <p:cNvSpPr/>
          <p:nvPr/>
        </p:nvSpPr>
        <p:spPr>
          <a:xfrm>
            <a:off x="530352" y="4709160"/>
            <a:ext cx="8046720" cy="283464"/>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Without a log, there is no analysis. Without analysis, there is no improvement. We cannot identify whether a particular pipeline type, data source, or transformation pattern is disproportionately problematic — because we have no data on which to base that assessment.</a:t>
            </a: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07 · Incidents &amp; Production Ops — Recommendations</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Build the memory the team currently lacks</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15 / 22</a:t>
            </a:r>
            <a:endParaRPr lang="en-US" sz="900" dirty="0"/>
          </a:p>
        </p:txBody>
      </p:sp>
      <p:sp>
        <p:nvSpPr>
          <p:cNvPr id="7" name="Shape 5"/>
          <p:cNvSpPr/>
          <p:nvPr/>
        </p:nvSpPr>
        <p:spPr>
          <a:xfrm>
            <a:off x="365760" y="932688"/>
            <a:ext cx="1417320" cy="256032"/>
          </a:xfrm>
          <a:prstGeom prst="rect">
            <a:avLst/>
          </a:prstGeom>
          <a:solidFill>
            <a:srgbClr val="16A34A"/>
          </a:solidFill>
          <a:ln w="12700">
            <a:solidFill>
              <a:srgbClr val="16A34A"/>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RECOMMENDATION</a:t>
            </a:r>
            <a:endParaRPr lang="en-US" sz="800" dirty="0"/>
          </a:p>
        </p:txBody>
      </p:sp>
      <p:sp>
        <p:nvSpPr>
          <p:cNvPr id="9" name="Text 7"/>
          <p:cNvSpPr/>
          <p:nvPr/>
        </p:nvSpPr>
        <p:spPr>
          <a:xfrm>
            <a:off x="365760" y="1234440"/>
            <a:ext cx="8412480" cy="347472"/>
          </a:xfrm>
          <a:prstGeom prst="rect">
            <a:avLst/>
          </a:prstGeom>
          <a:noFill/>
          <a:ln/>
        </p:spPr>
        <p:txBody>
          <a:bodyPr wrap="square" lIns="0" tIns="0" rIns="0" bIns="0" rtlCol="0" anchor="ctr"/>
          <a:lstStyle/>
          <a:p>
            <a:pPr marL="0" indent="0">
              <a:buNone/>
            </a:pPr>
            <a:r>
              <a:rPr lang="en-US" sz="1000" i="1" dirty="0">
                <a:solidFill>
                  <a:srgbClr val="5A6E8C"/>
                </a:solidFill>
                <a:latin typeface="Calibri" pitchFamily="34" charset="0"/>
                <a:ea typeface="Calibri" pitchFamily="34" charset="-122"/>
                <a:cs typeface="Calibri" pitchFamily="34" charset="-120"/>
              </a:rPr>
              <a:t>The proposal below requires no new tooling — only discipline and a decision to start. Confluence is already available. The log template below can be live within one day.</a:t>
            </a:r>
            <a:endParaRPr lang="en-US" sz="1000" dirty="0"/>
          </a:p>
        </p:txBody>
      </p:sp>
      <p:sp>
        <p:nvSpPr>
          <p:cNvPr id="10" name="Shape 8"/>
          <p:cNvSpPr/>
          <p:nvPr/>
        </p:nvSpPr>
        <p:spPr>
          <a:xfrm>
            <a:off x="365760" y="1664208"/>
            <a:ext cx="8412480" cy="1938528"/>
          </a:xfrm>
          <a:prstGeom prst="rect">
            <a:avLst/>
          </a:prstGeom>
          <a:solidFill>
            <a:srgbClr val="0D1F35"/>
          </a:solidFill>
          <a:ln w="12700">
            <a:solidFill>
              <a:srgbClr val="0D1F35"/>
            </a:solidFill>
            <a:prstDash val="solid"/>
          </a:ln>
          <a:effectLst>
            <a:outerShdw blurRad="127000" dist="38100" dir="8100000" algn="bl" rotWithShape="0">
              <a:srgbClr val="000000">
                <a:alpha val="10000"/>
              </a:srgbClr>
            </a:outerShdw>
          </a:effectLst>
        </p:spPr>
        <p:txBody>
          <a:bodyPr/>
          <a:lstStyle/>
          <a:p>
            <a:endParaRPr lang="en-GB"/>
          </a:p>
        </p:txBody>
      </p:sp>
      <p:sp>
        <p:nvSpPr>
          <p:cNvPr id="11" name="Text 9"/>
          <p:cNvSpPr/>
          <p:nvPr/>
        </p:nvSpPr>
        <p:spPr>
          <a:xfrm>
            <a:off x="530352" y="1737360"/>
            <a:ext cx="8046720" cy="274320"/>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Proposed Confluence Production Issues Log — Minimum Template</a:t>
            </a:r>
            <a:endParaRPr lang="en-US" sz="1100" dirty="0"/>
          </a:p>
        </p:txBody>
      </p:sp>
      <p:sp>
        <p:nvSpPr>
          <p:cNvPr id="12" name="Shape 10"/>
          <p:cNvSpPr/>
          <p:nvPr/>
        </p:nvSpPr>
        <p:spPr>
          <a:xfrm>
            <a:off x="530352" y="2084832"/>
            <a:ext cx="1554480" cy="384048"/>
          </a:xfrm>
          <a:prstGeom prst="rect">
            <a:avLst/>
          </a:prstGeom>
          <a:solidFill>
            <a:srgbClr val="1A2E45"/>
          </a:solidFill>
          <a:ln w="12700">
            <a:solidFill>
              <a:srgbClr val="2A4060"/>
            </a:solidFill>
            <a:prstDash val="solid"/>
          </a:ln>
        </p:spPr>
        <p:txBody>
          <a:bodyPr/>
          <a:lstStyle/>
          <a:p>
            <a:endParaRPr lang="en-GB"/>
          </a:p>
        </p:txBody>
      </p:sp>
      <p:sp>
        <p:nvSpPr>
          <p:cNvPr id="13" name="Text 11"/>
          <p:cNvSpPr/>
          <p:nvPr/>
        </p:nvSpPr>
        <p:spPr>
          <a:xfrm>
            <a:off x="585216" y="21396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Incident ID</a:t>
            </a:r>
            <a:endParaRPr lang="en-US" sz="750" dirty="0"/>
          </a:p>
        </p:txBody>
      </p:sp>
      <p:sp>
        <p:nvSpPr>
          <p:cNvPr id="14" name="Shape 12"/>
          <p:cNvSpPr/>
          <p:nvPr/>
        </p:nvSpPr>
        <p:spPr>
          <a:xfrm>
            <a:off x="2157984" y="2084832"/>
            <a:ext cx="1554480" cy="384048"/>
          </a:xfrm>
          <a:prstGeom prst="rect">
            <a:avLst/>
          </a:prstGeom>
          <a:solidFill>
            <a:srgbClr val="1A2E45"/>
          </a:solidFill>
          <a:ln w="12700">
            <a:solidFill>
              <a:srgbClr val="2A4060"/>
            </a:solidFill>
            <a:prstDash val="solid"/>
          </a:ln>
        </p:spPr>
        <p:txBody>
          <a:bodyPr/>
          <a:lstStyle/>
          <a:p>
            <a:endParaRPr lang="en-GB"/>
          </a:p>
        </p:txBody>
      </p:sp>
      <p:sp>
        <p:nvSpPr>
          <p:cNvPr id="15" name="Text 13"/>
          <p:cNvSpPr/>
          <p:nvPr/>
        </p:nvSpPr>
        <p:spPr>
          <a:xfrm>
            <a:off x="2212848" y="21396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Date</a:t>
            </a:r>
            <a:endParaRPr lang="en-US" sz="750" dirty="0"/>
          </a:p>
        </p:txBody>
      </p:sp>
      <p:sp>
        <p:nvSpPr>
          <p:cNvPr id="16" name="Shape 14"/>
          <p:cNvSpPr/>
          <p:nvPr/>
        </p:nvSpPr>
        <p:spPr>
          <a:xfrm>
            <a:off x="3785616" y="2084832"/>
            <a:ext cx="1554480" cy="384048"/>
          </a:xfrm>
          <a:prstGeom prst="rect">
            <a:avLst/>
          </a:prstGeom>
          <a:solidFill>
            <a:srgbClr val="1A2E45"/>
          </a:solidFill>
          <a:ln w="12700">
            <a:solidFill>
              <a:srgbClr val="2A4060"/>
            </a:solidFill>
            <a:prstDash val="solid"/>
          </a:ln>
        </p:spPr>
        <p:txBody>
          <a:bodyPr/>
          <a:lstStyle/>
          <a:p>
            <a:endParaRPr lang="en-GB"/>
          </a:p>
        </p:txBody>
      </p:sp>
      <p:sp>
        <p:nvSpPr>
          <p:cNvPr id="17" name="Text 15"/>
          <p:cNvSpPr/>
          <p:nvPr/>
        </p:nvSpPr>
        <p:spPr>
          <a:xfrm>
            <a:off x="3840480" y="21396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Project</a:t>
            </a:r>
            <a:endParaRPr lang="en-US" sz="750" dirty="0"/>
          </a:p>
        </p:txBody>
      </p:sp>
      <p:sp>
        <p:nvSpPr>
          <p:cNvPr id="18" name="Shape 16"/>
          <p:cNvSpPr/>
          <p:nvPr/>
        </p:nvSpPr>
        <p:spPr>
          <a:xfrm>
            <a:off x="5413248" y="2084832"/>
            <a:ext cx="1554480" cy="384048"/>
          </a:xfrm>
          <a:prstGeom prst="rect">
            <a:avLst/>
          </a:prstGeom>
          <a:solidFill>
            <a:srgbClr val="1A2E45"/>
          </a:solidFill>
          <a:ln w="12700">
            <a:solidFill>
              <a:srgbClr val="2A4060"/>
            </a:solidFill>
            <a:prstDash val="solid"/>
          </a:ln>
        </p:spPr>
        <p:txBody>
          <a:bodyPr/>
          <a:lstStyle/>
          <a:p>
            <a:endParaRPr lang="en-GB"/>
          </a:p>
        </p:txBody>
      </p:sp>
      <p:sp>
        <p:nvSpPr>
          <p:cNvPr id="19" name="Text 17"/>
          <p:cNvSpPr/>
          <p:nvPr/>
        </p:nvSpPr>
        <p:spPr>
          <a:xfrm>
            <a:off x="5468112" y="21396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Pipeline / Component</a:t>
            </a:r>
            <a:endParaRPr lang="en-US" sz="750" dirty="0"/>
          </a:p>
        </p:txBody>
      </p:sp>
      <p:sp>
        <p:nvSpPr>
          <p:cNvPr id="20" name="Shape 18"/>
          <p:cNvSpPr/>
          <p:nvPr/>
        </p:nvSpPr>
        <p:spPr>
          <a:xfrm>
            <a:off x="7040880" y="2084832"/>
            <a:ext cx="1554480" cy="384048"/>
          </a:xfrm>
          <a:prstGeom prst="rect">
            <a:avLst/>
          </a:prstGeom>
          <a:solidFill>
            <a:srgbClr val="1A2E45"/>
          </a:solidFill>
          <a:ln w="12700">
            <a:solidFill>
              <a:srgbClr val="2A4060"/>
            </a:solidFill>
            <a:prstDash val="solid"/>
          </a:ln>
        </p:spPr>
        <p:txBody>
          <a:bodyPr/>
          <a:lstStyle/>
          <a:p>
            <a:endParaRPr lang="en-GB"/>
          </a:p>
        </p:txBody>
      </p:sp>
      <p:sp>
        <p:nvSpPr>
          <p:cNvPr id="21" name="Text 19"/>
          <p:cNvSpPr/>
          <p:nvPr/>
        </p:nvSpPr>
        <p:spPr>
          <a:xfrm>
            <a:off x="7095744" y="21396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Severity</a:t>
            </a:r>
            <a:endParaRPr lang="en-US" sz="750" dirty="0"/>
          </a:p>
        </p:txBody>
      </p:sp>
      <p:sp>
        <p:nvSpPr>
          <p:cNvPr id="22" name="Shape 20"/>
          <p:cNvSpPr/>
          <p:nvPr/>
        </p:nvSpPr>
        <p:spPr>
          <a:xfrm>
            <a:off x="530352" y="2542032"/>
            <a:ext cx="1554480" cy="384048"/>
          </a:xfrm>
          <a:prstGeom prst="rect">
            <a:avLst/>
          </a:prstGeom>
          <a:solidFill>
            <a:srgbClr val="1A2E45"/>
          </a:solidFill>
          <a:ln w="12700">
            <a:solidFill>
              <a:srgbClr val="2A4060"/>
            </a:solidFill>
            <a:prstDash val="solid"/>
          </a:ln>
        </p:spPr>
        <p:txBody>
          <a:bodyPr/>
          <a:lstStyle/>
          <a:p>
            <a:endParaRPr lang="en-GB"/>
          </a:p>
        </p:txBody>
      </p:sp>
      <p:sp>
        <p:nvSpPr>
          <p:cNvPr id="23" name="Text 21"/>
          <p:cNvSpPr/>
          <p:nvPr/>
        </p:nvSpPr>
        <p:spPr>
          <a:xfrm>
            <a:off x="585216" y="25968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Description of Failure</a:t>
            </a:r>
            <a:endParaRPr lang="en-US" sz="750" dirty="0"/>
          </a:p>
        </p:txBody>
      </p:sp>
      <p:sp>
        <p:nvSpPr>
          <p:cNvPr id="24" name="Shape 22"/>
          <p:cNvSpPr/>
          <p:nvPr/>
        </p:nvSpPr>
        <p:spPr>
          <a:xfrm>
            <a:off x="2157984" y="2542032"/>
            <a:ext cx="1554480" cy="384048"/>
          </a:xfrm>
          <a:prstGeom prst="rect">
            <a:avLst/>
          </a:prstGeom>
          <a:solidFill>
            <a:srgbClr val="1A2E45"/>
          </a:solidFill>
          <a:ln w="12700">
            <a:solidFill>
              <a:srgbClr val="2A4060"/>
            </a:solidFill>
            <a:prstDash val="solid"/>
          </a:ln>
        </p:spPr>
        <p:txBody>
          <a:bodyPr/>
          <a:lstStyle/>
          <a:p>
            <a:endParaRPr lang="en-GB"/>
          </a:p>
        </p:txBody>
      </p:sp>
      <p:sp>
        <p:nvSpPr>
          <p:cNvPr id="25" name="Text 23"/>
          <p:cNvSpPr/>
          <p:nvPr/>
        </p:nvSpPr>
        <p:spPr>
          <a:xfrm>
            <a:off x="2212848" y="25968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Business Impact</a:t>
            </a:r>
            <a:endParaRPr lang="en-US" sz="750" dirty="0"/>
          </a:p>
        </p:txBody>
      </p:sp>
      <p:sp>
        <p:nvSpPr>
          <p:cNvPr id="26" name="Shape 24"/>
          <p:cNvSpPr/>
          <p:nvPr/>
        </p:nvSpPr>
        <p:spPr>
          <a:xfrm>
            <a:off x="3785616" y="2542032"/>
            <a:ext cx="1554480" cy="384048"/>
          </a:xfrm>
          <a:prstGeom prst="rect">
            <a:avLst/>
          </a:prstGeom>
          <a:solidFill>
            <a:srgbClr val="1A2E45"/>
          </a:solidFill>
          <a:ln w="12700">
            <a:solidFill>
              <a:srgbClr val="2A4060"/>
            </a:solidFill>
            <a:prstDash val="solid"/>
          </a:ln>
        </p:spPr>
        <p:txBody>
          <a:bodyPr/>
          <a:lstStyle/>
          <a:p>
            <a:endParaRPr lang="en-GB"/>
          </a:p>
        </p:txBody>
      </p:sp>
      <p:sp>
        <p:nvSpPr>
          <p:cNvPr id="27" name="Text 25"/>
          <p:cNvSpPr/>
          <p:nvPr/>
        </p:nvSpPr>
        <p:spPr>
          <a:xfrm>
            <a:off x="3840480" y="25968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Root Cause</a:t>
            </a:r>
            <a:endParaRPr lang="en-US" sz="750" dirty="0"/>
          </a:p>
        </p:txBody>
      </p:sp>
      <p:sp>
        <p:nvSpPr>
          <p:cNvPr id="28" name="Shape 26"/>
          <p:cNvSpPr/>
          <p:nvPr/>
        </p:nvSpPr>
        <p:spPr>
          <a:xfrm>
            <a:off x="5413248" y="2542032"/>
            <a:ext cx="1554480" cy="384048"/>
          </a:xfrm>
          <a:prstGeom prst="rect">
            <a:avLst/>
          </a:prstGeom>
          <a:solidFill>
            <a:srgbClr val="1A2E45"/>
          </a:solidFill>
          <a:ln w="12700">
            <a:solidFill>
              <a:srgbClr val="2A4060"/>
            </a:solidFill>
            <a:prstDash val="solid"/>
          </a:ln>
        </p:spPr>
        <p:txBody>
          <a:bodyPr/>
          <a:lstStyle/>
          <a:p>
            <a:endParaRPr lang="en-GB"/>
          </a:p>
        </p:txBody>
      </p:sp>
      <p:sp>
        <p:nvSpPr>
          <p:cNvPr id="29" name="Text 27"/>
          <p:cNvSpPr/>
          <p:nvPr/>
        </p:nvSpPr>
        <p:spPr>
          <a:xfrm>
            <a:off x="5468112" y="25968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Resolution</a:t>
            </a:r>
            <a:endParaRPr lang="en-US" sz="750" dirty="0"/>
          </a:p>
        </p:txBody>
      </p:sp>
      <p:sp>
        <p:nvSpPr>
          <p:cNvPr id="30" name="Shape 28"/>
          <p:cNvSpPr/>
          <p:nvPr/>
        </p:nvSpPr>
        <p:spPr>
          <a:xfrm>
            <a:off x="7040880" y="2542032"/>
            <a:ext cx="1554480" cy="384048"/>
          </a:xfrm>
          <a:prstGeom prst="rect">
            <a:avLst/>
          </a:prstGeom>
          <a:solidFill>
            <a:srgbClr val="1A2E45"/>
          </a:solidFill>
          <a:ln w="12700">
            <a:solidFill>
              <a:srgbClr val="2A4060"/>
            </a:solidFill>
            <a:prstDash val="solid"/>
          </a:ln>
        </p:spPr>
        <p:txBody>
          <a:bodyPr/>
          <a:lstStyle/>
          <a:p>
            <a:endParaRPr lang="en-GB"/>
          </a:p>
        </p:txBody>
      </p:sp>
      <p:sp>
        <p:nvSpPr>
          <p:cNvPr id="31" name="Text 29"/>
          <p:cNvSpPr/>
          <p:nvPr/>
        </p:nvSpPr>
        <p:spPr>
          <a:xfrm>
            <a:off x="7095744" y="25968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Preventive Action</a:t>
            </a:r>
            <a:endParaRPr lang="en-US" sz="750" dirty="0"/>
          </a:p>
        </p:txBody>
      </p:sp>
      <p:sp>
        <p:nvSpPr>
          <p:cNvPr id="32" name="Shape 30"/>
          <p:cNvSpPr/>
          <p:nvPr/>
        </p:nvSpPr>
        <p:spPr>
          <a:xfrm>
            <a:off x="530352" y="2999232"/>
            <a:ext cx="1554480" cy="384048"/>
          </a:xfrm>
          <a:prstGeom prst="rect">
            <a:avLst/>
          </a:prstGeom>
          <a:solidFill>
            <a:srgbClr val="1A2E45"/>
          </a:solidFill>
          <a:ln w="12700">
            <a:solidFill>
              <a:srgbClr val="2A4060"/>
            </a:solidFill>
            <a:prstDash val="solid"/>
          </a:ln>
        </p:spPr>
        <p:txBody>
          <a:bodyPr/>
          <a:lstStyle/>
          <a:p>
            <a:endParaRPr lang="en-GB"/>
          </a:p>
        </p:txBody>
      </p:sp>
      <p:sp>
        <p:nvSpPr>
          <p:cNvPr id="33" name="Text 31"/>
          <p:cNvSpPr/>
          <p:nvPr/>
        </p:nvSpPr>
        <p:spPr>
          <a:xfrm>
            <a:off x="585216" y="30540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Raised By</a:t>
            </a:r>
            <a:endParaRPr lang="en-US" sz="750" dirty="0"/>
          </a:p>
        </p:txBody>
      </p:sp>
      <p:sp>
        <p:nvSpPr>
          <p:cNvPr id="34" name="Shape 32"/>
          <p:cNvSpPr/>
          <p:nvPr/>
        </p:nvSpPr>
        <p:spPr>
          <a:xfrm>
            <a:off x="2157984" y="2999232"/>
            <a:ext cx="1554480" cy="384048"/>
          </a:xfrm>
          <a:prstGeom prst="rect">
            <a:avLst/>
          </a:prstGeom>
          <a:solidFill>
            <a:srgbClr val="1A2E45"/>
          </a:solidFill>
          <a:ln w="12700">
            <a:solidFill>
              <a:srgbClr val="2A4060"/>
            </a:solidFill>
            <a:prstDash val="solid"/>
          </a:ln>
        </p:spPr>
        <p:txBody>
          <a:bodyPr/>
          <a:lstStyle/>
          <a:p>
            <a:endParaRPr lang="en-GB"/>
          </a:p>
        </p:txBody>
      </p:sp>
      <p:sp>
        <p:nvSpPr>
          <p:cNvPr id="35" name="Text 33"/>
          <p:cNvSpPr/>
          <p:nvPr/>
        </p:nvSpPr>
        <p:spPr>
          <a:xfrm>
            <a:off x="2212848" y="30540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Resolved By</a:t>
            </a:r>
            <a:endParaRPr lang="en-US" sz="750" dirty="0"/>
          </a:p>
        </p:txBody>
      </p:sp>
      <p:sp>
        <p:nvSpPr>
          <p:cNvPr id="36" name="Shape 34"/>
          <p:cNvSpPr/>
          <p:nvPr/>
        </p:nvSpPr>
        <p:spPr>
          <a:xfrm>
            <a:off x="3785616" y="2999232"/>
            <a:ext cx="1554480" cy="384048"/>
          </a:xfrm>
          <a:prstGeom prst="rect">
            <a:avLst/>
          </a:prstGeom>
          <a:solidFill>
            <a:srgbClr val="1A2E45"/>
          </a:solidFill>
          <a:ln w="12700">
            <a:solidFill>
              <a:srgbClr val="2A4060"/>
            </a:solidFill>
            <a:prstDash val="solid"/>
          </a:ln>
        </p:spPr>
        <p:txBody>
          <a:bodyPr/>
          <a:lstStyle/>
          <a:p>
            <a:endParaRPr lang="en-GB"/>
          </a:p>
        </p:txBody>
      </p:sp>
      <p:sp>
        <p:nvSpPr>
          <p:cNvPr id="37" name="Text 35"/>
          <p:cNvSpPr/>
          <p:nvPr/>
        </p:nvSpPr>
        <p:spPr>
          <a:xfrm>
            <a:off x="3840480" y="30540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Time to Resolution</a:t>
            </a:r>
            <a:endParaRPr lang="en-US" sz="750" dirty="0"/>
          </a:p>
        </p:txBody>
      </p:sp>
      <p:sp>
        <p:nvSpPr>
          <p:cNvPr id="38" name="Shape 36"/>
          <p:cNvSpPr/>
          <p:nvPr/>
        </p:nvSpPr>
        <p:spPr>
          <a:xfrm>
            <a:off x="5413248" y="2999232"/>
            <a:ext cx="1554480" cy="384048"/>
          </a:xfrm>
          <a:prstGeom prst="rect">
            <a:avLst/>
          </a:prstGeom>
          <a:solidFill>
            <a:srgbClr val="1A2E45"/>
          </a:solidFill>
          <a:ln w="12700">
            <a:solidFill>
              <a:srgbClr val="2A4060"/>
            </a:solidFill>
            <a:prstDash val="solid"/>
          </a:ln>
        </p:spPr>
        <p:txBody>
          <a:bodyPr/>
          <a:lstStyle/>
          <a:p>
            <a:endParaRPr lang="en-GB"/>
          </a:p>
        </p:txBody>
      </p:sp>
      <p:sp>
        <p:nvSpPr>
          <p:cNvPr id="39" name="Text 37"/>
          <p:cNvSpPr/>
          <p:nvPr/>
        </p:nvSpPr>
        <p:spPr>
          <a:xfrm>
            <a:off x="5468112" y="30540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Related ADO Ticket</a:t>
            </a:r>
            <a:endParaRPr lang="en-US" sz="750" dirty="0"/>
          </a:p>
        </p:txBody>
      </p:sp>
      <p:sp>
        <p:nvSpPr>
          <p:cNvPr id="40" name="Shape 38"/>
          <p:cNvSpPr/>
          <p:nvPr/>
        </p:nvSpPr>
        <p:spPr>
          <a:xfrm>
            <a:off x="7040880" y="2999232"/>
            <a:ext cx="1554480" cy="384048"/>
          </a:xfrm>
          <a:prstGeom prst="rect">
            <a:avLst/>
          </a:prstGeom>
          <a:solidFill>
            <a:srgbClr val="1A2E45"/>
          </a:solidFill>
          <a:ln w="12700">
            <a:solidFill>
              <a:srgbClr val="2A4060"/>
            </a:solidFill>
            <a:prstDash val="solid"/>
          </a:ln>
        </p:spPr>
        <p:txBody>
          <a:bodyPr/>
          <a:lstStyle/>
          <a:p>
            <a:endParaRPr lang="en-GB"/>
          </a:p>
        </p:txBody>
      </p:sp>
      <p:sp>
        <p:nvSpPr>
          <p:cNvPr id="41" name="Text 39"/>
          <p:cNvSpPr/>
          <p:nvPr/>
        </p:nvSpPr>
        <p:spPr>
          <a:xfrm>
            <a:off x="7095744" y="3054096"/>
            <a:ext cx="1444752" cy="274320"/>
          </a:xfrm>
          <a:prstGeom prst="rect">
            <a:avLst/>
          </a:prstGeom>
          <a:noFill/>
          <a:ln/>
        </p:spPr>
        <p:txBody>
          <a:bodyPr wrap="square" lIns="0" tIns="0" rIns="0" bIns="0" rtlCol="0" anchor="ctr"/>
          <a:lstStyle/>
          <a:p>
            <a:pPr marL="0" indent="0">
              <a:buNone/>
            </a:pPr>
            <a:r>
              <a:rPr lang="en-US" sz="750" dirty="0">
                <a:solidFill>
                  <a:srgbClr val="9DB8D0"/>
                </a:solidFill>
                <a:latin typeface="Calibri" pitchFamily="34" charset="0"/>
                <a:ea typeface="Calibri" pitchFamily="34" charset="-122"/>
                <a:cs typeface="Calibri" pitchFamily="34" charset="-120"/>
              </a:rPr>
              <a:t>Status</a:t>
            </a:r>
            <a:endParaRPr lang="en-US" sz="750" dirty="0"/>
          </a:p>
        </p:txBody>
      </p:sp>
      <p:sp>
        <p:nvSpPr>
          <p:cNvPr id="42" name="Shape 40"/>
          <p:cNvSpPr/>
          <p:nvPr/>
        </p:nvSpPr>
        <p:spPr>
          <a:xfrm>
            <a:off x="365760" y="3712464"/>
            <a:ext cx="8412480" cy="39319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43" name="Shape 41"/>
          <p:cNvSpPr/>
          <p:nvPr/>
        </p:nvSpPr>
        <p:spPr>
          <a:xfrm>
            <a:off x="365760" y="3712464"/>
            <a:ext cx="50292" cy="393192"/>
          </a:xfrm>
          <a:prstGeom prst="rect">
            <a:avLst/>
          </a:prstGeom>
          <a:solidFill>
            <a:srgbClr val="16A34A"/>
          </a:solidFill>
          <a:ln w="12700">
            <a:solidFill>
              <a:srgbClr val="16A34A"/>
            </a:solidFill>
            <a:prstDash val="solid"/>
          </a:ln>
        </p:spPr>
        <p:txBody>
          <a:bodyPr/>
          <a:lstStyle/>
          <a:p>
            <a:endParaRPr lang="en-GB"/>
          </a:p>
        </p:txBody>
      </p:sp>
      <p:sp>
        <p:nvSpPr>
          <p:cNvPr id="44" name="Text 42"/>
          <p:cNvSpPr/>
          <p:nvPr/>
        </p:nvSpPr>
        <p:spPr>
          <a:xfrm>
            <a:off x="530352" y="3749040"/>
            <a:ext cx="5029200" cy="201168"/>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Immediate: Create the Production Issues Log in Confluence</a:t>
            </a:r>
            <a:endParaRPr lang="en-US" sz="950" dirty="0"/>
          </a:p>
        </p:txBody>
      </p:sp>
      <p:sp>
        <p:nvSpPr>
          <p:cNvPr id="45" name="Text 43"/>
          <p:cNvSpPr/>
          <p:nvPr/>
        </p:nvSpPr>
        <p:spPr>
          <a:xfrm>
            <a:off x="530352" y="3931920"/>
            <a:ext cx="7863840" cy="164592"/>
          </a:xfrm>
          <a:prstGeom prst="rect">
            <a:avLst/>
          </a:prstGeom>
          <a:noFill/>
          <a:ln/>
        </p:spPr>
        <p:txBody>
          <a:bodyPr wrap="square" lIns="0" tIns="0" rIns="0" bIns="0" rtlCol="0" anchor="ctr"/>
          <a:lstStyle/>
          <a:p>
            <a:pPr marL="0" indent="0">
              <a:buNone/>
            </a:pPr>
            <a:r>
              <a:rPr lang="en-US" sz="800" dirty="0">
                <a:solidFill>
                  <a:srgbClr val="5A6E8C"/>
                </a:solidFill>
                <a:latin typeface="Calibri" pitchFamily="34" charset="0"/>
                <a:ea typeface="Calibri" pitchFamily="34" charset="-122"/>
                <a:cs typeface="Calibri" pitchFamily="34" charset="-120"/>
              </a:rPr>
              <a:t>Today. One page. The template above. Anyone on the team can create it. The decision to use it needs to come from the team lead.</a:t>
            </a:r>
            <a:endParaRPr lang="en-US" sz="800" dirty="0"/>
          </a:p>
        </p:txBody>
      </p:sp>
      <p:sp>
        <p:nvSpPr>
          <p:cNvPr id="46" name="Shape 44"/>
          <p:cNvSpPr/>
          <p:nvPr/>
        </p:nvSpPr>
        <p:spPr>
          <a:xfrm>
            <a:off x="365760" y="4187952"/>
            <a:ext cx="8412480" cy="39319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47" name="Shape 45"/>
          <p:cNvSpPr/>
          <p:nvPr/>
        </p:nvSpPr>
        <p:spPr>
          <a:xfrm>
            <a:off x="365760" y="4187952"/>
            <a:ext cx="50292" cy="393192"/>
          </a:xfrm>
          <a:prstGeom prst="rect">
            <a:avLst/>
          </a:prstGeom>
          <a:solidFill>
            <a:srgbClr val="F59E0B"/>
          </a:solidFill>
          <a:ln w="12700">
            <a:solidFill>
              <a:srgbClr val="F59E0B"/>
            </a:solidFill>
            <a:prstDash val="solid"/>
          </a:ln>
        </p:spPr>
        <p:txBody>
          <a:bodyPr/>
          <a:lstStyle/>
          <a:p>
            <a:endParaRPr lang="en-GB"/>
          </a:p>
        </p:txBody>
      </p:sp>
      <p:sp>
        <p:nvSpPr>
          <p:cNvPr id="48" name="Text 46"/>
          <p:cNvSpPr/>
          <p:nvPr/>
        </p:nvSpPr>
        <p:spPr>
          <a:xfrm>
            <a:off x="530352" y="4224528"/>
            <a:ext cx="5029200" cy="201168"/>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Mandatory Incident Write-Up Policy</a:t>
            </a:r>
            <a:endParaRPr lang="en-US" sz="950" dirty="0"/>
          </a:p>
        </p:txBody>
      </p:sp>
      <p:sp>
        <p:nvSpPr>
          <p:cNvPr id="49" name="Text 47"/>
          <p:cNvSpPr/>
          <p:nvPr/>
        </p:nvSpPr>
        <p:spPr>
          <a:xfrm>
            <a:off x="530352" y="4407408"/>
            <a:ext cx="7863840" cy="164592"/>
          </a:xfrm>
          <a:prstGeom prst="rect">
            <a:avLst/>
          </a:prstGeom>
          <a:noFill/>
          <a:ln/>
        </p:spPr>
        <p:txBody>
          <a:bodyPr wrap="square" lIns="0" tIns="0" rIns="0" bIns="0" rtlCol="0" anchor="ctr"/>
          <a:lstStyle/>
          <a:p>
            <a:pPr marL="0" indent="0">
              <a:buNone/>
            </a:pPr>
            <a:r>
              <a:rPr lang="en-US" sz="800" dirty="0">
                <a:solidFill>
                  <a:srgbClr val="5A6E8C"/>
                </a:solidFill>
                <a:latin typeface="Calibri" pitchFamily="34" charset="0"/>
                <a:ea typeface="Calibri" pitchFamily="34" charset="-122"/>
                <a:cs typeface="Calibri" pitchFamily="34" charset="-120"/>
              </a:rPr>
              <a:t>Any production issue with a severity of Medium or above must have a 200-word write-up completed within 48 hours of resolution. Not optional. Linked from the ADO ticket.</a:t>
            </a:r>
            <a:endParaRPr lang="en-US" sz="800" dirty="0"/>
          </a:p>
        </p:txBody>
      </p:sp>
      <p:sp>
        <p:nvSpPr>
          <p:cNvPr id="50" name="Shape 48"/>
          <p:cNvSpPr/>
          <p:nvPr/>
        </p:nvSpPr>
        <p:spPr>
          <a:xfrm>
            <a:off x="365760" y="4663440"/>
            <a:ext cx="8412480" cy="393192"/>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51" name="Shape 49"/>
          <p:cNvSpPr/>
          <p:nvPr/>
        </p:nvSpPr>
        <p:spPr>
          <a:xfrm>
            <a:off x="365760" y="4663440"/>
            <a:ext cx="50292" cy="393192"/>
          </a:xfrm>
          <a:prstGeom prst="rect">
            <a:avLst/>
          </a:prstGeom>
          <a:solidFill>
            <a:srgbClr val="0E7C7B"/>
          </a:solidFill>
          <a:ln w="12700">
            <a:solidFill>
              <a:srgbClr val="0E7C7B"/>
            </a:solidFill>
            <a:prstDash val="solid"/>
          </a:ln>
        </p:spPr>
        <p:txBody>
          <a:bodyPr/>
          <a:lstStyle/>
          <a:p>
            <a:endParaRPr lang="en-GB"/>
          </a:p>
        </p:txBody>
      </p:sp>
      <p:sp>
        <p:nvSpPr>
          <p:cNvPr id="52" name="Text 50"/>
          <p:cNvSpPr/>
          <p:nvPr/>
        </p:nvSpPr>
        <p:spPr>
          <a:xfrm>
            <a:off x="530352" y="4700016"/>
            <a:ext cx="5029200" cy="201168"/>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Monthly Pattern Review</a:t>
            </a:r>
            <a:endParaRPr lang="en-US" sz="950" dirty="0"/>
          </a:p>
        </p:txBody>
      </p:sp>
      <p:sp>
        <p:nvSpPr>
          <p:cNvPr id="53" name="Text 51"/>
          <p:cNvSpPr/>
          <p:nvPr/>
        </p:nvSpPr>
        <p:spPr>
          <a:xfrm>
            <a:off x="530352" y="4882896"/>
            <a:ext cx="7863840" cy="164592"/>
          </a:xfrm>
          <a:prstGeom prst="rect">
            <a:avLst/>
          </a:prstGeom>
          <a:noFill/>
          <a:ln/>
        </p:spPr>
        <p:txBody>
          <a:bodyPr wrap="square" lIns="0" tIns="0" rIns="0" bIns="0" rtlCol="0" anchor="ctr"/>
          <a:lstStyle/>
          <a:p>
            <a:pPr marL="0" indent="0">
              <a:buNone/>
            </a:pPr>
            <a:r>
              <a:rPr lang="en-US" sz="800" dirty="0">
                <a:solidFill>
                  <a:srgbClr val="5A6E8C"/>
                </a:solidFill>
                <a:latin typeface="Calibri" pitchFamily="34" charset="0"/>
                <a:ea typeface="Calibri" pitchFamily="34" charset="-122"/>
                <a:cs typeface="Calibri" pitchFamily="34" charset="-120"/>
              </a:rPr>
              <a:t>Once per month, the QA Lead reviews the log for patterns. Findings are shared in the next team retrospective with proposed preventive actions converted into ADO tickets.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08 · Performance, Metrics &amp; Baselines</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You cannot improve what you have never measured</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16 / 22</a:t>
            </a:r>
            <a:endParaRPr lang="en-US" sz="900" dirty="0"/>
          </a:p>
        </p:txBody>
      </p:sp>
      <p:sp>
        <p:nvSpPr>
          <p:cNvPr id="7" name="Shape 5"/>
          <p:cNvSpPr/>
          <p:nvPr/>
        </p:nvSpPr>
        <p:spPr>
          <a:xfrm>
            <a:off x="365760" y="932688"/>
            <a:ext cx="1417320" cy="256032"/>
          </a:xfrm>
          <a:prstGeom prst="rect">
            <a:avLst/>
          </a:prstGeom>
          <a:solidFill>
            <a:srgbClr val="F59E0B"/>
          </a:solidFill>
          <a:ln w="12700">
            <a:solidFill>
              <a:srgbClr val="F59E0B"/>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 PRIORITY GAP</a:t>
            </a:r>
            <a:endParaRPr lang="en-US" sz="800" dirty="0"/>
          </a:p>
        </p:txBody>
      </p:sp>
      <p:sp>
        <p:nvSpPr>
          <p:cNvPr id="9" name="Text 7"/>
          <p:cNvSpPr/>
          <p:nvPr/>
        </p:nvSpPr>
        <p:spPr>
          <a:xfrm>
            <a:off x="365760" y="1234440"/>
            <a:ext cx="8412480" cy="566928"/>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Performance and reliability criteria are not being defined at project inception. There are no volume KPIs, no performance baselines, no NFR documentation, and no production metrics available to the team. As a result, performance issues pass through undetected until they become production incidents.</a:t>
            </a:r>
            <a:endParaRPr lang="en-US" sz="1050" dirty="0"/>
          </a:p>
        </p:txBody>
      </p:sp>
      <p:sp>
        <p:nvSpPr>
          <p:cNvPr id="10" name="Shape 8"/>
          <p:cNvSpPr/>
          <p:nvPr/>
        </p:nvSpPr>
        <p:spPr>
          <a:xfrm>
            <a:off x="365760" y="1901952"/>
            <a:ext cx="2697480" cy="1005840"/>
          </a:xfrm>
          <a:prstGeom prst="rect">
            <a:avLst/>
          </a:prstGeom>
          <a:solidFill>
            <a:srgbClr val="1A0A0A"/>
          </a:solidFill>
          <a:ln w="12700">
            <a:solidFill>
              <a:srgbClr val="1A0A0A"/>
            </a:solidFill>
            <a:prstDash val="solid"/>
          </a:ln>
          <a:effectLst>
            <a:outerShdw blurRad="127000" dist="38100" dir="8100000" algn="bl" rotWithShape="0">
              <a:srgbClr val="000000">
                <a:alpha val="10000"/>
              </a:srgbClr>
            </a:outerShdw>
          </a:effectLst>
        </p:spPr>
        <p:txBody>
          <a:bodyPr/>
          <a:lstStyle/>
          <a:p>
            <a:endParaRPr lang="en-GB"/>
          </a:p>
        </p:txBody>
      </p:sp>
      <p:sp>
        <p:nvSpPr>
          <p:cNvPr id="11" name="Shape 9"/>
          <p:cNvSpPr/>
          <p:nvPr/>
        </p:nvSpPr>
        <p:spPr>
          <a:xfrm>
            <a:off x="365760" y="1901952"/>
            <a:ext cx="2697480" cy="64008"/>
          </a:xfrm>
          <a:prstGeom prst="rect">
            <a:avLst/>
          </a:prstGeom>
          <a:solidFill>
            <a:srgbClr val="E8453C"/>
          </a:solidFill>
          <a:ln w="12700">
            <a:solidFill>
              <a:srgbClr val="E8453C"/>
            </a:solidFill>
            <a:prstDash val="solid"/>
          </a:ln>
        </p:spPr>
        <p:txBody>
          <a:bodyPr/>
          <a:lstStyle/>
          <a:p>
            <a:endParaRPr lang="en-GB"/>
          </a:p>
        </p:txBody>
      </p:sp>
      <p:sp>
        <p:nvSpPr>
          <p:cNvPr id="12" name="Text 10"/>
          <p:cNvSpPr/>
          <p:nvPr/>
        </p:nvSpPr>
        <p:spPr>
          <a:xfrm>
            <a:off x="457200" y="2011680"/>
            <a:ext cx="2514600" cy="594360"/>
          </a:xfrm>
          <a:prstGeom prst="rect">
            <a:avLst/>
          </a:prstGeom>
          <a:noFill/>
          <a:ln/>
        </p:spPr>
        <p:txBody>
          <a:bodyPr wrap="square" lIns="0" tIns="0" rIns="0" bIns="0" rtlCol="0" anchor="ctr"/>
          <a:lstStyle/>
          <a:p>
            <a:pPr marL="0" indent="0" algn="ctr">
              <a:buNone/>
            </a:pPr>
            <a:r>
              <a:rPr lang="en-US" sz="5200" b="1" dirty="0">
                <a:solidFill>
                  <a:srgbClr val="E8453C"/>
                </a:solidFill>
                <a:latin typeface="Calibri" pitchFamily="34" charset="0"/>
                <a:ea typeface="Calibri" pitchFamily="34" charset="-122"/>
                <a:cs typeface="Calibri" pitchFamily="34" charset="-120"/>
              </a:rPr>
              <a:t>0</a:t>
            </a:r>
            <a:endParaRPr lang="en-US" sz="5200" dirty="0"/>
          </a:p>
        </p:txBody>
      </p:sp>
      <p:sp>
        <p:nvSpPr>
          <p:cNvPr id="13" name="Text 11"/>
          <p:cNvSpPr/>
          <p:nvPr/>
        </p:nvSpPr>
        <p:spPr>
          <a:xfrm>
            <a:off x="457200" y="2633472"/>
            <a:ext cx="2514600" cy="228600"/>
          </a:xfrm>
          <a:prstGeom prst="rect">
            <a:avLst/>
          </a:prstGeom>
          <a:noFill/>
          <a:ln/>
        </p:spPr>
        <p:txBody>
          <a:bodyPr wrap="square" lIns="0" tIns="0" rIns="0" bIns="0" rtlCol="0" anchor="ctr"/>
          <a:lstStyle/>
          <a:p>
            <a:pPr marL="0" indent="0" algn="ctr">
              <a:buNone/>
            </a:pPr>
            <a:r>
              <a:rPr lang="en-US" sz="800" dirty="0">
                <a:solidFill>
                  <a:srgbClr val="C4D4E5"/>
                </a:solidFill>
                <a:latin typeface="Calibri" pitchFamily="34" charset="0"/>
                <a:ea typeface="Calibri" pitchFamily="34" charset="-122"/>
                <a:cs typeface="Calibri" pitchFamily="34" charset="-120"/>
              </a:rPr>
              <a:t>Volume KPIs defined at project start</a:t>
            </a:r>
            <a:endParaRPr lang="en-US" sz="800" dirty="0"/>
          </a:p>
        </p:txBody>
      </p:sp>
      <p:sp>
        <p:nvSpPr>
          <p:cNvPr id="14" name="Shape 12"/>
          <p:cNvSpPr/>
          <p:nvPr/>
        </p:nvSpPr>
        <p:spPr>
          <a:xfrm>
            <a:off x="3200400" y="1901952"/>
            <a:ext cx="2697480" cy="1005840"/>
          </a:xfrm>
          <a:prstGeom prst="rect">
            <a:avLst/>
          </a:prstGeom>
          <a:solidFill>
            <a:srgbClr val="1A0A0A"/>
          </a:solidFill>
          <a:ln w="12700">
            <a:solidFill>
              <a:srgbClr val="1A0A0A"/>
            </a:solidFill>
            <a:prstDash val="solid"/>
          </a:ln>
          <a:effectLst>
            <a:outerShdw blurRad="127000" dist="38100" dir="8100000" algn="bl" rotWithShape="0">
              <a:srgbClr val="000000">
                <a:alpha val="10000"/>
              </a:srgbClr>
            </a:outerShdw>
          </a:effectLst>
        </p:spPr>
        <p:txBody>
          <a:bodyPr/>
          <a:lstStyle/>
          <a:p>
            <a:endParaRPr lang="en-GB"/>
          </a:p>
        </p:txBody>
      </p:sp>
      <p:sp>
        <p:nvSpPr>
          <p:cNvPr id="15" name="Shape 13"/>
          <p:cNvSpPr/>
          <p:nvPr/>
        </p:nvSpPr>
        <p:spPr>
          <a:xfrm>
            <a:off x="3200400" y="1901952"/>
            <a:ext cx="2697480" cy="64008"/>
          </a:xfrm>
          <a:prstGeom prst="rect">
            <a:avLst/>
          </a:prstGeom>
          <a:solidFill>
            <a:srgbClr val="E8453C"/>
          </a:solidFill>
          <a:ln w="12700">
            <a:solidFill>
              <a:srgbClr val="E8453C"/>
            </a:solidFill>
            <a:prstDash val="solid"/>
          </a:ln>
        </p:spPr>
        <p:txBody>
          <a:bodyPr/>
          <a:lstStyle/>
          <a:p>
            <a:endParaRPr lang="en-GB"/>
          </a:p>
        </p:txBody>
      </p:sp>
      <p:sp>
        <p:nvSpPr>
          <p:cNvPr id="16" name="Text 14"/>
          <p:cNvSpPr/>
          <p:nvPr/>
        </p:nvSpPr>
        <p:spPr>
          <a:xfrm>
            <a:off x="3291840" y="2011680"/>
            <a:ext cx="2514600" cy="594360"/>
          </a:xfrm>
          <a:prstGeom prst="rect">
            <a:avLst/>
          </a:prstGeom>
          <a:noFill/>
          <a:ln/>
        </p:spPr>
        <p:txBody>
          <a:bodyPr wrap="square" lIns="0" tIns="0" rIns="0" bIns="0" rtlCol="0" anchor="ctr"/>
          <a:lstStyle/>
          <a:p>
            <a:pPr marL="0" indent="0" algn="ctr">
              <a:buNone/>
            </a:pPr>
            <a:r>
              <a:rPr lang="en-US" sz="5200" b="1" dirty="0">
                <a:solidFill>
                  <a:srgbClr val="E8453C"/>
                </a:solidFill>
                <a:latin typeface="Calibri" pitchFamily="34" charset="0"/>
                <a:ea typeface="Calibri" pitchFamily="34" charset="-122"/>
                <a:cs typeface="Calibri" pitchFamily="34" charset="-120"/>
              </a:rPr>
              <a:t>0</a:t>
            </a:r>
            <a:endParaRPr lang="en-US" sz="5200" dirty="0"/>
          </a:p>
        </p:txBody>
      </p:sp>
      <p:sp>
        <p:nvSpPr>
          <p:cNvPr id="17" name="Text 15"/>
          <p:cNvSpPr/>
          <p:nvPr/>
        </p:nvSpPr>
        <p:spPr>
          <a:xfrm>
            <a:off x="3291840" y="2633472"/>
            <a:ext cx="2514600" cy="228600"/>
          </a:xfrm>
          <a:prstGeom prst="rect">
            <a:avLst/>
          </a:prstGeom>
          <a:noFill/>
          <a:ln/>
        </p:spPr>
        <p:txBody>
          <a:bodyPr wrap="square" lIns="0" tIns="0" rIns="0" bIns="0" rtlCol="0" anchor="ctr"/>
          <a:lstStyle/>
          <a:p>
            <a:pPr marL="0" indent="0" algn="ctr">
              <a:buNone/>
            </a:pPr>
            <a:r>
              <a:rPr lang="en-US" sz="800" dirty="0">
                <a:solidFill>
                  <a:srgbClr val="C4D4E5"/>
                </a:solidFill>
                <a:latin typeface="Calibri" pitchFamily="34" charset="0"/>
                <a:ea typeface="Calibri" pitchFamily="34" charset="-122"/>
                <a:cs typeface="Calibri" pitchFamily="34" charset="-120"/>
              </a:rPr>
              <a:t>Performance baselines established across projects</a:t>
            </a:r>
            <a:endParaRPr lang="en-US" sz="800" dirty="0"/>
          </a:p>
        </p:txBody>
      </p:sp>
      <p:sp>
        <p:nvSpPr>
          <p:cNvPr id="18" name="Shape 16"/>
          <p:cNvSpPr/>
          <p:nvPr/>
        </p:nvSpPr>
        <p:spPr>
          <a:xfrm>
            <a:off x="6035040" y="1901952"/>
            <a:ext cx="2697480" cy="1005840"/>
          </a:xfrm>
          <a:prstGeom prst="rect">
            <a:avLst/>
          </a:prstGeom>
          <a:solidFill>
            <a:srgbClr val="1A0A0A"/>
          </a:solidFill>
          <a:ln w="12700">
            <a:solidFill>
              <a:srgbClr val="1A0A0A"/>
            </a:solidFill>
            <a:prstDash val="solid"/>
          </a:ln>
          <a:effectLst>
            <a:outerShdw blurRad="127000" dist="38100" dir="8100000" algn="bl" rotWithShape="0">
              <a:srgbClr val="000000">
                <a:alpha val="10000"/>
              </a:srgbClr>
            </a:outerShdw>
          </a:effectLst>
        </p:spPr>
        <p:txBody>
          <a:bodyPr/>
          <a:lstStyle/>
          <a:p>
            <a:endParaRPr lang="en-GB"/>
          </a:p>
        </p:txBody>
      </p:sp>
      <p:sp>
        <p:nvSpPr>
          <p:cNvPr id="19" name="Shape 17"/>
          <p:cNvSpPr/>
          <p:nvPr/>
        </p:nvSpPr>
        <p:spPr>
          <a:xfrm>
            <a:off x="6035040" y="1901952"/>
            <a:ext cx="2697480" cy="64008"/>
          </a:xfrm>
          <a:prstGeom prst="rect">
            <a:avLst/>
          </a:prstGeom>
          <a:solidFill>
            <a:srgbClr val="E8453C"/>
          </a:solidFill>
          <a:ln w="12700">
            <a:solidFill>
              <a:srgbClr val="E8453C"/>
            </a:solidFill>
            <a:prstDash val="solid"/>
          </a:ln>
        </p:spPr>
        <p:txBody>
          <a:bodyPr/>
          <a:lstStyle/>
          <a:p>
            <a:endParaRPr lang="en-GB"/>
          </a:p>
        </p:txBody>
      </p:sp>
      <p:sp>
        <p:nvSpPr>
          <p:cNvPr id="20" name="Text 18"/>
          <p:cNvSpPr/>
          <p:nvPr/>
        </p:nvSpPr>
        <p:spPr>
          <a:xfrm>
            <a:off x="6126480" y="2011680"/>
            <a:ext cx="2514600" cy="594360"/>
          </a:xfrm>
          <a:prstGeom prst="rect">
            <a:avLst/>
          </a:prstGeom>
          <a:noFill/>
          <a:ln/>
        </p:spPr>
        <p:txBody>
          <a:bodyPr wrap="square" lIns="0" tIns="0" rIns="0" bIns="0" rtlCol="0" anchor="ctr"/>
          <a:lstStyle/>
          <a:p>
            <a:pPr marL="0" indent="0" algn="ctr">
              <a:buNone/>
            </a:pPr>
            <a:r>
              <a:rPr lang="en-US" sz="5200" b="1" dirty="0">
                <a:solidFill>
                  <a:srgbClr val="E8453C"/>
                </a:solidFill>
                <a:latin typeface="Calibri" pitchFamily="34" charset="0"/>
                <a:ea typeface="Calibri" pitchFamily="34" charset="-122"/>
                <a:cs typeface="Calibri" pitchFamily="34" charset="-120"/>
              </a:rPr>
              <a:t>0</a:t>
            </a:r>
            <a:endParaRPr lang="en-US" sz="5200" dirty="0"/>
          </a:p>
        </p:txBody>
      </p:sp>
      <p:sp>
        <p:nvSpPr>
          <p:cNvPr id="21" name="Text 19"/>
          <p:cNvSpPr/>
          <p:nvPr/>
        </p:nvSpPr>
        <p:spPr>
          <a:xfrm>
            <a:off x="6126480" y="2633472"/>
            <a:ext cx="2514600" cy="228600"/>
          </a:xfrm>
          <a:prstGeom prst="rect">
            <a:avLst/>
          </a:prstGeom>
          <a:noFill/>
          <a:ln/>
        </p:spPr>
        <p:txBody>
          <a:bodyPr wrap="square" lIns="0" tIns="0" rIns="0" bIns="0" rtlCol="0" anchor="ctr"/>
          <a:lstStyle/>
          <a:p>
            <a:pPr marL="0" indent="0" algn="ctr">
              <a:buNone/>
            </a:pPr>
            <a:r>
              <a:rPr lang="en-US" sz="800" dirty="0">
                <a:solidFill>
                  <a:srgbClr val="C4D4E5"/>
                </a:solidFill>
                <a:latin typeface="Calibri" pitchFamily="34" charset="0"/>
                <a:ea typeface="Calibri" pitchFamily="34" charset="-122"/>
                <a:cs typeface="Calibri" pitchFamily="34" charset="-120"/>
              </a:rPr>
              <a:t>Production throughput metrics visible to QA</a:t>
            </a:r>
            <a:endParaRPr lang="en-US" sz="800" dirty="0"/>
          </a:p>
        </p:txBody>
      </p:sp>
      <p:sp>
        <p:nvSpPr>
          <p:cNvPr id="22" name="Shape 20"/>
          <p:cNvSpPr/>
          <p:nvPr/>
        </p:nvSpPr>
        <p:spPr>
          <a:xfrm>
            <a:off x="365760" y="2999232"/>
            <a:ext cx="4160520" cy="93268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3" name="Shape 21"/>
          <p:cNvSpPr/>
          <p:nvPr/>
        </p:nvSpPr>
        <p:spPr>
          <a:xfrm>
            <a:off x="365760" y="2999232"/>
            <a:ext cx="50292" cy="932688"/>
          </a:xfrm>
          <a:prstGeom prst="rect">
            <a:avLst/>
          </a:prstGeom>
          <a:solidFill>
            <a:srgbClr val="16A34A"/>
          </a:solidFill>
          <a:ln w="12700">
            <a:solidFill>
              <a:srgbClr val="16A34A"/>
            </a:solidFill>
            <a:prstDash val="solid"/>
          </a:ln>
        </p:spPr>
        <p:txBody>
          <a:bodyPr/>
          <a:lstStyle/>
          <a:p>
            <a:endParaRPr lang="en-GB"/>
          </a:p>
        </p:txBody>
      </p:sp>
      <p:sp>
        <p:nvSpPr>
          <p:cNvPr id="24" name="Text 22"/>
          <p:cNvSpPr/>
          <p:nvPr/>
        </p:nvSpPr>
        <p:spPr>
          <a:xfrm>
            <a:off x="493776" y="3063240"/>
            <a:ext cx="3931920" cy="274320"/>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Define NFRs and Performance KPIs at Project Kick-Off</a:t>
            </a:r>
            <a:endParaRPr lang="en-US" sz="950" dirty="0"/>
          </a:p>
        </p:txBody>
      </p:sp>
      <p:sp>
        <p:nvSpPr>
          <p:cNvPr id="25" name="Text 23"/>
          <p:cNvSpPr/>
          <p:nvPr/>
        </p:nvSpPr>
        <p:spPr>
          <a:xfrm>
            <a:off x="493776" y="3364992"/>
            <a:ext cx="3931920" cy="502920"/>
          </a:xfrm>
          <a:prstGeom prst="rect">
            <a:avLst/>
          </a:prstGeom>
          <a:noFill/>
          <a:ln/>
        </p:spPr>
        <p:txBody>
          <a:bodyPr wrap="square" lIns="0" tIns="0" rIns="0" bIns="0" rtlCol="0" anchor="ctr"/>
          <a:lstStyle/>
          <a:p>
            <a:pPr marL="0" indent="0">
              <a:buNone/>
            </a:pPr>
            <a:r>
              <a:rPr lang="en-US" sz="800" dirty="0">
                <a:solidFill>
                  <a:srgbClr val="5A6E8C"/>
                </a:solidFill>
                <a:latin typeface="Calibri" pitchFamily="34" charset="0"/>
                <a:ea typeface="Calibri" pitchFamily="34" charset="-122"/>
                <a:cs typeface="Calibri" pitchFamily="34" charset="-120"/>
              </a:rPr>
              <a:t>Every project inception must include: expected data volume, acceptable pipeline run time, maximum error rate, and data freshness requirements. These are documented, agreed with the business, and form the basis of performance test scenarios.</a:t>
            </a:r>
            <a:endParaRPr lang="en-US" sz="800" dirty="0"/>
          </a:p>
        </p:txBody>
      </p:sp>
      <p:sp>
        <p:nvSpPr>
          <p:cNvPr id="26" name="Shape 24"/>
          <p:cNvSpPr/>
          <p:nvPr/>
        </p:nvSpPr>
        <p:spPr>
          <a:xfrm>
            <a:off x="4663440" y="2999232"/>
            <a:ext cx="4160520" cy="93268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7" name="Shape 25"/>
          <p:cNvSpPr/>
          <p:nvPr/>
        </p:nvSpPr>
        <p:spPr>
          <a:xfrm>
            <a:off x="4663440" y="2999232"/>
            <a:ext cx="50292" cy="932688"/>
          </a:xfrm>
          <a:prstGeom prst="rect">
            <a:avLst/>
          </a:prstGeom>
          <a:solidFill>
            <a:srgbClr val="16A34A"/>
          </a:solidFill>
          <a:ln w="12700">
            <a:solidFill>
              <a:srgbClr val="16A34A"/>
            </a:solidFill>
            <a:prstDash val="solid"/>
          </a:ln>
        </p:spPr>
        <p:txBody>
          <a:bodyPr/>
          <a:lstStyle/>
          <a:p>
            <a:endParaRPr lang="en-GB"/>
          </a:p>
        </p:txBody>
      </p:sp>
      <p:sp>
        <p:nvSpPr>
          <p:cNvPr id="28" name="Text 26"/>
          <p:cNvSpPr/>
          <p:nvPr/>
        </p:nvSpPr>
        <p:spPr>
          <a:xfrm>
            <a:off x="4791456" y="3063240"/>
            <a:ext cx="3931920" cy="274320"/>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Establish Baselines in the First Delivery Sprint</a:t>
            </a:r>
            <a:endParaRPr lang="en-US" sz="950" dirty="0"/>
          </a:p>
        </p:txBody>
      </p:sp>
      <p:sp>
        <p:nvSpPr>
          <p:cNvPr id="29" name="Text 27"/>
          <p:cNvSpPr/>
          <p:nvPr/>
        </p:nvSpPr>
        <p:spPr>
          <a:xfrm>
            <a:off x="4791456" y="3364992"/>
            <a:ext cx="3931920" cy="502920"/>
          </a:xfrm>
          <a:prstGeom prst="rect">
            <a:avLst/>
          </a:prstGeom>
          <a:noFill/>
          <a:ln/>
        </p:spPr>
        <p:txBody>
          <a:bodyPr wrap="square" lIns="0" tIns="0" rIns="0" bIns="0" rtlCol="0" anchor="ctr"/>
          <a:lstStyle/>
          <a:p>
            <a:pPr marL="0" indent="0">
              <a:buNone/>
            </a:pPr>
            <a:r>
              <a:rPr lang="en-US" sz="800" dirty="0">
                <a:solidFill>
                  <a:srgbClr val="5A6E8C"/>
                </a:solidFill>
                <a:latin typeface="Calibri" pitchFamily="34" charset="0"/>
                <a:ea typeface="Calibri" pitchFamily="34" charset="-122"/>
                <a:cs typeface="Calibri" pitchFamily="34" charset="-120"/>
              </a:rPr>
              <a:t>Before any feature delivery is accepted, a baseline pipeline performance run must be recorded. This is the reference point against which all future deliveries are compared. Without a baseline, performance regression is invisible.</a:t>
            </a:r>
            <a:endParaRPr lang="en-US" sz="800" dirty="0"/>
          </a:p>
        </p:txBody>
      </p:sp>
      <p:sp>
        <p:nvSpPr>
          <p:cNvPr id="30" name="Shape 28"/>
          <p:cNvSpPr/>
          <p:nvPr/>
        </p:nvSpPr>
        <p:spPr>
          <a:xfrm>
            <a:off x="365760" y="4023360"/>
            <a:ext cx="4160520" cy="93268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31" name="Shape 29"/>
          <p:cNvSpPr/>
          <p:nvPr/>
        </p:nvSpPr>
        <p:spPr>
          <a:xfrm>
            <a:off x="365760" y="4023360"/>
            <a:ext cx="50292" cy="932688"/>
          </a:xfrm>
          <a:prstGeom prst="rect">
            <a:avLst/>
          </a:prstGeom>
          <a:solidFill>
            <a:srgbClr val="0E7C7B"/>
          </a:solidFill>
          <a:ln w="12700">
            <a:solidFill>
              <a:srgbClr val="0E7C7B"/>
            </a:solidFill>
            <a:prstDash val="solid"/>
          </a:ln>
        </p:spPr>
        <p:txBody>
          <a:bodyPr/>
          <a:lstStyle/>
          <a:p>
            <a:endParaRPr lang="en-GB"/>
          </a:p>
        </p:txBody>
      </p:sp>
      <p:sp>
        <p:nvSpPr>
          <p:cNvPr id="32" name="Text 30"/>
          <p:cNvSpPr/>
          <p:nvPr/>
        </p:nvSpPr>
        <p:spPr>
          <a:xfrm>
            <a:off x="493776" y="4087368"/>
            <a:ext cx="3931920" cy="274320"/>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Request Production Metrics Access for the QA Function</a:t>
            </a:r>
            <a:endParaRPr lang="en-US" sz="950" dirty="0"/>
          </a:p>
        </p:txBody>
      </p:sp>
      <p:sp>
        <p:nvSpPr>
          <p:cNvPr id="33" name="Text 31"/>
          <p:cNvSpPr/>
          <p:nvPr/>
        </p:nvSpPr>
        <p:spPr>
          <a:xfrm>
            <a:off x="493776" y="4389120"/>
            <a:ext cx="3931920" cy="502920"/>
          </a:xfrm>
          <a:prstGeom prst="rect">
            <a:avLst/>
          </a:prstGeom>
          <a:noFill/>
          <a:ln/>
        </p:spPr>
        <p:txBody>
          <a:bodyPr wrap="square" lIns="0" tIns="0" rIns="0" bIns="0" rtlCol="0" anchor="ctr"/>
          <a:lstStyle/>
          <a:p>
            <a:pPr marL="0" indent="0">
              <a:buNone/>
            </a:pPr>
            <a:r>
              <a:rPr lang="en-US" sz="800" dirty="0">
                <a:solidFill>
                  <a:srgbClr val="5A6E8C"/>
                </a:solidFill>
                <a:latin typeface="Calibri" pitchFamily="34" charset="0"/>
                <a:ea typeface="Calibri" pitchFamily="34" charset="-122"/>
                <a:cs typeface="Calibri" pitchFamily="34" charset="-120"/>
              </a:rPr>
              <a:t>Pipeline throughput, error rates, run times, and data volumes from production must be accessible to QA. This enables post-release validation, supports NFR assurance, and provides the data needed to identify trends before they become incidents.</a:t>
            </a:r>
            <a:endParaRPr lang="en-US" sz="800" dirty="0"/>
          </a:p>
        </p:txBody>
      </p:sp>
      <p:sp>
        <p:nvSpPr>
          <p:cNvPr id="34" name="Shape 32"/>
          <p:cNvSpPr/>
          <p:nvPr/>
        </p:nvSpPr>
        <p:spPr>
          <a:xfrm>
            <a:off x="4663440" y="4023360"/>
            <a:ext cx="4160520" cy="932688"/>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35" name="Shape 33"/>
          <p:cNvSpPr/>
          <p:nvPr/>
        </p:nvSpPr>
        <p:spPr>
          <a:xfrm>
            <a:off x="4663440" y="4023360"/>
            <a:ext cx="50292" cy="932688"/>
          </a:xfrm>
          <a:prstGeom prst="rect">
            <a:avLst/>
          </a:prstGeom>
          <a:solidFill>
            <a:srgbClr val="0E7C7B"/>
          </a:solidFill>
          <a:ln w="12700">
            <a:solidFill>
              <a:srgbClr val="0E7C7B"/>
            </a:solidFill>
            <a:prstDash val="solid"/>
          </a:ln>
        </p:spPr>
        <p:txBody>
          <a:bodyPr/>
          <a:lstStyle/>
          <a:p>
            <a:endParaRPr lang="en-GB"/>
          </a:p>
        </p:txBody>
      </p:sp>
      <p:sp>
        <p:nvSpPr>
          <p:cNvPr id="36" name="Text 34"/>
          <p:cNvSpPr/>
          <p:nvPr/>
        </p:nvSpPr>
        <p:spPr>
          <a:xfrm>
            <a:off x="4791456" y="4087368"/>
            <a:ext cx="3931920" cy="274320"/>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Security, Housekeeping &amp; Non-Functional Requirements</a:t>
            </a:r>
            <a:endParaRPr lang="en-US" sz="950" dirty="0"/>
          </a:p>
        </p:txBody>
      </p:sp>
      <p:sp>
        <p:nvSpPr>
          <p:cNvPr id="37" name="Text 35"/>
          <p:cNvSpPr/>
          <p:nvPr/>
        </p:nvSpPr>
        <p:spPr>
          <a:xfrm>
            <a:off x="4791456" y="4389120"/>
            <a:ext cx="3931920" cy="502920"/>
          </a:xfrm>
          <a:prstGeom prst="rect">
            <a:avLst/>
          </a:prstGeom>
          <a:noFill/>
          <a:ln/>
        </p:spPr>
        <p:txBody>
          <a:bodyPr wrap="square" lIns="0" tIns="0" rIns="0" bIns="0" rtlCol="0" anchor="ctr"/>
          <a:lstStyle/>
          <a:p>
            <a:pPr marL="0" indent="0">
              <a:buNone/>
            </a:pPr>
            <a:r>
              <a:rPr lang="en-US" sz="800" dirty="0">
                <a:solidFill>
                  <a:srgbClr val="5A6E8C"/>
                </a:solidFill>
                <a:latin typeface="Calibri" pitchFamily="34" charset="0"/>
                <a:ea typeface="Calibri" pitchFamily="34" charset="-122"/>
                <a:cs typeface="Calibri" pitchFamily="34" charset="-120"/>
              </a:rPr>
              <a:t>NFRs must be documented per project: security assessment ownership, data retention policies, housekeeping jobs, access reviews. Currently there is no record of who owns these, whether they have been tested, or whether they are even on anyone's radar.</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09 · Ceremonies, Goals &amp; Communication</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Meetings without purpose are noise. Let's turn them into signal.</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17 / 22</a:t>
            </a:r>
            <a:endParaRPr lang="en-US" sz="900" dirty="0"/>
          </a:p>
        </p:txBody>
      </p:sp>
      <p:sp>
        <p:nvSpPr>
          <p:cNvPr id="7" name="Shape 5"/>
          <p:cNvSpPr/>
          <p:nvPr/>
        </p:nvSpPr>
        <p:spPr>
          <a:xfrm>
            <a:off x="365760" y="932688"/>
            <a:ext cx="1417320" cy="256032"/>
          </a:xfrm>
          <a:prstGeom prst="rect">
            <a:avLst/>
          </a:prstGeom>
          <a:solidFill>
            <a:srgbClr val="F59E0B"/>
          </a:solidFill>
          <a:ln w="12700">
            <a:solidFill>
              <a:srgbClr val="F59E0B"/>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PROCESS GAP</a:t>
            </a:r>
            <a:endParaRPr lang="en-US" sz="800" dirty="0"/>
          </a:p>
        </p:txBody>
      </p:sp>
      <p:sp>
        <p:nvSpPr>
          <p:cNvPr id="9" name="Text 7"/>
          <p:cNvSpPr/>
          <p:nvPr/>
        </p:nvSpPr>
        <p:spPr>
          <a:xfrm>
            <a:off x="365760" y="1234440"/>
            <a:ext cx="8412480" cy="566928"/>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Stand-ups are currently status-reporting ceremonies without a common goal anchoring them. Team members occasionally treat attendance as optional. Sprint goals are not written down. Multiple workstreams run in parallel without a shared theme, making it impossible to discuss progress in any meaningful way.</a:t>
            </a:r>
            <a:endParaRPr lang="en-US" sz="1050" dirty="0"/>
          </a:p>
        </p:txBody>
      </p:sp>
      <p:sp>
        <p:nvSpPr>
          <p:cNvPr id="10" name="Shape 8"/>
          <p:cNvSpPr/>
          <p:nvPr/>
        </p:nvSpPr>
        <p:spPr>
          <a:xfrm>
            <a:off x="365760" y="1901952"/>
            <a:ext cx="4069080" cy="3090672"/>
          </a:xfrm>
          <a:prstGeom prst="rect">
            <a:avLst/>
          </a:prstGeom>
          <a:solidFill>
            <a:srgbClr val="1A0A0A"/>
          </a:solidFill>
          <a:ln w="12700">
            <a:solidFill>
              <a:srgbClr val="1A0A0A"/>
            </a:solidFill>
            <a:prstDash val="solid"/>
          </a:ln>
          <a:effectLst>
            <a:outerShdw blurRad="127000" dist="38100" dir="8100000" algn="bl" rotWithShape="0">
              <a:srgbClr val="000000">
                <a:alpha val="10000"/>
              </a:srgbClr>
            </a:outerShdw>
          </a:effectLst>
        </p:spPr>
        <p:txBody>
          <a:bodyPr/>
          <a:lstStyle/>
          <a:p>
            <a:endParaRPr lang="en-GB"/>
          </a:p>
        </p:txBody>
      </p:sp>
      <p:sp>
        <p:nvSpPr>
          <p:cNvPr id="11" name="Shape 9"/>
          <p:cNvSpPr/>
          <p:nvPr/>
        </p:nvSpPr>
        <p:spPr>
          <a:xfrm>
            <a:off x="365760" y="1901952"/>
            <a:ext cx="4069080" cy="320040"/>
          </a:xfrm>
          <a:prstGeom prst="rect">
            <a:avLst/>
          </a:prstGeom>
          <a:solidFill>
            <a:srgbClr val="E8453C"/>
          </a:solidFill>
          <a:ln w="12700">
            <a:solidFill>
              <a:srgbClr val="E8453C"/>
            </a:solidFill>
            <a:prstDash val="solid"/>
          </a:ln>
        </p:spPr>
        <p:txBody>
          <a:bodyPr/>
          <a:lstStyle/>
          <a:p>
            <a:endParaRPr lang="en-GB"/>
          </a:p>
        </p:txBody>
      </p:sp>
      <p:sp>
        <p:nvSpPr>
          <p:cNvPr id="12" name="Text 10"/>
          <p:cNvSpPr/>
          <p:nvPr/>
        </p:nvSpPr>
        <p:spPr>
          <a:xfrm>
            <a:off x="457200" y="1920240"/>
            <a:ext cx="38862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CURRENT STATE</a:t>
            </a:r>
            <a:endParaRPr lang="en-US" sz="1100" dirty="0"/>
          </a:p>
        </p:txBody>
      </p:sp>
      <p:sp>
        <p:nvSpPr>
          <p:cNvPr id="13" name="Shape 11"/>
          <p:cNvSpPr/>
          <p:nvPr/>
        </p:nvSpPr>
        <p:spPr>
          <a:xfrm>
            <a:off x="4709160" y="1901952"/>
            <a:ext cx="4069080" cy="3090672"/>
          </a:xfrm>
          <a:prstGeom prst="rect">
            <a:avLst/>
          </a:prstGeom>
          <a:solidFill>
            <a:srgbClr val="001A0D"/>
          </a:solidFill>
          <a:ln w="12700">
            <a:solidFill>
              <a:srgbClr val="001A0D"/>
            </a:solidFill>
            <a:prstDash val="solid"/>
          </a:ln>
          <a:effectLst>
            <a:outerShdw blurRad="127000" dist="38100" dir="8100000" algn="bl" rotWithShape="0">
              <a:srgbClr val="000000">
                <a:alpha val="10000"/>
              </a:srgbClr>
            </a:outerShdw>
          </a:effectLst>
        </p:spPr>
        <p:txBody>
          <a:bodyPr/>
          <a:lstStyle/>
          <a:p>
            <a:endParaRPr lang="en-GB"/>
          </a:p>
        </p:txBody>
      </p:sp>
      <p:sp>
        <p:nvSpPr>
          <p:cNvPr id="14" name="Shape 12"/>
          <p:cNvSpPr/>
          <p:nvPr/>
        </p:nvSpPr>
        <p:spPr>
          <a:xfrm>
            <a:off x="4709160" y="1901952"/>
            <a:ext cx="4069080" cy="320040"/>
          </a:xfrm>
          <a:prstGeom prst="rect">
            <a:avLst/>
          </a:prstGeom>
          <a:solidFill>
            <a:srgbClr val="16A34A"/>
          </a:solidFill>
          <a:ln w="12700">
            <a:solidFill>
              <a:srgbClr val="16A34A"/>
            </a:solidFill>
            <a:prstDash val="solid"/>
          </a:ln>
        </p:spPr>
        <p:txBody>
          <a:bodyPr/>
          <a:lstStyle/>
          <a:p>
            <a:endParaRPr lang="en-GB"/>
          </a:p>
        </p:txBody>
      </p:sp>
      <p:sp>
        <p:nvSpPr>
          <p:cNvPr id="15" name="Text 13"/>
          <p:cNvSpPr/>
          <p:nvPr/>
        </p:nvSpPr>
        <p:spPr>
          <a:xfrm>
            <a:off x="4800600" y="1920240"/>
            <a:ext cx="38862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TARGET STATE</a:t>
            </a:r>
            <a:endParaRPr lang="en-US" sz="1100" dirty="0"/>
          </a:p>
        </p:txBody>
      </p:sp>
      <p:sp>
        <p:nvSpPr>
          <p:cNvPr id="16" name="Text 14"/>
          <p:cNvSpPr/>
          <p:nvPr/>
        </p:nvSpPr>
        <p:spPr>
          <a:xfrm>
            <a:off x="502920" y="2322576"/>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FF9090"/>
                </a:solidFill>
                <a:latin typeface="Calibri" pitchFamily="34" charset="0"/>
                <a:ea typeface="Calibri" pitchFamily="34" charset="-122"/>
                <a:cs typeface="Calibri" pitchFamily="34" charset="-120"/>
              </a:rPr>
              <a:t>Stand-up updates are activity-based, not goal-based</a:t>
            </a:r>
            <a:endParaRPr lang="en-US" sz="880" dirty="0"/>
          </a:p>
        </p:txBody>
      </p:sp>
      <p:sp>
        <p:nvSpPr>
          <p:cNvPr id="17" name="Text 15"/>
          <p:cNvSpPr/>
          <p:nvPr/>
        </p:nvSpPr>
        <p:spPr>
          <a:xfrm>
            <a:off x="502920" y="2706624"/>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FF9090"/>
                </a:solidFill>
                <a:latin typeface="Calibri" pitchFamily="34" charset="0"/>
                <a:ea typeface="Calibri" pitchFamily="34" charset="-122"/>
                <a:cs typeface="Calibri" pitchFamily="34" charset="-120"/>
              </a:rPr>
              <a:t>Sprint goals exist at best informally — nothing written</a:t>
            </a:r>
            <a:endParaRPr lang="en-US" sz="880" dirty="0"/>
          </a:p>
        </p:txBody>
      </p:sp>
      <p:sp>
        <p:nvSpPr>
          <p:cNvPr id="18" name="Text 16"/>
          <p:cNvSpPr/>
          <p:nvPr/>
        </p:nvSpPr>
        <p:spPr>
          <a:xfrm>
            <a:off x="502920" y="3090672"/>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FF9090"/>
                </a:solidFill>
                <a:latin typeface="Calibri" pitchFamily="34" charset="0"/>
                <a:ea typeface="Calibri" pitchFamily="34" charset="-122"/>
                <a:cs typeface="Calibri" pitchFamily="34" charset="-120"/>
              </a:rPr>
              <a:t>Multiple parallel workstreams with no unifying theme</a:t>
            </a:r>
            <a:endParaRPr lang="en-US" sz="880" dirty="0"/>
          </a:p>
        </p:txBody>
      </p:sp>
      <p:sp>
        <p:nvSpPr>
          <p:cNvPr id="19" name="Text 17"/>
          <p:cNvSpPr/>
          <p:nvPr/>
        </p:nvSpPr>
        <p:spPr>
          <a:xfrm>
            <a:off x="502920" y="3474720"/>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FF9090"/>
                </a:solidFill>
                <a:latin typeface="Calibri" pitchFamily="34" charset="0"/>
                <a:ea typeface="Calibri" pitchFamily="34" charset="-122"/>
                <a:cs typeface="Calibri" pitchFamily="34" charset="-120"/>
              </a:rPr>
              <a:t>Attendance treated as optional by some team members</a:t>
            </a:r>
            <a:endParaRPr lang="en-US" sz="880" dirty="0"/>
          </a:p>
        </p:txBody>
      </p:sp>
      <p:sp>
        <p:nvSpPr>
          <p:cNvPr id="20" name="Text 18"/>
          <p:cNvSpPr/>
          <p:nvPr/>
        </p:nvSpPr>
        <p:spPr>
          <a:xfrm>
            <a:off x="502920" y="3858768"/>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FF9090"/>
                </a:solidFill>
                <a:latin typeface="Calibri" pitchFamily="34" charset="0"/>
                <a:ea typeface="Calibri" pitchFamily="34" charset="-122"/>
                <a:cs typeface="Calibri" pitchFamily="34" charset="-120"/>
              </a:rPr>
              <a:t>No written goals means updates cannot be assessed against progress</a:t>
            </a:r>
            <a:endParaRPr lang="en-US" sz="880" dirty="0"/>
          </a:p>
        </p:txBody>
      </p:sp>
      <p:sp>
        <p:nvSpPr>
          <p:cNvPr id="21" name="Text 19"/>
          <p:cNvSpPr/>
          <p:nvPr/>
        </p:nvSpPr>
        <p:spPr>
          <a:xfrm>
            <a:off x="502920" y="4242816"/>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FF9090"/>
                </a:solidFill>
                <a:latin typeface="Calibri" pitchFamily="34" charset="0"/>
                <a:ea typeface="Calibri" pitchFamily="34" charset="-122"/>
                <a:cs typeface="Calibri" pitchFamily="34" charset="-120"/>
              </a:rPr>
              <a:t>Value of the ceremony is near-zero for quality planning</a:t>
            </a:r>
            <a:endParaRPr lang="en-US" sz="880" dirty="0"/>
          </a:p>
        </p:txBody>
      </p:sp>
      <p:sp>
        <p:nvSpPr>
          <p:cNvPr id="22" name="Text 20"/>
          <p:cNvSpPr/>
          <p:nvPr/>
        </p:nvSpPr>
        <p:spPr>
          <a:xfrm>
            <a:off x="4846320" y="2322576"/>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90EE90"/>
                </a:solidFill>
                <a:latin typeface="Calibri" pitchFamily="34" charset="0"/>
                <a:ea typeface="Calibri" pitchFamily="34" charset="-122"/>
                <a:cs typeface="Calibri" pitchFamily="34" charset="-120"/>
              </a:rPr>
              <a:t>Each sprint has one written goal, visible on the ADO board</a:t>
            </a:r>
            <a:endParaRPr lang="en-US" sz="880" dirty="0"/>
          </a:p>
        </p:txBody>
      </p:sp>
      <p:sp>
        <p:nvSpPr>
          <p:cNvPr id="23" name="Text 21"/>
          <p:cNvSpPr/>
          <p:nvPr/>
        </p:nvSpPr>
        <p:spPr>
          <a:xfrm>
            <a:off x="4846320" y="2706624"/>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90EE90"/>
                </a:solidFill>
                <a:latin typeface="Calibri" pitchFamily="34" charset="0"/>
                <a:ea typeface="Calibri" pitchFamily="34" charset="-122"/>
                <a:cs typeface="Calibri" pitchFamily="34" charset="-120"/>
              </a:rPr>
              <a:t>Stand-up updates explicitly reference progress against that goal</a:t>
            </a:r>
            <a:endParaRPr lang="en-US" sz="880" dirty="0"/>
          </a:p>
        </p:txBody>
      </p:sp>
      <p:sp>
        <p:nvSpPr>
          <p:cNvPr id="24" name="Text 22"/>
          <p:cNvSpPr/>
          <p:nvPr/>
        </p:nvSpPr>
        <p:spPr>
          <a:xfrm>
            <a:off x="4846320" y="3090672"/>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90EE90"/>
                </a:solidFill>
                <a:latin typeface="Calibri" pitchFamily="34" charset="0"/>
                <a:ea typeface="Calibri" pitchFamily="34" charset="-122"/>
                <a:cs typeface="Calibri" pitchFamily="34" charset="-120"/>
              </a:rPr>
              <a:t>Parallel workstreams are acknowledged; blockers are the focus</a:t>
            </a:r>
            <a:endParaRPr lang="en-US" sz="880" dirty="0"/>
          </a:p>
        </p:txBody>
      </p:sp>
      <p:sp>
        <p:nvSpPr>
          <p:cNvPr id="25" name="Text 23"/>
          <p:cNvSpPr/>
          <p:nvPr/>
        </p:nvSpPr>
        <p:spPr>
          <a:xfrm>
            <a:off x="4846320" y="3474720"/>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90EE90"/>
                </a:solidFill>
                <a:latin typeface="Calibri" pitchFamily="34" charset="0"/>
                <a:ea typeface="Calibri" pitchFamily="34" charset="-122"/>
                <a:cs typeface="Calibri" pitchFamily="34" charset="-120"/>
              </a:rPr>
              <a:t>Attendance and contribution is a professional commitment</a:t>
            </a:r>
            <a:endParaRPr lang="en-US" sz="880" dirty="0"/>
          </a:p>
        </p:txBody>
      </p:sp>
      <p:sp>
        <p:nvSpPr>
          <p:cNvPr id="26" name="Text 24"/>
          <p:cNvSpPr/>
          <p:nvPr/>
        </p:nvSpPr>
        <p:spPr>
          <a:xfrm>
            <a:off x="4846320" y="3858768"/>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90EE90"/>
                </a:solidFill>
                <a:latin typeface="Calibri" pitchFamily="34" charset="0"/>
                <a:ea typeface="Calibri" pitchFamily="34" charset="-122"/>
                <a:cs typeface="Calibri" pitchFamily="34" charset="-120"/>
              </a:rPr>
              <a:t>Quality and risk are standing items — not afterthoughts</a:t>
            </a:r>
            <a:endParaRPr lang="en-US" sz="880" dirty="0"/>
          </a:p>
        </p:txBody>
      </p:sp>
      <p:sp>
        <p:nvSpPr>
          <p:cNvPr id="27" name="Text 25"/>
          <p:cNvSpPr/>
          <p:nvPr/>
        </p:nvSpPr>
        <p:spPr>
          <a:xfrm>
            <a:off x="4846320" y="4242816"/>
            <a:ext cx="3749040" cy="329184"/>
          </a:xfrm>
          <a:prstGeom prst="rect">
            <a:avLst/>
          </a:prstGeom>
          <a:noFill/>
          <a:ln/>
        </p:spPr>
        <p:txBody>
          <a:bodyPr wrap="square" lIns="0" tIns="0" rIns="0" bIns="0" rtlCol="0" anchor="ctr"/>
          <a:lstStyle/>
          <a:p>
            <a:pPr marL="342900" indent="-342900">
              <a:buSzPct val="100000"/>
              <a:buChar char="•"/>
            </a:pPr>
            <a:r>
              <a:rPr lang="en-US" sz="880" dirty="0">
                <a:solidFill>
                  <a:srgbClr val="90EE90"/>
                </a:solidFill>
                <a:latin typeface="Calibri" pitchFamily="34" charset="0"/>
                <a:ea typeface="Calibri" pitchFamily="34" charset="-122"/>
                <a:cs typeface="Calibri" pitchFamily="34" charset="-120"/>
              </a:rPr>
              <a:t>Monthly retro reviews ceremony effectiveness and adjusts format</a:t>
            </a:r>
            <a:endParaRPr lang="en-US" sz="8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10 · Automation, Coverage &amp; Quality Engineering</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We are firefighting when we should be engineering</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18 / 22</a:t>
            </a:r>
            <a:endParaRPr lang="en-US" sz="900" dirty="0"/>
          </a:p>
        </p:txBody>
      </p:sp>
      <p:sp>
        <p:nvSpPr>
          <p:cNvPr id="7" name="Shape 5"/>
          <p:cNvSpPr/>
          <p:nvPr/>
        </p:nvSpPr>
        <p:spPr>
          <a:xfrm>
            <a:off x="365760" y="932688"/>
            <a:ext cx="1417320" cy="256032"/>
          </a:xfrm>
          <a:prstGeom prst="rect">
            <a:avLst/>
          </a:prstGeom>
          <a:solidFill>
            <a:srgbClr val="F59E0B"/>
          </a:solidFill>
          <a:ln w="12700">
            <a:solidFill>
              <a:srgbClr val="F59E0B"/>
            </a:solidFill>
            <a:prstDash val="solid"/>
          </a:ln>
        </p:spPr>
        <p:txBody>
          <a:bodyPr/>
          <a:lstStyle/>
          <a:p>
            <a:endParaRPr lang="en-GB"/>
          </a:p>
        </p:txBody>
      </p:sp>
      <p:sp>
        <p:nvSpPr>
          <p:cNvPr id="8" name="Text 6"/>
          <p:cNvSpPr/>
          <p:nvPr/>
        </p:nvSpPr>
        <p:spPr>
          <a:xfrm>
            <a:off x="365760" y="932688"/>
            <a:ext cx="14173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STRATEGIC GAP</a:t>
            </a:r>
            <a:endParaRPr lang="en-US" sz="800" dirty="0"/>
          </a:p>
        </p:txBody>
      </p:sp>
      <p:sp>
        <p:nvSpPr>
          <p:cNvPr id="9" name="Text 7"/>
          <p:cNvSpPr/>
          <p:nvPr/>
        </p:nvSpPr>
        <p:spPr>
          <a:xfrm>
            <a:off x="365760" y="1234440"/>
            <a:ext cx="8412480" cy="685800"/>
          </a:xfrm>
          <a:prstGeom prst="rect">
            <a:avLst/>
          </a:prstGeom>
          <a:noFill/>
          <a:ln/>
        </p:spPr>
        <p:txBody>
          <a:bodyPr wrap="square" lIns="0" tIns="0" rIns="0" bIns="0" rtlCol="0" anchor="ctr"/>
          <a:lstStyle/>
          <a:p>
            <a:pPr marL="0" indent="0">
              <a:buNone/>
            </a:pPr>
            <a:r>
              <a:rPr lang="en-US" sz="1050" dirty="0">
                <a:solidFill>
                  <a:srgbClr val="1C2B3A"/>
                </a:solidFill>
                <a:latin typeface="Calibri" pitchFamily="34" charset="0"/>
                <a:ea typeface="Calibri" pitchFamily="34" charset="-122"/>
                <a:cs typeface="Calibri" pitchFamily="34" charset="-120"/>
              </a:rPr>
              <a:t>Test automation is not systematically employed because projects are treated as unique, bespoke, and too complex. This reasoning — while understandable — is the single biggest blocker to scalable quality. The result is that QAs spend the majority of their time deciphering systems and writing manual collateral, rather than engineering quality into the delivery pipeline.</a:t>
            </a:r>
            <a:endParaRPr lang="en-US" sz="1050" dirty="0"/>
          </a:p>
        </p:txBody>
      </p:sp>
      <p:sp>
        <p:nvSpPr>
          <p:cNvPr id="10" name="Shape 8"/>
          <p:cNvSpPr/>
          <p:nvPr/>
        </p:nvSpPr>
        <p:spPr>
          <a:xfrm>
            <a:off x="365760" y="2011680"/>
            <a:ext cx="4160520" cy="1335024"/>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1" name="Shape 9"/>
          <p:cNvSpPr/>
          <p:nvPr/>
        </p:nvSpPr>
        <p:spPr>
          <a:xfrm>
            <a:off x="365760" y="2011680"/>
            <a:ext cx="50292" cy="1335024"/>
          </a:xfrm>
          <a:prstGeom prst="rect">
            <a:avLst/>
          </a:prstGeom>
          <a:solidFill>
            <a:srgbClr val="E8453C"/>
          </a:solidFill>
          <a:ln w="12700">
            <a:solidFill>
              <a:srgbClr val="E8453C"/>
            </a:solidFill>
            <a:prstDash val="solid"/>
          </a:ln>
        </p:spPr>
        <p:txBody>
          <a:bodyPr/>
          <a:lstStyle/>
          <a:p>
            <a:endParaRPr lang="en-GB"/>
          </a:p>
        </p:txBody>
      </p:sp>
      <p:sp>
        <p:nvSpPr>
          <p:cNvPr id="12" name="Text 10"/>
          <p:cNvSpPr/>
          <p:nvPr/>
        </p:nvSpPr>
        <p:spPr>
          <a:xfrm>
            <a:off x="493776" y="2084832"/>
            <a:ext cx="3931920" cy="292608"/>
          </a:xfrm>
          <a:prstGeom prst="rect">
            <a:avLst/>
          </a:prstGeom>
          <a:noFill/>
          <a:ln/>
        </p:spPr>
        <p:txBody>
          <a:bodyPr wrap="square" lIns="0" tIns="0" rIns="0" bIns="0" rtlCol="0" anchor="ctr"/>
          <a:lstStyle/>
          <a:p>
            <a:pPr marL="0" indent="0">
              <a:buNone/>
            </a:pPr>
            <a:r>
              <a:rPr lang="en-US" sz="1050" b="1" dirty="0">
                <a:solidFill>
                  <a:srgbClr val="1C2B3A"/>
                </a:solidFill>
                <a:latin typeface="Calibri" pitchFamily="34" charset="0"/>
                <a:ea typeface="Calibri" pitchFamily="34" charset="-122"/>
                <a:cs typeface="Calibri" pitchFamily="34" charset="-120"/>
              </a:rPr>
              <a:t>Bespoke-First Thinking Prevents Reuse</a:t>
            </a:r>
            <a:endParaRPr lang="en-US" sz="1050" dirty="0"/>
          </a:p>
        </p:txBody>
      </p:sp>
      <p:sp>
        <p:nvSpPr>
          <p:cNvPr id="13" name="Text 11"/>
          <p:cNvSpPr/>
          <p:nvPr/>
        </p:nvSpPr>
        <p:spPr>
          <a:xfrm>
            <a:off x="493776" y="2414016"/>
            <a:ext cx="3931920" cy="822960"/>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Every project is treated as entirely unique. In reality, the medallion architecture creates repeatable patterns: ingest from source, land in raw, transform to clean, aggregate to curate. Test patterns can be templated at each layer. The investment in the first automation framework pays dividends across all subsequent projects.</a:t>
            </a:r>
            <a:endParaRPr lang="en-US" sz="880" dirty="0"/>
          </a:p>
        </p:txBody>
      </p:sp>
      <p:sp>
        <p:nvSpPr>
          <p:cNvPr id="14" name="Shape 12"/>
          <p:cNvSpPr/>
          <p:nvPr/>
        </p:nvSpPr>
        <p:spPr>
          <a:xfrm>
            <a:off x="4663440" y="2011680"/>
            <a:ext cx="4160520" cy="1335024"/>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5" name="Shape 13"/>
          <p:cNvSpPr/>
          <p:nvPr/>
        </p:nvSpPr>
        <p:spPr>
          <a:xfrm>
            <a:off x="4663440" y="2011680"/>
            <a:ext cx="50292" cy="1335024"/>
          </a:xfrm>
          <a:prstGeom prst="rect">
            <a:avLst/>
          </a:prstGeom>
          <a:solidFill>
            <a:srgbClr val="F59E0B"/>
          </a:solidFill>
          <a:ln w="12700">
            <a:solidFill>
              <a:srgbClr val="F59E0B"/>
            </a:solidFill>
            <a:prstDash val="solid"/>
          </a:ln>
        </p:spPr>
        <p:txBody>
          <a:bodyPr/>
          <a:lstStyle/>
          <a:p>
            <a:endParaRPr lang="en-GB"/>
          </a:p>
        </p:txBody>
      </p:sp>
      <p:sp>
        <p:nvSpPr>
          <p:cNvPr id="16" name="Text 14"/>
          <p:cNvSpPr/>
          <p:nvPr/>
        </p:nvSpPr>
        <p:spPr>
          <a:xfrm>
            <a:off x="4791456" y="2084832"/>
            <a:ext cx="3931920" cy="292608"/>
          </a:xfrm>
          <a:prstGeom prst="rect">
            <a:avLst/>
          </a:prstGeom>
          <a:noFill/>
          <a:ln/>
        </p:spPr>
        <p:txBody>
          <a:bodyPr wrap="square" lIns="0" tIns="0" rIns="0" bIns="0" rtlCol="0" anchor="ctr"/>
          <a:lstStyle/>
          <a:p>
            <a:pPr marL="0" indent="0">
              <a:buNone/>
            </a:pPr>
            <a:r>
              <a:rPr lang="en-US" sz="1050" b="1" dirty="0">
                <a:solidFill>
                  <a:srgbClr val="1C2B3A"/>
                </a:solidFill>
                <a:latin typeface="Calibri" pitchFamily="34" charset="0"/>
                <a:ea typeface="Calibri" pitchFamily="34" charset="-122"/>
                <a:cs typeface="Calibri" pitchFamily="34" charset="-120"/>
              </a:rPr>
              <a:t>QA Time Is Being Misdirected</a:t>
            </a:r>
            <a:endParaRPr lang="en-US" sz="1050" dirty="0"/>
          </a:p>
        </p:txBody>
      </p:sp>
      <p:sp>
        <p:nvSpPr>
          <p:cNvPr id="17" name="Text 15"/>
          <p:cNvSpPr/>
          <p:nvPr/>
        </p:nvSpPr>
        <p:spPr>
          <a:xfrm>
            <a:off x="4791456" y="2414016"/>
            <a:ext cx="3931920" cy="822960"/>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Manual test case authoring for systems treated as black boxes, data mapping work, and information chasing are consuming QA capacity that should be invested in test architecture, automation design, and critical analysis. This is a leadership and process problem — not an individual performance issue.</a:t>
            </a:r>
            <a:endParaRPr lang="en-US" sz="880" dirty="0"/>
          </a:p>
        </p:txBody>
      </p:sp>
      <p:sp>
        <p:nvSpPr>
          <p:cNvPr id="18" name="Shape 16"/>
          <p:cNvSpPr/>
          <p:nvPr/>
        </p:nvSpPr>
        <p:spPr>
          <a:xfrm>
            <a:off x="365760" y="3456432"/>
            <a:ext cx="4160520" cy="1335024"/>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9" name="Shape 17"/>
          <p:cNvSpPr/>
          <p:nvPr/>
        </p:nvSpPr>
        <p:spPr>
          <a:xfrm>
            <a:off x="365760" y="3456432"/>
            <a:ext cx="50292" cy="1335024"/>
          </a:xfrm>
          <a:prstGeom prst="rect">
            <a:avLst/>
          </a:prstGeom>
          <a:solidFill>
            <a:srgbClr val="0E7C7B"/>
          </a:solidFill>
          <a:ln w="12700">
            <a:solidFill>
              <a:srgbClr val="0E7C7B"/>
            </a:solidFill>
            <a:prstDash val="solid"/>
          </a:ln>
        </p:spPr>
        <p:txBody>
          <a:bodyPr/>
          <a:lstStyle/>
          <a:p>
            <a:endParaRPr lang="en-GB"/>
          </a:p>
        </p:txBody>
      </p:sp>
      <p:sp>
        <p:nvSpPr>
          <p:cNvPr id="20" name="Text 18"/>
          <p:cNvSpPr/>
          <p:nvPr/>
        </p:nvSpPr>
        <p:spPr>
          <a:xfrm>
            <a:off x="493776" y="3529584"/>
            <a:ext cx="3931920" cy="292608"/>
          </a:xfrm>
          <a:prstGeom prst="rect">
            <a:avLst/>
          </a:prstGeom>
          <a:noFill/>
          <a:ln/>
        </p:spPr>
        <p:txBody>
          <a:bodyPr wrap="square" lIns="0" tIns="0" rIns="0" bIns="0" rtlCol="0" anchor="ctr"/>
          <a:lstStyle/>
          <a:p>
            <a:pPr marL="0" indent="0">
              <a:buNone/>
            </a:pPr>
            <a:r>
              <a:rPr lang="en-US" sz="1050" b="1" dirty="0">
                <a:solidFill>
                  <a:srgbClr val="1C2B3A"/>
                </a:solidFill>
                <a:latin typeface="Calibri" pitchFamily="34" charset="0"/>
                <a:ea typeface="Calibri" pitchFamily="34" charset="-122"/>
                <a:cs typeface="Calibri" pitchFamily="34" charset="-120"/>
              </a:rPr>
              <a:t>PyTest Framework Exists — But Is Underutilised</a:t>
            </a:r>
            <a:endParaRPr lang="en-US" sz="1050" dirty="0"/>
          </a:p>
        </p:txBody>
      </p:sp>
      <p:sp>
        <p:nvSpPr>
          <p:cNvPr id="21" name="Text 19"/>
          <p:cNvSpPr/>
          <p:nvPr/>
        </p:nvSpPr>
        <p:spPr>
          <a:xfrm>
            <a:off x="493776" y="3858768"/>
            <a:ext cx="3931920" cy="822960"/>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A config-driven PyTest framework covering file existence, row counts, schema validation, and data quality checks across CSV, Parquet, and JSON in ADLS Gen2 exists and works. It needs formalising, documenting, and adopting as the standard QA toolchain across all Synapse pipeline projects.</a:t>
            </a:r>
            <a:endParaRPr lang="en-US" sz="880" dirty="0"/>
          </a:p>
        </p:txBody>
      </p:sp>
      <p:sp>
        <p:nvSpPr>
          <p:cNvPr id="22" name="Shape 20"/>
          <p:cNvSpPr/>
          <p:nvPr/>
        </p:nvSpPr>
        <p:spPr>
          <a:xfrm>
            <a:off x="4663440" y="3456432"/>
            <a:ext cx="4160520" cy="1335024"/>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3" name="Shape 21"/>
          <p:cNvSpPr/>
          <p:nvPr/>
        </p:nvSpPr>
        <p:spPr>
          <a:xfrm>
            <a:off x="4663440" y="3456432"/>
            <a:ext cx="50292" cy="1335024"/>
          </a:xfrm>
          <a:prstGeom prst="rect">
            <a:avLst/>
          </a:prstGeom>
          <a:solidFill>
            <a:srgbClr val="16A34A"/>
          </a:solidFill>
          <a:ln w="12700">
            <a:solidFill>
              <a:srgbClr val="16A34A"/>
            </a:solidFill>
            <a:prstDash val="solid"/>
          </a:ln>
        </p:spPr>
        <p:txBody>
          <a:bodyPr/>
          <a:lstStyle/>
          <a:p>
            <a:endParaRPr lang="en-GB"/>
          </a:p>
        </p:txBody>
      </p:sp>
      <p:sp>
        <p:nvSpPr>
          <p:cNvPr id="24" name="Text 22"/>
          <p:cNvSpPr/>
          <p:nvPr/>
        </p:nvSpPr>
        <p:spPr>
          <a:xfrm>
            <a:off x="4791456" y="3529584"/>
            <a:ext cx="3931920" cy="292608"/>
          </a:xfrm>
          <a:prstGeom prst="rect">
            <a:avLst/>
          </a:prstGeom>
          <a:noFill/>
          <a:ln/>
        </p:spPr>
        <p:txBody>
          <a:bodyPr wrap="square" lIns="0" tIns="0" rIns="0" bIns="0" rtlCol="0" anchor="ctr"/>
          <a:lstStyle/>
          <a:p>
            <a:pPr marL="0" indent="0">
              <a:buNone/>
            </a:pPr>
            <a:r>
              <a:rPr lang="en-US" sz="1050" b="1" dirty="0">
                <a:solidFill>
                  <a:srgbClr val="1C2B3A"/>
                </a:solidFill>
                <a:latin typeface="Calibri" pitchFamily="34" charset="0"/>
                <a:ea typeface="Calibri" pitchFamily="34" charset="-122"/>
                <a:cs typeface="Calibri" pitchFamily="34" charset="-120"/>
              </a:rPr>
              <a:t>The Path Forward: Agree There Is a Problem</a:t>
            </a:r>
            <a:endParaRPr lang="en-US" sz="1050" dirty="0"/>
          </a:p>
        </p:txBody>
      </p:sp>
      <p:sp>
        <p:nvSpPr>
          <p:cNvPr id="25" name="Text 23"/>
          <p:cNvSpPr/>
          <p:nvPr/>
        </p:nvSpPr>
        <p:spPr>
          <a:xfrm>
            <a:off x="4791456" y="3858768"/>
            <a:ext cx="3931920" cy="822960"/>
          </a:xfrm>
          <a:prstGeom prst="rect">
            <a:avLst/>
          </a:prstGeom>
          <a:noFill/>
          <a:ln/>
        </p:spPr>
        <p:txBody>
          <a:bodyPr wrap="square" lIns="0" tIns="0" rIns="0" bIns="0" rtlCol="0" anchor="ctr"/>
          <a:lstStyle/>
          <a:p>
            <a:pPr marL="0" indent="0">
              <a:buNone/>
            </a:pPr>
            <a:r>
              <a:rPr lang="en-US" sz="880" dirty="0">
                <a:solidFill>
                  <a:srgbClr val="5A6E8C"/>
                </a:solidFill>
                <a:latin typeface="Calibri" pitchFamily="34" charset="0"/>
                <a:ea typeface="Calibri" pitchFamily="34" charset="-122"/>
                <a:cs typeface="Calibri" pitchFamily="34" charset="-120"/>
              </a:rPr>
              <a:t>The first step is a team-level acknowledgement that the current approach is not scaling. From there, we propose: spin up ADO tickets for automation framework adoption, assign a QA lead to own the toolchain, and commit to at least one automated test layer per project per sprint.</a:t>
            </a:r>
            <a:endParaRPr lang="en-US" sz="8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Risk Summary — Where We Are Exposed Right Now</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Consolidated view of gaps by severity and urgency</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19 / 22</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932688"/>
          <a:ext cx="8412480" cy="4123944"/>
        </p:xfrm>
        <a:graphic>
          <a:graphicData uri="http://schemas.openxmlformats.org/drawingml/2006/table">
            <a:tbl>
              <a:tblPr/>
              <a:tblGrid>
                <a:gridCol w="18288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74904">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Area</a:t>
                      </a:r>
                      <a:endParaRPr lang="en-US" sz="9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solidFill>
                      <a:srgbClr val="1220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Risk Description</a:t>
                      </a:r>
                      <a:endParaRPr lang="en-US" sz="9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solidFill>
                      <a:srgbClr val="1220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Severity</a:t>
                      </a:r>
                      <a:endParaRPr lang="en-US" sz="9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solidFill>
                      <a:srgbClr val="1220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Urgency</a:t>
                      </a:r>
                      <a:endParaRPr lang="en-US" sz="9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solidFill>
                      <a:srgbClr val="12203A"/>
                    </a:solidFill>
                  </a:tcPr>
                </a:tc>
                <a:extLst>
                  <a:ext uri="{0D108BD9-81ED-4DB2-BD59-A6C34878D82A}">
                    <a16:rowId xmlns:a16="http://schemas.microsoft.com/office/drawing/2014/main" val="10000"/>
                  </a:ext>
                </a:extLst>
              </a:tr>
              <a:tr h="374904">
                <a:tc>
                  <a:txBody>
                    <a:bodyPr/>
                    <a:lstStyle/>
                    <a:p>
                      <a:pPr marL="0" indent="0">
                        <a:buNone/>
                      </a:pPr>
                      <a:r>
                        <a:rPr lang="en-US" sz="850" b="1" dirty="0">
                          <a:solidFill>
                            <a:srgbClr val="1C2B3A"/>
                          </a:solidFill>
                          <a:latin typeface="Calibri" pitchFamily="34" charset="0"/>
                          <a:ea typeface="Calibri" pitchFamily="34" charset="-122"/>
                          <a:cs typeface="Calibri" pitchFamily="34" charset="-120"/>
                        </a:rPr>
                        <a:t>Product Ownership</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buNone/>
                      </a:pPr>
                      <a:r>
                        <a:rPr lang="en-US" sz="800" dirty="0">
                          <a:solidFill>
                            <a:srgbClr val="5A6E8C"/>
                          </a:solidFill>
                          <a:latin typeface="Calibri" pitchFamily="34" charset="0"/>
                          <a:ea typeface="Calibri" pitchFamily="34" charset="-122"/>
                          <a:cs typeface="Calibri" pitchFamily="34" charset="-120"/>
                        </a:rPr>
                        <a:t>No PO / SME bridge. QA absorbing delivery roles.</a:t>
                      </a:r>
                      <a:endParaRPr lang="en-US" sz="8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E8453C"/>
                          </a:solidFill>
                          <a:latin typeface="Calibri" pitchFamily="34" charset="0"/>
                          <a:ea typeface="Calibri" pitchFamily="34" charset="-122"/>
                          <a:cs typeface="Calibri" pitchFamily="34" charset="-120"/>
                        </a:rPr>
                        <a:t>Critical</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E8453C"/>
                          </a:solidFill>
                          <a:latin typeface="Calibri" pitchFamily="34" charset="0"/>
                          <a:ea typeface="Calibri" pitchFamily="34" charset="-122"/>
                          <a:cs typeface="Calibri" pitchFamily="34" charset="-120"/>
                        </a:rPr>
                        <a:t>Immediate</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74904">
                <a:tc>
                  <a:txBody>
                    <a:bodyPr/>
                    <a:lstStyle/>
                    <a:p>
                      <a:pPr marL="0" indent="0">
                        <a:buNone/>
                      </a:pPr>
                      <a:r>
                        <a:rPr lang="en-US" sz="850" b="1" dirty="0">
                          <a:solidFill>
                            <a:srgbClr val="1C2B3A"/>
                          </a:solidFill>
                          <a:latin typeface="Calibri" pitchFamily="34" charset="0"/>
                          <a:ea typeface="Calibri" pitchFamily="34" charset="-122"/>
                          <a:cs typeface="Calibri" pitchFamily="34" charset="-120"/>
                        </a:rPr>
                        <a:t>Production Incidents</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buNone/>
                      </a:pPr>
                      <a:r>
                        <a:rPr lang="en-US" sz="800" dirty="0">
                          <a:solidFill>
                            <a:srgbClr val="5A6E8C"/>
                          </a:solidFill>
                          <a:latin typeface="Calibri" pitchFamily="34" charset="0"/>
                          <a:ea typeface="Calibri" pitchFamily="34" charset="-122"/>
                          <a:cs typeface="Calibri" pitchFamily="34" charset="-120"/>
                        </a:rPr>
                        <a:t>No log. No write-ups. No learning loop. Patterns repeat.</a:t>
                      </a:r>
                      <a:endParaRPr lang="en-US" sz="8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E8453C"/>
                          </a:solidFill>
                          <a:latin typeface="Calibri" pitchFamily="34" charset="0"/>
                          <a:ea typeface="Calibri" pitchFamily="34" charset="-122"/>
                          <a:cs typeface="Calibri" pitchFamily="34" charset="-120"/>
                        </a:rPr>
                        <a:t>Critical</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E8453C"/>
                          </a:solidFill>
                          <a:latin typeface="Calibri" pitchFamily="34" charset="0"/>
                          <a:ea typeface="Calibri" pitchFamily="34" charset="-122"/>
                          <a:cs typeface="Calibri" pitchFamily="34" charset="-120"/>
                        </a:rPr>
                        <a:t>Immediate</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74904">
                <a:tc>
                  <a:txBody>
                    <a:bodyPr/>
                    <a:lstStyle/>
                    <a:p>
                      <a:pPr marL="0" indent="0">
                        <a:buNone/>
                      </a:pPr>
                      <a:r>
                        <a:rPr lang="en-US" sz="850" b="1" dirty="0">
                          <a:solidFill>
                            <a:srgbClr val="1C2B3A"/>
                          </a:solidFill>
                          <a:latin typeface="Calibri" pitchFamily="34" charset="0"/>
                          <a:ea typeface="Calibri" pitchFamily="34" charset="-122"/>
                          <a:cs typeface="Calibri" pitchFamily="34" charset="-120"/>
                        </a:rPr>
                        <a:t>Test Data Management</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buNone/>
                      </a:pPr>
                      <a:r>
                        <a:rPr lang="en-US" sz="800" dirty="0">
                          <a:solidFill>
                            <a:srgbClr val="5A6E8C"/>
                          </a:solidFill>
                          <a:latin typeface="Calibri" pitchFamily="34" charset="0"/>
                          <a:ea typeface="Calibri" pitchFamily="34" charset="-122"/>
                          <a:cs typeface="Calibri" pitchFamily="34" charset="-120"/>
                        </a:rPr>
                        <a:t>No ownership, no strategy, no access to representative data.</a:t>
                      </a:r>
                      <a:endParaRPr lang="en-US" sz="8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E8453C"/>
                          </a:solidFill>
                          <a:latin typeface="Calibri" pitchFamily="34" charset="0"/>
                          <a:ea typeface="Calibri" pitchFamily="34" charset="-122"/>
                          <a:cs typeface="Calibri" pitchFamily="34" charset="-120"/>
                        </a:rPr>
                        <a:t>Critical</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E8453C"/>
                          </a:solidFill>
                          <a:latin typeface="Calibri" pitchFamily="34" charset="0"/>
                          <a:ea typeface="Calibri" pitchFamily="34" charset="-122"/>
                          <a:cs typeface="Calibri" pitchFamily="34" charset="-120"/>
                        </a:rPr>
                        <a:t>Immediate</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74904">
                <a:tc>
                  <a:txBody>
                    <a:bodyPr/>
                    <a:lstStyle/>
                    <a:p>
                      <a:pPr marL="0" indent="0">
                        <a:buNone/>
                      </a:pPr>
                      <a:r>
                        <a:rPr lang="en-US" sz="850" b="1" dirty="0">
                          <a:solidFill>
                            <a:srgbClr val="1C2B3A"/>
                          </a:solidFill>
                          <a:latin typeface="Calibri" pitchFamily="34" charset="0"/>
                          <a:ea typeface="Calibri" pitchFamily="34" charset="-122"/>
                          <a:cs typeface="Calibri" pitchFamily="34" charset="-120"/>
                        </a:rPr>
                        <a:t>Requirements Quality</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buNone/>
                      </a:pPr>
                      <a:r>
                        <a:rPr lang="en-US" sz="800" dirty="0">
                          <a:solidFill>
                            <a:srgbClr val="5A6E8C"/>
                          </a:solidFill>
                          <a:latin typeface="Calibri" pitchFamily="34" charset="0"/>
                          <a:ea typeface="Calibri" pitchFamily="34" charset="-122"/>
                          <a:cs typeface="Calibri" pitchFamily="34" charset="-120"/>
                        </a:rPr>
                        <a:t>Stories fail INVEST. ADO boards don't reflect project reality.</a:t>
                      </a:r>
                      <a:endParaRPr lang="en-US" sz="8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F59E0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F59E0B"/>
                          </a:solidFill>
                          <a:latin typeface="Calibri" pitchFamily="34" charset="0"/>
                          <a:ea typeface="Calibri" pitchFamily="34" charset="-122"/>
                          <a:cs typeface="Calibri" pitchFamily="34" charset="-120"/>
                        </a:rPr>
                        <a:t>This Sprint</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74904">
                <a:tc>
                  <a:txBody>
                    <a:bodyPr/>
                    <a:lstStyle/>
                    <a:p>
                      <a:pPr marL="0" indent="0">
                        <a:buNone/>
                      </a:pPr>
                      <a:r>
                        <a:rPr lang="en-US" sz="850" b="1" dirty="0">
                          <a:solidFill>
                            <a:srgbClr val="1C2B3A"/>
                          </a:solidFill>
                          <a:latin typeface="Calibri" pitchFamily="34" charset="0"/>
                          <a:ea typeface="Calibri" pitchFamily="34" charset="-122"/>
                          <a:cs typeface="Calibri" pitchFamily="34" charset="-120"/>
                        </a:rPr>
                        <a:t>Dev–Test Alignment</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buNone/>
                      </a:pPr>
                      <a:r>
                        <a:rPr lang="en-US" sz="800" dirty="0">
                          <a:solidFill>
                            <a:srgbClr val="5A6E8C"/>
                          </a:solidFill>
                          <a:latin typeface="Calibri" pitchFamily="34" charset="0"/>
                          <a:ea typeface="Calibri" pitchFamily="34" charset="-122"/>
                          <a:cs typeface="Calibri" pitchFamily="34" charset="-120"/>
                        </a:rPr>
                        <a:t>No 3-Amigos. Testers blind to implementation intent.</a:t>
                      </a:r>
                      <a:endParaRPr lang="en-US" sz="8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F59E0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F59E0B"/>
                          </a:solidFill>
                          <a:latin typeface="Calibri" pitchFamily="34" charset="0"/>
                          <a:ea typeface="Calibri" pitchFamily="34" charset="-122"/>
                          <a:cs typeface="Calibri" pitchFamily="34" charset="-120"/>
                        </a:rPr>
                        <a:t>This Sprint</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74904">
                <a:tc>
                  <a:txBody>
                    <a:bodyPr/>
                    <a:lstStyle/>
                    <a:p>
                      <a:pPr marL="0" indent="0">
                        <a:buNone/>
                      </a:pPr>
                      <a:r>
                        <a:rPr lang="en-US" sz="850" b="1" dirty="0">
                          <a:solidFill>
                            <a:srgbClr val="1C2B3A"/>
                          </a:solidFill>
                          <a:latin typeface="Calibri" pitchFamily="34" charset="0"/>
                          <a:ea typeface="Calibri" pitchFamily="34" charset="-122"/>
                          <a:cs typeface="Calibri" pitchFamily="34" charset="-120"/>
                        </a:rPr>
                        <a:t>Deployment Visibility</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buNone/>
                      </a:pPr>
                      <a:r>
                        <a:rPr lang="en-US" sz="800" dirty="0">
                          <a:solidFill>
                            <a:srgbClr val="5A6E8C"/>
                          </a:solidFill>
                          <a:latin typeface="Calibri" pitchFamily="34" charset="0"/>
                          <a:ea typeface="Calibri" pitchFamily="34" charset="-122"/>
                          <a:cs typeface="Calibri" pitchFamily="34" charset="-120"/>
                        </a:rPr>
                        <a:t>QA has no view of environment state or deployment history.</a:t>
                      </a:r>
                      <a:endParaRPr lang="en-US" sz="8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F59E0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F59E0B"/>
                          </a:solidFill>
                          <a:latin typeface="Calibri" pitchFamily="34" charset="0"/>
                          <a:ea typeface="Calibri" pitchFamily="34" charset="-122"/>
                          <a:cs typeface="Calibri" pitchFamily="34" charset="-120"/>
                        </a:rPr>
                        <a:t>This Sprint</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r h="374904">
                <a:tc>
                  <a:txBody>
                    <a:bodyPr/>
                    <a:lstStyle/>
                    <a:p>
                      <a:pPr marL="0" indent="0">
                        <a:buNone/>
                      </a:pPr>
                      <a:r>
                        <a:rPr lang="en-US" sz="850" b="1" dirty="0">
                          <a:solidFill>
                            <a:srgbClr val="1C2B3A"/>
                          </a:solidFill>
                          <a:latin typeface="Calibri" pitchFamily="34" charset="0"/>
                          <a:ea typeface="Calibri" pitchFamily="34" charset="-122"/>
                          <a:cs typeface="Calibri" pitchFamily="34" charset="-120"/>
                        </a:rPr>
                        <a:t>Performance &amp; NFRs</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buNone/>
                      </a:pPr>
                      <a:r>
                        <a:rPr lang="en-US" sz="800" dirty="0">
                          <a:solidFill>
                            <a:srgbClr val="5A6E8C"/>
                          </a:solidFill>
                          <a:latin typeface="Calibri" pitchFamily="34" charset="0"/>
                          <a:ea typeface="Calibri" pitchFamily="34" charset="-122"/>
                          <a:cs typeface="Calibri" pitchFamily="34" charset="-120"/>
                        </a:rPr>
                        <a:t>No baselines. No KPIs. No NFR ownership. Perf bugs escape to prod.</a:t>
                      </a:r>
                      <a:endParaRPr lang="en-US" sz="8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F59E0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F59E0B"/>
                          </a:solidFill>
                          <a:latin typeface="Calibri" pitchFamily="34" charset="0"/>
                          <a:ea typeface="Calibri" pitchFamily="34" charset="-122"/>
                          <a:cs typeface="Calibri" pitchFamily="34" charset="-120"/>
                        </a:rPr>
                        <a:t>Next Sprint</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7"/>
                  </a:ext>
                </a:extLst>
              </a:tr>
              <a:tr h="374904">
                <a:tc>
                  <a:txBody>
                    <a:bodyPr/>
                    <a:lstStyle/>
                    <a:p>
                      <a:pPr marL="0" indent="0">
                        <a:buNone/>
                      </a:pPr>
                      <a:r>
                        <a:rPr lang="en-US" sz="850" b="1" dirty="0">
                          <a:solidFill>
                            <a:srgbClr val="1C2B3A"/>
                          </a:solidFill>
                          <a:latin typeface="Calibri" pitchFamily="34" charset="0"/>
                          <a:ea typeface="Calibri" pitchFamily="34" charset="-122"/>
                          <a:cs typeface="Calibri" pitchFamily="34" charset="-120"/>
                        </a:rPr>
                        <a:t>Ceremonies &amp; Goals</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buNone/>
                      </a:pPr>
                      <a:r>
                        <a:rPr lang="en-US" sz="800" dirty="0">
                          <a:solidFill>
                            <a:srgbClr val="5A6E8C"/>
                          </a:solidFill>
                          <a:latin typeface="Calibri" pitchFamily="34" charset="0"/>
                          <a:ea typeface="Calibri" pitchFamily="34" charset="-122"/>
                          <a:cs typeface="Calibri" pitchFamily="34" charset="-120"/>
                        </a:rPr>
                        <a:t>No written sprint goals. Stand-ups add marginal value.</a:t>
                      </a:r>
                      <a:endParaRPr lang="en-US" sz="8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0E7C7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F59E0B"/>
                          </a:solidFill>
                          <a:latin typeface="Calibri" pitchFamily="34" charset="0"/>
                          <a:ea typeface="Calibri" pitchFamily="34" charset="-122"/>
                          <a:cs typeface="Calibri" pitchFamily="34" charset="-120"/>
                        </a:rPr>
                        <a:t>Next Sprint</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8"/>
                  </a:ext>
                </a:extLst>
              </a:tr>
              <a:tr h="374904">
                <a:tc>
                  <a:txBody>
                    <a:bodyPr/>
                    <a:lstStyle/>
                    <a:p>
                      <a:pPr marL="0" indent="0">
                        <a:buNone/>
                      </a:pPr>
                      <a:r>
                        <a:rPr lang="en-US" sz="850" b="1" dirty="0">
                          <a:solidFill>
                            <a:srgbClr val="1C2B3A"/>
                          </a:solidFill>
                          <a:latin typeface="Calibri" pitchFamily="34" charset="0"/>
                          <a:ea typeface="Calibri" pitchFamily="34" charset="-122"/>
                          <a:cs typeface="Calibri" pitchFamily="34" charset="-120"/>
                        </a:rPr>
                        <a:t>Automation Coverage</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buNone/>
                      </a:pPr>
                      <a:r>
                        <a:rPr lang="en-US" sz="800" dirty="0">
                          <a:solidFill>
                            <a:srgbClr val="5A6E8C"/>
                          </a:solidFill>
                          <a:latin typeface="Calibri" pitchFamily="34" charset="0"/>
                          <a:ea typeface="Calibri" pitchFamily="34" charset="-122"/>
                          <a:cs typeface="Calibri" pitchFamily="34" charset="-120"/>
                        </a:rPr>
                        <a:t>Manual-first approach. Frameworks exist but not adopted.</a:t>
                      </a:r>
                      <a:endParaRPr lang="en-US" sz="8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0E7C7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0E7C7B"/>
                          </a:solidFill>
                          <a:latin typeface="Calibri" pitchFamily="34" charset="0"/>
                          <a:ea typeface="Calibri" pitchFamily="34" charset="-122"/>
                          <a:cs typeface="Calibri" pitchFamily="34" charset="-120"/>
                        </a:rPr>
                        <a:t>This Quarter</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9"/>
                  </a:ext>
                </a:extLst>
              </a:tr>
              <a:tr h="374904">
                <a:tc>
                  <a:txBody>
                    <a:bodyPr/>
                    <a:lstStyle/>
                    <a:p>
                      <a:pPr marL="0" indent="0">
                        <a:buNone/>
                      </a:pPr>
                      <a:r>
                        <a:rPr lang="en-US" sz="850" b="1" dirty="0">
                          <a:solidFill>
                            <a:srgbClr val="1C2B3A"/>
                          </a:solidFill>
                          <a:latin typeface="Calibri" pitchFamily="34" charset="0"/>
                          <a:ea typeface="Calibri" pitchFamily="34" charset="-122"/>
                          <a:cs typeface="Calibri" pitchFamily="34" charset="-120"/>
                        </a:rPr>
                        <a:t>Development Patterns</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buNone/>
                      </a:pPr>
                      <a:r>
                        <a:rPr lang="en-US" sz="800" dirty="0">
                          <a:solidFill>
                            <a:srgbClr val="5A6E8C"/>
                          </a:solidFill>
                          <a:latin typeface="Calibri" pitchFamily="34" charset="0"/>
                          <a:ea typeface="Calibri" pitchFamily="34" charset="-122"/>
                          <a:cs typeface="Calibri" pitchFamily="34" charset="-120"/>
                        </a:rPr>
                        <a:t>No common standard. Testers re-learn every project.</a:t>
                      </a:r>
                      <a:endParaRPr lang="en-US" sz="80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0E7C7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tc>
                  <a:txBody>
                    <a:bodyPr/>
                    <a:lstStyle/>
                    <a:p>
                      <a:pPr marL="0" indent="0" algn="ctr">
                        <a:buNone/>
                      </a:pPr>
                      <a:r>
                        <a:rPr lang="en-US" sz="850" b="1" dirty="0">
                          <a:solidFill>
                            <a:srgbClr val="0E7C7B"/>
                          </a:solidFill>
                          <a:latin typeface="Calibri" pitchFamily="34" charset="0"/>
                          <a:ea typeface="Calibri" pitchFamily="34" charset="-122"/>
                          <a:cs typeface="Calibri" pitchFamily="34" charset="-120"/>
                        </a:rPr>
                        <a:t>This Quarter</a:t>
                      </a:r>
                      <a:endParaRPr lang="en-US" sz="850" dirty="0">
                        <a:latin typeface="Calibri" charset="0"/>
                        <a:ea typeface="Calibri" charset="0"/>
                        <a:cs typeface="Calibri" charset="0"/>
                      </a:endParaRPr>
                    </a:p>
                  </a:txBody>
                  <a:tcPr>
                    <a:lnL w="7620" cap="flat" cmpd="sng" algn="ctr">
                      <a:solidFill>
                        <a:srgbClr val="DDE3EE"/>
                      </a:solidFill>
                      <a:prstDash val="solid"/>
                      <a:round/>
                      <a:headEnd type="none" w="med" len="med"/>
                      <a:tailEnd type="none" w="med" len="med"/>
                    </a:lnL>
                    <a:lnR w="7620" cap="flat" cmpd="sng" algn="ctr">
                      <a:solidFill>
                        <a:srgbClr val="DDE3EE"/>
                      </a:solidFill>
                      <a:prstDash val="solid"/>
                      <a:round/>
                      <a:headEnd type="none" w="med" len="med"/>
                      <a:tailEnd type="none" w="med" len="med"/>
                    </a:lnR>
                    <a:lnT w="7620" cap="flat" cmpd="sng" algn="ctr">
                      <a:solidFill>
                        <a:srgbClr val="DDE3EE"/>
                      </a:solidFill>
                      <a:prstDash val="solid"/>
                      <a:round/>
                      <a:headEnd type="none" w="med" len="med"/>
                      <a:tailEnd type="none" w="med" len="med"/>
                    </a:lnT>
                    <a:lnB w="762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Proposed Improvement Roadmap</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Phased, realistic, and team-owned</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20 / 22</a:t>
            </a:r>
            <a:endParaRPr lang="en-US" sz="900" dirty="0"/>
          </a:p>
        </p:txBody>
      </p:sp>
      <p:sp>
        <p:nvSpPr>
          <p:cNvPr id="7" name="Shape 5"/>
          <p:cNvSpPr/>
          <p:nvPr/>
        </p:nvSpPr>
        <p:spPr>
          <a:xfrm>
            <a:off x="365760" y="932688"/>
            <a:ext cx="2011680" cy="3639312"/>
          </a:xfrm>
          <a:prstGeom prst="rect">
            <a:avLst/>
          </a:prstGeom>
          <a:solidFill>
            <a:srgbClr val="0D1F35"/>
          </a:solidFill>
          <a:ln w="12700">
            <a:solidFill>
              <a:srgbClr val="0D1F35"/>
            </a:solidFill>
            <a:prstDash val="solid"/>
          </a:ln>
          <a:effectLst>
            <a:outerShdw blurRad="127000" dist="38100" dir="8100000" algn="bl" rotWithShape="0">
              <a:srgbClr val="000000">
                <a:alpha val="10000"/>
              </a:srgbClr>
            </a:outerShdw>
          </a:effectLst>
        </p:spPr>
        <p:txBody>
          <a:bodyPr/>
          <a:lstStyle/>
          <a:p>
            <a:endParaRPr lang="en-GB"/>
          </a:p>
        </p:txBody>
      </p:sp>
      <p:sp>
        <p:nvSpPr>
          <p:cNvPr id="8" name="Shape 6"/>
          <p:cNvSpPr/>
          <p:nvPr/>
        </p:nvSpPr>
        <p:spPr>
          <a:xfrm>
            <a:off x="365760" y="932688"/>
            <a:ext cx="2011680" cy="475488"/>
          </a:xfrm>
          <a:prstGeom prst="rect">
            <a:avLst/>
          </a:prstGeom>
          <a:solidFill>
            <a:srgbClr val="E8453C"/>
          </a:solidFill>
          <a:ln w="12700">
            <a:solidFill>
              <a:srgbClr val="E8453C"/>
            </a:solidFill>
            <a:prstDash val="solid"/>
          </a:ln>
        </p:spPr>
        <p:txBody>
          <a:bodyPr/>
          <a:lstStyle/>
          <a:p>
            <a:endParaRPr lang="en-GB"/>
          </a:p>
        </p:txBody>
      </p:sp>
      <p:sp>
        <p:nvSpPr>
          <p:cNvPr id="9" name="Text 7"/>
          <p:cNvSpPr/>
          <p:nvPr/>
        </p:nvSpPr>
        <p:spPr>
          <a:xfrm>
            <a:off x="438912" y="960120"/>
            <a:ext cx="192024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Phase 1</a:t>
            </a:r>
            <a:endParaRPr lang="en-US" sz="1200" dirty="0"/>
          </a:p>
        </p:txBody>
      </p:sp>
      <p:sp>
        <p:nvSpPr>
          <p:cNvPr id="10" name="Text 8"/>
          <p:cNvSpPr/>
          <p:nvPr/>
        </p:nvSpPr>
        <p:spPr>
          <a:xfrm>
            <a:off x="438912" y="1170432"/>
            <a:ext cx="1920240" cy="219456"/>
          </a:xfrm>
          <a:prstGeom prst="rect">
            <a:avLst/>
          </a:prstGeom>
          <a:noFill/>
          <a:ln/>
        </p:spPr>
        <p:txBody>
          <a:bodyPr wrap="square" lIns="0" tIns="0" rIns="0" bIns="0" rtlCol="0" anchor="ctr"/>
          <a:lstStyle/>
          <a:p>
            <a:pPr marL="0" indent="0">
              <a:buNone/>
            </a:pPr>
            <a:r>
              <a:rPr lang="en-US" sz="750" dirty="0">
                <a:solidFill>
                  <a:srgbClr val="E0E0E0"/>
                </a:solidFill>
                <a:latin typeface="Calibri" pitchFamily="34" charset="0"/>
                <a:ea typeface="Calibri" pitchFamily="34" charset="-122"/>
                <a:cs typeface="Calibri" pitchFamily="34" charset="-120"/>
              </a:rPr>
              <a:t>Weeks 1–2</a:t>
            </a:r>
            <a:endParaRPr lang="en-US" sz="750" dirty="0"/>
          </a:p>
          <a:p>
            <a:pPr marL="0" indent="0">
              <a:buNone/>
            </a:pPr>
            <a:r>
              <a:rPr lang="en-US" sz="750" dirty="0">
                <a:solidFill>
                  <a:srgbClr val="E0E0E0"/>
                </a:solidFill>
                <a:latin typeface="Calibri" pitchFamily="34" charset="0"/>
                <a:ea typeface="Calibri" pitchFamily="34" charset="-122"/>
                <a:cs typeface="Calibri" pitchFamily="34" charset="-120"/>
              </a:rPr>
              <a:t>(Immediate)</a:t>
            </a:r>
            <a:endParaRPr lang="en-US" sz="750" dirty="0"/>
          </a:p>
        </p:txBody>
      </p:sp>
      <p:sp>
        <p:nvSpPr>
          <p:cNvPr id="11" name="Shape 9"/>
          <p:cNvSpPr/>
          <p:nvPr/>
        </p:nvSpPr>
        <p:spPr>
          <a:xfrm>
            <a:off x="457200" y="1517904"/>
            <a:ext cx="1828800" cy="530352"/>
          </a:xfrm>
          <a:prstGeom prst="rect">
            <a:avLst/>
          </a:prstGeom>
          <a:solidFill>
            <a:srgbClr val="1A2E45"/>
          </a:solidFill>
          <a:ln w="12700">
            <a:solidFill>
              <a:srgbClr val="2A4060"/>
            </a:solidFill>
            <a:prstDash val="solid"/>
          </a:ln>
        </p:spPr>
        <p:txBody>
          <a:bodyPr/>
          <a:lstStyle/>
          <a:p>
            <a:endParaRPr lang="en-GB"/>
          </a:p>
        </p:txBody>
      </p:sp>
      <p:sp>
        <p:nvSpPr>
          <p:cNvPr id="12" name="Text 10"/>
          <p:cNvSpPr/>
          <p:nvPr/>
        </p:nvSpPr>
        <p:spPr>
          <a:xfrm>
            <a:off x="530352" y="157276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Create Production Issues Log in Confluence</a:t>
            </a:r>
            <a:endParaRPr lang="en-US" sz="780" dirty="0"/>
          </a:p>
        </p:txBody>
      </p:sp>
      <p:sp>
        <p:nvSpPr>
          <p:cNvPr id="13" name="Shape 11"/>
          <p:cNvSpPr/>
          <p:nvPr/>
        </p:nvSpPr>
        <p:spPr>
          <a:xfrm>
            <a:off x="457200" y="2112264"/>
            <a:ext cx="1828800" cy="530352"/>
          </a:xfrm>
          <a:prstGeom prst="rect">
            <a:avLst/>
          </a:prstGeom>
          <a:solidFill>
            <a:srgbClr val="1A2E45"/>
          </a:solidFill>
          <a:ln w="12700">
            <a:solidFill>
              <a:srgbClr val="2A4060"/>
            </a:solidFill>
            <a:prstDash val="solid"/>
          </a:ln>
        </p:spPr>
        <p:txBody>
          <a:bodyPr/>
          <a:lstStyle/>
          <a:p>
            <a:endParaRPr lang="en-GB"/>
          </a:p>
        </p:txBody>
      </p:sp>
      <p:sp>
        <p:nvSpPr>
          <p:cNvPr id="14" name="Text 12"/>
          <p:cNvSpPr/>
          <p:nvPr/>
        </p:nvSpPr>
        <p:spPr>
          <a:xfrm>
            <a:off x="530352" y="216712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Agree &amp; publish Definition of Ready (incl. TDM clause)</a:t>
            </a:r>
            <a:endParaRPr lang="en-US" sz="780" dirty="0"/>
          </a:p>
        </p:txBody>
      </p:sp>
      <p:sp>
        <p:nvSpPr>
          <p:cNvPr id="15" name="Shape 13"/>
          <p:cNvSpPr/>
          <p:nvPr/>
        </p:nvSpPr>
        <p:spPr>
          <a:xfrm>
            <a:off x="457200" y="2706624"/>
            <a:ext cx="1828800" cy="530352"/>
          </a:xfrm>
          <a:prstGeom prst="rect">
            <a:avLst/>
          </a:prstGeom>
          <a:solidFill>
            <a:srgbClr val="1A2E45"/>
          </a:solidFill>
          <a:ln w="12700">
            <a:solidFill>
              <a:srgbClr val="2A4060"/>
            </a:solidFill>
            <a:prstDash val="solid"/>
          </a:ln>
        </p:spPr>
        <p:txBody>
          <a:bodyPr/>
          <a:lstStyle/>
          <a:p>
            <a:endParaRPr lang="en-GB"/>
          </a:p>
        </p:txBody>
      </p:sp>
      <p:sp>
        <p:nvSpPr>
          <p:cNvPr id="16" name="Text 14"/>
          <p:cNvSpPr/>
          <p:nvPr/>
        </p:nvSpPr>
        <p:spPr>
          <a:xfrm>
            <a:off x="530352" y="276148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Nominate TDM Owner per active project</a:t>
            </a:r>
            <a:endParaRPr lang="en-US" sz="780" dirty="0"/>
          </a:p>
        </p:txBody>
      </p:sp>
      <p:sp>
        <p:nvSpPr>
          <p:cNvPr id="17" name="Shape 15"/>
          <p:cNvSpPr/>
          <p:nvPr/>
        </p:nvSpPr>
        <p:spPr>
          <a:xfrm>
            <a:off x="457200" y="3300984"/>
            <a:ext cx="1828800" cy="530352"/>
          </a:xfrm>
          <a:prstGeom prst="rect">
            <a:avLst/>
          </a:prstGeom>
          <a:solidFill>
            <a:srgbClr val="1A2E45"/>
          </a:solidFill>
          <a:ln w="12700">
            <a:solidFill>
              <a:srgbClr val="2A4060"/>
            </a:solidFill>
            <a:prstDash val="solid"/>
          </a:ln>
        </p:spPr>
        <p:txBody>
          <a:bodyPr/>
          <a:lstStyle/>
          <a:p>
            <a:endParaRPr lang="en-GB"/>
          </a:p>
        </p:txBody>
      </p:sp>
      <p:sp>
        <p:nvSpPr>
          <p:cNvPr id="18" name="Text 16"/>
          <p:cNvSpPr/>
          <p:nvPr/>
        </p:nvSpPr>
        <p:spPr>
          <a:xfrm>
            <a:off x="530352" y="335584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Nominate or assign interim Product Owner / BA function</a:t>
            </a:r>
            <a:endParaRPr lang="en-US" sz="780" dirty="0"/>
          </a:p>
        </p:txBody>
      </p:sp>
      <p:sp>
        <p:nvSpPr>
          <p:cNvPr id="19" name="Shape 17"/>
          <p:cNvSpPr/>
          <p:nvPr/>
        </p:nvSpPr>
        <p:spPr>
          <a:xfrm>
            <a:off x="457200" y="3895344"/>
            <a:ext cx="1828800" cy="530352"/>
          </a:xfrm>
          <a:prstGeom prst="rect">
            <a:avLst/>
          </a:prstGeom>
          <a:solidFill>
            <a:srgbClr val="1A2E45"/>
          </a:solidFill>
          <a:ln w="12700">
            <a:solidFill>
              <a:srgbClr val="2A4060"/>
            </a:solidFill>
            <a:prstDash val="solid"/>
          </a:ln>
        </p:spPr>
        <p:txBody>
          <a:bodyPr/>
          <a:lstStyle/>
          <a:p>
            <a:endParaRPr lang="en-GB"/>
          </a:p>
        </p:txBody>
      </p:sp>
      <p:sp>
        <p:nvSpPr>
          <p:cNvPr id="20" name="Text 18"/>
          <p:cNvSpPr/>
          <p:nvPr/>
        </p:nvSpPr>
        <p:spPr>
          <a:xfrm>
            <a:off x="530352" y="395020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First 3-Amigos session — piloted on next upcoming story</a:t>
            </a:r>
            <a:endParaRPr lang="en-US" sz="780" dirty="0"/>
          </a:p>
        </p:txBody>
      </p:sp>
      <p:sp>
        <p:nvSpPr>
          <p:cNvPr id="21" name="Shape 19"/>
          <p:cNvSpPr/>
          <p:nvPr/>
        </p:nvSpPr>
        <p:spPr>
          <a:xfrm>
            <a:off x="2450592" y="932688"/>
            <a:ext cx="2011680" cy="3639312"/>
          </a:xfrm>
          <a:prstGeom prst="rect">
            <a:avLst/>
          </a:prstGeom>
          <a:solidFill>
            <a:srgbClr val="0D1F35"/>
          </a:solidFill>
          <a:ln w="12700">
            <a:solidFill>
              <a:srgbClr val="0D1F35"/>
            </a:solidFill>
            <a:prstDash val="solid"/>
          </a:ln>
          <a:effectLst>
            <a:outerShdw blurRad="127000" dist="38100" dir="8100000" algn="bl" rotWithShape="0">
              <a:srgbClr val="000000">
                <a:alpha val="10000"/>
              </a:srgbClr>
            </a:outerShdw>
          </a:effectLst>
        </p:spPr>
        <p:txBody>
          <a:bodyPr/>
          <a:lstStyle/>
          <a:p>
            <a:endParaRPr lang="en-GB"/>
          </a:p>
        </p:txBody>
      </p:sp>
      <p:sp>
        <p:nvSpPr>
          <p:cNvPr id="22" name="Shape 20"/>
          <p:cNvSpPr/>
          <p:nvPr/>
        </p:nvSpPr>
        <p:spPr>
          <a:xfrm>
            <a:off x="2450592" y="932688"/>
            <a:ext cx="2011680" cy="475488"/>
          </a:xfrm>
          <a:prstGeom prst="rect">
            <a:avLst/>
          </a:prstGeom>
          <a:solidFill>
            <a:srgbClr val="F59E0B"/>
          </a:solidFill>
          <a:ln w="12700">
            <a:solidFill>
              <a:srgbClr val="F59E0B"/>
            </a:solidFill>
            <a:prstDash val="solid"/>
          </a:ln>
        </p:spPr>
        <p:txBody>
          <a:bodyPr/>
          <a:lstStyle/>
          <a:p>
            <a:endParaRPr lang="en-GB"/>
          </a:p>
        </p:txBody>
      </p:sp>
      <p:sp>
        <p:nvSpPr>
          <p:cNvPr id="23" name="Text 21"/>
          <p:cNvSpPr/>
          <p:nvPr/>
        </p:nvSpPr>
        <p:spPr>
          <a:xfrm>
            <a:off x="2523744" y="960120"/>
            <a:ext cx="192024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Phase 2</a:t>
            </a:r>
            <a:endParaRPr lang="en-US" sz="1200" dirty="0"/>
          </a:p>
        </p:txBody>
      </p:sp>
      <p:sp>
        <p:nvSpPr>
          <p:cNvPr id="24" name="Text 22"/>
          <p:cNvSpPr/>
          <p:nvPr/>
        </p:nvSpPr>
        <p:spPr>
          <a:xfrm>
            <a:off x="2523744" y="1170432"/>
            <a:ext cx="1920240" cy="219456"/>
          </a:xfrm>
          <a:prstGeom prst="rect">
            <a:avLst/>
          </a:prstGeom>
          <a:noFill/>
          <a:ln/>
        </p:spPr>
        <p:txBody>
          <a:bodyPr wrap="square" lIns="0" tIns="0" rIns="0" bIns="0" rtlCol="0" anchor="ctr"/>
          <a:lstStyle/>
          <a:p>
            <a:pPr marL="0" indent="0">
              <a:buNone/>
            </a:pPr>
            <a:r>
              <a:rPr lang="en-US" sz="750" dirty="0">
                <a:solidFill>
                  <a:srgbClr val="E0E0E0"/>
                </a:solidFill>
                <a:latin typeface="Calibri" pitchFamily="34" charset="0"/>
                <a:ea typeface="Calibri" pitchFamily="34" charset="-122"/>
                <a:cs typeface="Calibri" pitchFamily="34" charset="-120"/>
              </a:rPr>
              <a:t>Weeks 3–6</a:t>
            </a:r>
            <a:endParaRPr lang="en-US" sz="750" dirty="0"/>
          </a:p>
          <a:p>
            <a:pPr marL="0" indent="0">
              <a:buNone/>
            </a:pPr>
            <a:r>
              <a:rPr lang="en-US" sz="750" dirty="0">
                <a:solidFill>
                  <a:srgbClr val="E0E0E0"/>
                </a:solidFill>
                <a:latin typeface="Calibri" pitchFamily="34" charset="0"/>
                <a:ea typeface="Calibri" pitchFamily="34" charset="-122"/>
                <a:cs typeface="Calibri" pitchFamily="34" charset="-120"/>
              </a:rPr>
              <a:t>(This Sprint Cycle)</a:t>
            </a:r>
            <a:endParaRPr lang="en-US" sz="750" dirty="0"/>
          </a:p>
        </p:txBody>
      </p:sp>
      <p:sp>
        <p:nvSpPr>
          <p:cNvPr id="25" name="Shape 23"/>
          <p:cNvSpPr/>
          <p:nvPr/>
        </p:nvSpPr>
        <p:spPr>
          <a:xfrm>
            <a:off x="2542032" y="1517904"/>
            <a:ext cx="1828800" cy="530352"/>
          </a:xfrm>
          <a:prstGeom prst="rect">
            <a:avLst/>
          </a:prstGeom>
          <a:solidFill>
            <a:srgbClr val="1A2E45"/>
          </a:solidFill>
          <a:ln w="12700">
            <a:solidFill>
              <a:srgbClr val="2A4060"/>
            </a:solidFill>
            <a:prstDash val="solid"/>
          </a:ln>
        </p:spPr>
        <p:txBody>
          <a:bodyPr/>
          <a:lstStyle/>
          <a:p>
            <a:endParaRPr lang="en-GB"/>
          </a:p>
        </p:txBody>
      </p:sp>
      <p:sp>
        <p:nvSpPr>
          <p:cNvPr id="26" name="Text 24"/>
          <p:cNvSpPr/>
          <p:nvPr/>
        </p:nvSpPr>
        <p:spPr>
          <a:xfrm>
            <a:off x="2615184" y="157276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Provision test SharePoint environment or sanitised data copy</a:t>
            </a:r>
            <a:endParaRPr lang="en-US" sz="780" dirty="0"/>
          </a:p>
        </p:txBody>
      </p:sp>
      <p:sp>
        <p:nvSpPr>
          <p:cNvPr id="27" name="Shape 25"/>
          <p:cNvSpPr/>
          <p:nvPr/>
        </p:nvSpPr>
        <p:spPr>
          <a:xfrm>
            <a:off x="2542032" y="2112264"/>
            <a:ext cx="1828800" cy="530352"/>
          </a:xfrm>
          <a:prstGeom prst="rect">
            <a:avLst/>
          </a:prstGeom>
          <a:solidFill>
            <a:srgbClr val="1A2E45"/>
          </a:solidFill>
          <a:ln w="12700">
            <a:solidFill>
              <a:srgbClr val="2A4060"/>
            </a:solidFill>
            <a:prstDash val="solid"/>
          </a:ln>
        </p:spPr>
        <p:txBody>
          <a:bodyPr/>
          <a:lstStyle/>
          <a:p>
            <a:endParaRPr lang="en-GB"/>
          </a:p>
        </p:txBody>
      </p:sp>
      <p:sp>
        <p:nvSpPr>
          <p:cNvPr id="28" name="Text 26"/>
          <p:cNvSpPr/>
          <p:nvPr/>
        </p:nvSpPr>
        <p:spPr>
          <a:xfrm>
            <a:off x="2615184" y="216712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Introduce INVEST story review at sprint planning</a:t>
            </a:r>
            <a:endParaRPr lang="en-US" sz="780" dirty="0"/>
          </a:p>
        </p:txBody>
      </p:sp>
      <p:sp>
        <p:nvSpPr>
          <p:cNvPr id="29" name="Shape 27"/>
          <p:cNvSpPr/>
          <p:nvPr/>
        </p:nvSpPr>
        <p:spPr>
          <a:xfrm>
            <a:off x="2542032" y="2706624"/>
            <a:ext cx="1828800" cy="530352"/>
          </a:xfrm>
          <a:prstGeom prst="rect">
            <a:avLst/>
          </a:prstGeom>
          <a:solidFill>
            <a:srgbClr val="1A2E45"/>
          </a:solidFill>
          <a:ln w="12700">
            <a:solidFill>
              <a:srgbClr val="2A4060"/>
            </a:solidFill>
            <a:prstDash val="solid"/>
          </a:ln>
        </p:spPr>
        <p:txBody>
          <a:bodyPr/>
          <a:lstStyle/>
          <a:p>
            <a:endParaRPr lang="en-GB"/>
          </a:p>
        </p:txBody>
      </p:sp>
      <p:sp>
        <p:nvSpPr>
          <p:cNvPr id="30" name="Text 28"/>
          <p:cNvSpPr/>
          <p:nvPr/>
        </p:nvSpPr>
        <p:spPr>
          <a:xfrm>
            <a:off x="2615184" y="276148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Introduce ADO layer tagging [RAW] [CLEAN] [CURATE]</a:t>
            </a:r>
            <a:endParaRPr lang="en-US" sz="780" dirty="0"/>
          </a:p>
        </p:txBody>
      </p:sp>
      <p:sp>
        <p:nvSpPr>
          <p:cNvPr id="31" name="Shape 29"/>
          <p:cNvSpPr/>
          <p:nvPr/>
        </p:nvSpPr>
        <p:spPr>
          <a:xfrm>
            <a:off x="2542032" y="3300984"/>
            <a:ext cx="1828800" cy="530352"/>
          </a:xfrm>
          <a:prstGeom prst="rect">
            <a:avLst/>
          </a:prstGeom>
          <a:solidFill>
            <a:srgbClr val="1A2E45"/>
          </a:solidFill>
          <a:ln w="12700">
            <a:solidFill>
              <a:srgbClr val="2A4060"/>
            </a:solidFill>
            <a:prstDash val="solid"/>
          </a:ln>
        </p:spPr>
        <p:txBody>
          <a:bodyPr/>
          <a:lstStyle/>
          <a:p>
            <a:endParaRPr lang="en-GB"/>
          </a:p>
        </p:txBody>
      </p:sp>
      <p:sp>
        <p:nvSpPr>
          <p:cNvPr id="32" name="Text 30"/>
          <p:cNvSpPr/>
          <p:nvPr/>
        </p:nvSpPr>
        <p:spPr>
          <a:xfrm>
            <a:off x="2615184" y="335584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Agree common pipeline implementation playbook (Dev + QA)</a:t>
            </a:r>
            <a:endParaRPr lang="en-US" sz="780" dirty="0"/>
          </a:p>
        </p:txBody>
      </p:sp>
      <p:sp>
        <p:nvSpPr>
          <p:cNvPr id="33" name="Shape 31"/>
          <p:cNvSpPr/>
          <p:nvPr/>
        </p:nvSpPr>
        <p:spPr>
          <a:xfrm>
            <a:off x="2542032" y="3895344"/>
            <a:ext cx="1828800" cy="530352"/>
          </a:xfrm>
          <a:prstGeom prst="rect">
            <a:avLst/>
          </a:prstGeom>
          <a:solidFill>
            <a:srgbClr val="1A2E45"/>
          </a:solidFill>
          <a:ln w="12700">
            <a:solidFill>
              <a:srgbClr val="2A4060"/>
            </a:solidFill>
            <a:prstDash val="solid"/>
          </a:ln>
        </p:spPr>
        <p:txBody>
          <a:bodyPr/>
          <a:lstStyle/>
          <a:p>
            <a:endParaRPr lang="en-GB"/>
          </a:p>
        </p:txBody>
      </p:sp>
      <p:sp>
        <p:nvSpPr>
          <p:cNvPr id="34" name="Text 32"/>
          <p:cNvSpPr/>
          <p:nvPr/>
        </p:nvSpPr>
        <p:spPr>
          <a:xfrm>
            <a:off x="2615184" y="395020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Define NFRs and performance KPIs for active projects</a:t>
            </a:r>
            <a:endParaRPr lang="en-US" sz="780" dirty="0"/>
          </a:p>
        </p:txBody>
      </p:sp>
      <p:sp>
        <p:nvSpPr>
          <p:cNvPr id="35" name="Shape 33"/>
          <p:cNvSpPr/>
          <p:nvPr/>
        </p:nvSpPr>
        <p:spPr>
          <a:xfrm>
            <a:off x="4535424" y="932688"/>
            <a:ext cx="2011680" cy="3639312"/>
          </a:xfrm>
          <a:prstGeom prst="rect">
            <a:avLst/>
          </a:prstGeom>
          <a:solidFill>
            <a:srgbClr val="0D1F35"/>
          </a:solidFill>
          <a:ln w="12700">
            <a:solidFill>
              <a:srgbClr val="0D1F35"/>
            </a:solidFill>
            <a:prstDash val="solid"/>
          </a:ln>
          <a:effectLst>
            <a:outerShdw blurRad="127000" dist="38100" dir="8100000" algn="bl" rotWithShape="0">
              <a:srgbClr val="000000">
                <a:alpha val="10000"/>
              </a:srgbClr>
            </a:outerShdw>
          </a:effectLst>
        </p:spPr>
        <p:txBody>
          <a:bodyPr/>
          <a:lstStyle/>
          <a:p>
            <a:endParaRPr lang="en-GB"/>
          </a:p>
        </p:txBody>
      </p:sp>
      <p:sp>
        <p:nvSpPr>
          <p:cNvPr id="36" name="Shape 34"/>
          <p:cNvSpPr/>
          <p:nvPr/>
        </p:nvSpPr>
        <p:spPr>
          <a:xfrm>
            <a:off x="4535424" y="932688"/>
            <a:ext cx="2011680" cy="475488"/>
          </a:xfrm>
          <a:prstGeom prst="rect">
            <a:avLst/>
          </a:prstGeom>
          <a:solidFill>
            <a:srgbClr val="0E7C7B"/>
          </a:solidFill>
          <a:ln w="12700">
            <a:solidFill>
              <a:srgbClr val="0E7C7B"/>
            </a:solidFill>
            <a:prstDash val="solid"/>
          </a:ln>
        </p:spPr>
        <p:txBody>
          <a:bodyPr/>
          <a:lstStyle/>
          <a:p>
            <a:endParaRPr lang="en-GB"/>
          </a:p>
        </p:txBody>
      </p:sp>
      <p:sp>
        <p:nvSpPr>
          <p:cNvPr id="37" name="Text 35"/>
          <p:cNvSpPr/>
          <p:nvPr/>
        </p:nvSpPr>
        <p:spPr>
          <a:xfrm>
            <a:off x="4608576" y="960120"/>
            <a:ext cx="192024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Phase 3</a:t>
            </a:r>
            <a:endParaRPr lang="en-US" sz="1200" dirty="0"/>
          </a:p>
        </p:txBody>
      </p:sp>
      <p:sp>
        <p:nvSpPr>
          <p:cNvPr id="38" name="Text 36"/>
          <p:cNvSpPr/>
          <p:nvPr/>
        </p:nvSpPr>
        <p:spPr>
          <a:xfrm>
            <a:off x="4608576" y="1170432"/>
            <a:ext cx="1920240" cy="219456"/>
          </a:xfrm>
          <a:prstGeom prst="rect">
            <a:avLst/>
          </a:prstGeom>
          <a:noFill/>
          <a:ln/>
        </p:spPr>
        <p:txBody>
          <a:bodyPr wrap="square" lIns="0" tIns="0" rIns="0" bIns="0" rtlCol="0" anchor="ctr"/>
          <a:lstStyle/>
          <a:p>
            <a:pPr marL="0" indent="0">
              <a:buNone/>
            </a:pPr>
            <a:r>
              <a:rPr lang="en-US" sz="750" dirty="0">
                <a:solidFill>
                  <a:srgbClr val="E0E0E0"/>
                </a:solidFill>
                <a:latin typeface="Calibri" pitchFamily="34" charset="0"/>
                <a:ea typeface="Calibri" pitchFamily="34" charset="-122"/>
                <a:cs typeface="Calibri" pitchFamily="34" charset="-120"/>
              </a:rPr>
              <a:t>Weeks 6–12</a:t>
            </a:r>
            <a:endParaRPr lang="en-US" sz="750" dirty="0"/>
          </a:p>
          <a:p>
            <a:pPr marL="0" indent="0">
              <a:buNone/>
            </a:pPr>
            <a:r>
              <a:rPr lang="en-US" sz="750" dirty="0">
                <a:solidFill>
                  <a:srgbClr val="E0E0E0"/>
                </a:solidFill>
                <a:latin typeface="Calibri" pitchFamily="34" charset="0"/>
                <a:ea typeface="Calibri" pitchFamily="34" charset="-122"/>
                <a:cs typeface="Calibri" pitchFamily="34" charset="-120"/>
              </a:rPr>
              <a:t>(This Quarter)</a:t>
            </a:r>
            <a:endParaRPr lang="en-US" sz="750" dirty="0"/>
          </a:p>
        </p:txBody>
      </p:sp>
      <p:sp>
        <p:nvSpPr>
          <p:cNvPr id="39" name="Shape 37"/>
          <p:cNvSpPr/>
          <p:nvPr/>
        </p:nvSpPr>
        <p:spPr>
          <a:xfrm>
            <a:off x="4626864" y="1517904"/>
            <a:ext cx="1828800" cy="530352"/>
          </a:xfrm>
          <a:prstGeom prst="rect">
            <a:avLst/>
          </a:prstGeom>
          <a:solidFill>
            <a:srgbClr val="1A2E45"/>
          </a:solidFill>
          <a:ln w="12700">
            <a:solidFill>
              <a:srgbClr val="2A4060"/>
            </a:solidFill>
            <a:prstDash val="solid"/>
          </a:ln>
        </p:spPr>
        <p:txBody>
          <a:bodyPr/>
          <a:lstStyle/>
          <a:p>
            <a:endParaRPr lang="en-GB"/>
          </a:p>
        </p:txBody>
      </p:sp>
      <p:sp>
        <p:nvSpPr>
          <p:cNvPr id="40" name="Text 38"/>
          <p:cNvSpPr/>
          <p:nvPr/>
        </p:nvSpPr>
        <p:spPr>
          <a:xfrm>
            <a:off x="4700016" y="157276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Formalise PyTest automation framework adoption across projects</a:t>
            </a:r>
            <a:endParaRPr lang="en-US" sz="780" dirty="0"/>
          </a:p>
        </p:txBody>
      </p:sp>
      <p:sp>
        <p:nvSpPr>
          <p:cNvPr id="41" name="Shape 39"/>
          <p:cNvSpPr/>
          <p:nvPr/>
        </p:nvSpPr>
        <p:spPr>
          <a:xfrm>
            <a:off x="4626864" y="2112264"/>
            <a:ext cx="1828800" cy="530352"/>
          </a:xfrm>
          <a:prstGeom prst="rect">
            <a:avLst/>
          </a:prstGeom>
          <a:solidFill>
            <a:srgbClr val="1A2E45"/>
          </a:solidFill>
          <a:ln w="12700">
            <a:solidFill>
              <a:srgbClr val="2A4060"/>
            </a:solidFill>
            <a:prstDash val="solid"/>
          </a:ln>
        </p:spPr>
        <p:txBody>
          <a:bodyPr/>
          <a:lstStyle/>
          <a:p>
            <a:endParaRPr lang="en-GB"/>
          </a:p>
        </p:txBody>
      </p:sp>
      <p:sp>
        <p:nvSpPr>
          <p:cNvPr id="42" name="Text 40"/>
          <p:cNvSpPr/>
          <p:nvPr/>
        </p:nvSpPr>
        <p:spPr>
          <a:xfrm>
            <a:off x="4700016" y="216712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Establish monthly production pattern review ceremony</a:t>
            </a:r>
            <a:endParaRPr lang="en-US" sz="780" dirty="0"/>
          </a:p>
        </p:txBody>
      </p:sp>
      <p:sp>
        <p:nvSpPr>
          <p:cNvPr id="43" name="Shape 41"/>
          <p:cNvSpPr/>
          <p:nvPr/>
        </p:nvSpPr>
        <p:spPr>
          <a:xfrm>
            <a:off x="4626864" y="2706624"/>
            <a:ext cx="1828800" cy="530352"/>
          </a:xfrm>
          <a:prstGeom prst="rect">
            <a:avLst/>
          </a:prstGeom>
          <a:solidFill>
            <a:srgbClr val="1A2E45"/>
          </a:solidFill>
          <a:ln w="12700">
            <a:solidFill>
              <a:srgbClr val="2A4060"/>
            </a:solidFill>
            <a:prstDash val="solid"/>
          </a:ln>
        </p:spPr>
        <p:txBody>
          <a:bodyPr/>
          <a:lstStyle/>
          <a:p>
            <a:endParaRPr lang="en-GB"/>
          </a:p>
        </p:txBody>
      </p:sp>
      <p:sp>
        <p:nvSpPr>
          <p:cNvPr id="44" name="Text 42"/>
          <p:cNvSpPr/>
          <p:nvPr/>
        </p:nvSpPr>
        <p:spPr>
          <a:xfrm>
            <a:off x="4700016" y="276148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Introduce QA deployment gate into CI pipeline</a:t>
            </a:r>
            <a:endParaRPr lang="en-US" sz="780" dirty="0"/>
          </a:p>
        </p:txBody>
      </p:sp>
      <p:sp>
        <p:nvSpPr>
          <p:cNvPr id="45" name="Shape 43"/>
          <p:cNvSpPr/>
          <p:nvPr/>
        </p:nvSpPr>
        <p:spPr>
          <a:xfrm>
            <a:off x="4626864" y="3300984"/>
            <a:ext cx="1828800" cy="530352"/>
          </a:xfrm>
          <a:prstGeom prst="rect">
            <a:avLst/>
          </a:prstGeom>
          <a:solidFill>
            <a:srgbClr val="1A2E45"/>
          </a:solidFill>
          <a:ln w="12700">
            <a:solidFill>
              <a:srgbClr val="2A4060"/>
            </a:solidFill>
            <a:prstDash val="solid"/>
          </a:ln>
        </p:spPr>
        <p:txBody>
          <a:bodyPr/>
          <a:lstStyle/>
          <a:p>
            <a:endParaRPr lang="en-GB"/>
          </a:p>
        </p:txBody>
      </p:sp>
      <p:sp>
        <p:nvSpPr>
          <p:cNvPr id="46" name="Text 44"/>
          <p:cNvSpPr/>
          <p:nvPr/>
        </p:nvSpPr>
        <p:spPr>
          <a:xfrm>
            <a:off x="4700016" y="335584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Publish Confluence project pages with living documentation</a:t>
            </a:r>
            <a:endParaRPr lang="en-US" sz="780" dirty="0"/>
          </a:p>
        </p:txBody>
      </p:sp>
      <p:sp>
        <p:nvSpPr>
          <p:cNvPr id="47" name="Shape 45"/>
          <p:cNvSpPr/>
          <p:nvPr/>
        </p:nvSpPr>
        <p:spPr>
          <a:xfrm>
            <a:off x="4626864" y="3895344"/>
            <a:ext cx="1828800" cy="530352"/>
          </a:xfrm>
          <a:prstGeom prst="rect">
            <a:avLst/>
          </a:prstGeom>
          <a:solidFill>
            <a:srgbClr val="1A2E45"/>
          </a:solidFill>
          <a:ln w="12700">
            <a:solidFill>
              <a:srgbClr val="2A4060"/>
            </a:solidFill>
            <a:prstDash val="solid"/>
          </a:ln>
        </p:spPr>
        <p:txBody>
          <a:bodyPr/>
          <a:lstStyle/>
          <a:p>
            <a:endParaRPr lang="en-GB"/>
          </a:p>
        </p:txBody>
      </p:sp>
      <p:sp>
        <p:nvSpPr>
          <p:cNvPr id="48" name="Text 46"/>
          <p:cNvSpPr/>
          <p:nvPr/>
        </p:nvSpPr>
        <p:spPr>
          <a:xfrm>
            <a:off x="4700016" y="395020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Run retrospective on ceremony format and stand-up value</a:t>
            </a:r>
            <a:endParaRPr lang="en-US" sz="780" dirty="0"/>
          </a:p>
        </p:txBody>
      </p:sp>
      <p:sp>
        <p:nvSpPr>
          <p:cNvPr id="49" name="Shape 47"/>
          <p:cNvSpPr/>
          <p:nvPr/>
        </p:nvSpPr>
        <p:spPr>
          <a:xfrm>
            <a:off x="6620256" y="932688"/>
            <a:ext cx="2011680" cy="3639312"/>
          </a:xfrm>
          <a:prstGeom prst="rect">
            <a:avLst/>
          </a:prstGeom>
          <a:solidFill>
            <a:srgbClr val="0D1F35"/>
          </a:solidFill>
          <a:ln w="12700">
            <a:solidFill>
              <a:srgbClr val="0D1F35"/>
            </a:solidFill>
            <a:prstDash val="solid"/>
          </a:ln>
          <a:effectLst>
            <a:outerShdw blurRad="127000" dist="38100" dir="8100000" algn="bl" rotWithShape="0">
              <a:srgbClr val="000000">
                <a:alpha val="10000"/>
              </a:srgbClr>
            </a:outerShdw>
          </a:effectLst>
        </p:spPr>
        <p:txBody>
          <a:bodyPr/>
          <a:lstStyle/>
          <a:p>
            <a:endParaRPr lang="en-GB"/>
          </a:p>
        </p:txBody>
      </p:sp>
      <p:sp>
        <p:nvSpPr>
          <p:cNvPr id="50" name="Shape 48"/>
          <p:cNvSpPr/>
          <p:nvPr/>
        </p:nvSpPr>
        <p:spPr>
          <a:xfrm>
            <a:off x="6620256" y="932688"/>
            <a:ext cx="2011680" cy="475488"/>
          </a:xfrm>
          <a:prstGeom prst="rect">
            <a:avLst/>
          </a:prstGeom>
          <a:solidFill>
            <a:srgbClr val="16A34A"/>
          </a:solidFill>
          <a:ln w="12700">
            <a:solidFill>
              <a:srgbClr val="16A34A"/>
            </a:solidFill>
            <a:prstDash val="solid"/>
          </a:ln>
        </p:spPr>
        <p:txBody>
          <a:bodyPr/>
          <a:lstStyle/>
          <a:p>
            <a:endParaRPr lang="en-GB"/>
          </a:p>
        </p:txBody>
      </p:sp>
      <p:sp>
        <p:nvSpPr>
          <p:cNvPr id="51" name="Text 49"/>
          <p:cNvSpPr/>
          <p:nvPr/>
        </p:nvSpPr>
        <p:spPr>
          <a:xfrm>
            <a:off x="6693408" y="960120"/>
            <a:ext cx="192024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Phase 4</a:t>
            </a:r>
            <a:endParaRPr lang="en-US" sz="1200" dirty="0"/>
          </a:p>
        </p:txBody>
      </p:sp>
      <p:sp>
        <p:nvSpPr>
          <p:cNvPr id="52" name="Text 50"/>
          <p:cNvSpPr/>
          <p:nvPr/>
        </p:nvSpPr>
        <p:spPr>
          <a:xfrm>
            <a:off x="6693408" y="1170432"/>
            <a:ext cx="1920240" cy="219456"/>
          </a:xfrm>
          <a:prstGeom prst="rect">
            <a:avLst/>
          </a:prstGeom>
          <a:noFill/>
          <a:ln/>
        </p:spPr>
        <p:txBody>
          <a:bodyPr wrap="square" lIns="0" tIns="0" rIns="0" bIns="0" rtlCol="0" anchor="ctr"/>
          <a:lstStyle/>
          <a:p>
            <a:pPr marL="0" indent="0">
              <a:buNone/>
            </a:pPr>
            <a:r>
              <a:rPr lang="en-US" sz="750" dirty="0">
                <a:solidFill>
                  <a:srgbClr val="E0E0E0"/>
                </a:solidFill>
                <a:latin typeface="Calibri" pitchFamily="34" charset="0"/>
                <a:ea typeface="Calibri" pitchFamily="34" charset="-122"/>
                <a:cs typeface="Calibri" pitchFamily="34" charset="-120"/>
              </a:rPr>
              <a:t>Quarter 2+</a:t>
            </a:r>
            <a:endParaRPr lang="en-US" sz="750" dirty="0"/>
          </a:p>
          <a:p>
            <a:pPr marL="0" indent="0">
              <a:buNone/>
            </a:pPr>
            <a:r>
              <a:rPr lang="en-US" sz="750" dirty="0">
                <a:solidFill>
                  <a:srgbClr val="E0E0E0"/>
                </a:solidFill>
                <a:latin typeface="Calibri" pitchFamily="34" charset="0"/>
                <a:ea typeface="Calibri" pitchFamily="34" charset="-122"/>
                <a:cs typeface="Calibri" pitchFamily="34" charset="-120"/>
              </a:rPr>
              <a:t>(Sustained)</a:t>
            </a:r>
            <a:endParaRPr lang="en-US" sz="750" dirty="0"/>
          </a:p>
        </p:txBody>
      </p:sp>
      <p:sp>
        <p:nvSpPr>
          <p:cNvPr id="53" name="Shape 51"/>
          <p:cNvSpPr/>
          <p:nvPr/>
        </p:nvSpPr>
        <p:spPr>
          <a:xfrm>
            <a:off x="6711696" y="1517904"/>
            <a:ext cx="1828800" cy="530352"/>
          </a:xfrm>
          <a:prstGeom prst="rect">
            <a:avLst/>
          </a:prstGeom>
          <a:solidFill>
            <a:srgbClr val="1A2E45"/>
          </a:solidFill>
          <a:ln w="12700">
            <a:solidFill>
              <a:srgbClr val="2A4060"/>
            </a:solidFill>
            <a:prstDash val="solid"/>
          </a:ln>
        </p:spPr>
        <p:txBody>
          <a:bodyPr/>
          <a:lstStyle/>
          <a:p>
            <a:endParaRPr lang="en-GB"/>
          </a:p>
        </p:txBody>
      </p:sp>
      <p:sp>
        <p:nvSpPr>
          <p:cNvPr id="54" name="Text 52"/>
          <p:cNvSpPr/>
          <p:nvPr/>
        </p:nvSpPr>
        <p:spPr>
          <a:xfrm>
            <a:off x="6784848" y="157276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Automation coverage targets agreed per project layer</a:t>
            </a:r>
            <a:endParaRPr lang="en-US" sz="780" dirty="0"/>
          </a:p>
        </p:txBody>
      </p:sp>
      <p:sp>
        <p:nvSpPr>
          <p:cNvPr id="55" name="Shape 53"/>
          <p:cNvSpPr/>
          <p:nvPr/>
        </p:nvSpPr>
        <p:spPr>
          <a:xfrm>
            <a:off x="6711696" y="2112264"/>
            <a:ext cx="1828800" cy="530352"/>
          </a:xfrm>
          <a:prstGeom prst="rect">
            <a:avLst/>
          </a:prstGeom>
          <a:solidFill>
            <a:srgbClr val="1A2E45"/>
          </a:solidFill>
          <a:ln w="12700">
            <a:solidFill>
              <a:srgbClr val="2A4060"/>
            </a:solidFill>
            <a:prstDash val="solid"/>
          </a:ln>
        </p:spPr>
        <p:txBody>
          <a:bodyPr/>
          <a:lstStyle/>
          <a:p>
            <a:endParaRPr lang="en-GB"/>
          </a:p>
        </p:txBody>
      </p:sp>
      <p:sp>
        <p:nvSpPr>
          <p:cNvPr id="56" name="Text 54"/>
          <p:cNvSpPr/>
          <p:nvPr/>
        </p:nvSpPr>
        <p:spPr>
          <a:xfrm>
            <a:off x="6784848" y="216712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Performance baselines established for all live pipelines</a:t>
            </a:r>
            <a:endParaRPr lang="en-US" sz="780" dirty="0"/>
          </a:p>
        </p:txBody>
      </p:sp>
      <p:sp>
        <p:nvSpPr>
          <p:cNvPr id="57" name="Shape 55"/>
          <p:cNvSpPr/>
          <p:nvPr/>
        </p:nvSpPr>
        <p:spPr>
          <a:xfrm>
            <a:off x="6711696" y="2706624"/>
            <a:ext cx="1828800" cy="530352"/>
          </a:xfrm>
          <a:prstGeom prst="rect">
            <a:avLst/>
          </a:prstGeom>
          <a:solidFill>
            <a:srgbClr val="1A2E45"/>
          </a:solidFill>
          <a:ln w="12700">
            <a:solidFill>
              <a:srgbClr val="2A4060"/>
            </a:solidFill>
            <a:prstDash val="solid"/>
          </a:ln>
        </p:spPr>
        <p:txBody>
          <a:bodyPr/>
          <a:lstStyle/>
          <a:p>
            <a:endParaRPr lang="en-GB"/>
          </a:p>
        </p:txBody>
      </p:sp>
      <p:sp>
        <p:nvSpPr>
          <p:cNvPr id="58" name="Text 56"/>
          <p:cNvSpPr/>
          <p:nvPr/>
        </p:nvSpPr>
        <p:spPr>
          <a:xfrm>
            <a:off x="6784848" y="276148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Data mapping process outsourced and templated</a:t>
            </a:r>
            <a:endParaRPr lang="en-US" sz="780" dirty="0"/>
          </a:p>
        </p:txBody>
      </p:sp>
      <p:sp>
        <p:nvSpPr>
          <p:cNvPr id="59" name="Shape 57"/>
          <p:cNvSpPr/>
          <p:nvPr/>
        </p:nvSpPr>
        <p:spPr>
          <a:xfrm>
            <a:off x="6711696" y="3300984"/>
            <a:ext cx="1828800" cy="530352"/>
          </a:xfrm>
          <a:prstGeom prst="rect">
            <a:avLst/>
          </a:prstGeom>
          <a:solidFill>
            <a:srgbClr val="1A2E45"/>
          </a:solidFill>
          <a:ln w="12700">
            <a:solidFill>
              <a:srgbClr val="2A4060"/>
            </a:solidFill>
            <a:prstDash val="solid"/>
          </a:ln>
        </p:spPr>
        <p:txBody>
          <a:bodyPr/>
          <a:lstStyle/>
          <a:p>
            <a:endParaRPr lang="en-GB"/>
          </a:p>
        </p:txBody>
      </p:sp>
      <p:sp>
        <p:nvSpPr>
          <p:cNvPr id="60" name="Text 58"/>
          <p:cNvSpPr/>
          <p:nvPr/>
        </p:nvSpPr>
        <p:spPr>
          <a:xfrm>
            <a:off x="6784848" y="335584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Security &amp; NFR assessments scheduled per release</a:t>
            </a:r>
            <a:endParaRPr lang="en-US" sz="780" dirty="0"/>
          </a:p>
        </p:txBody>
      </p:sp>
      <p:sp>
        <p:nvSpPr>
          <p:cNvPr id="61" name="Shape 59"/>
          <p:cNvSpPr/>
          <p:nvPr/>
        </p:nvSpPr>
        <p:spPr>
          <a:xfrm>
            <a:off x="6711696" y="3895344"/>
            <a:ext cx="1828800" cy="530352"/>
          </a:xfrm>
          <a:prstGeom prst="rect">
            <a:avLst/>
          </a:prstGeom>
          <a:solidFill>
            <a:srgbClr val="1A2E45"/>
          </a:solidFill>
          <a:ln w="12700">
            <a:solidFill>
              <a:srgbClr val="2A4060"/>
            </a:solidFill>
            <a:prstDash val="solid"/>
          </a:ln>
        </p:spPr>
        <p:txBody>
          <a:bodyPr/>
          <a:lstStyle/>
          <a:p>
            <a:endParaRPr lang="en-GB"/>
          </a:p>
        </p:txBody>
      </p:sp>
      <p:sp>
        <p:nvSpPr>
          <p:cNvPr id="62" name="Text 60"/>
          <p:cNvSpPr/>
          <p:nvPr/>
        </p:nvSpPr>
        <p:spPr>
          <a:xfrm>
            <a:off x="6784848" y="3950208"/>
            <a:ext cx="1691640" cy="420624"/>
          </a:xfrm>
          <a:prstGeom prst="rect">
            <a:avLst/>
          </a:prstGeom>
          <a:noFill/>
          <a:ln/>
        </p:spPr>
        <p:txBody>
          <a:bodyPr wrap="square" lIns="0" tIns="0" rIns="0" bIns="0" rtlCol="0" anchor="ctr"/>
          <a:lstStyle/>
          <a:p>
            <a:pPr marL="0" indent="0">
              <a:buNone/>
            </a:pPr>
            <a:r>
              <a:rPr lang="en-US" sz="780" dirty="0">
                <a:solidFill>
                  <a:srgbClr val="C4D4E5"/>
                </a:solidFill>
                <a:latin typeface="Calibri" pitchFamily="34" charset="0"/>
                <a:ea typeface="Calibri" pitchFamily="34" charset="-122"/>
                <a:cs typeface="Calibri" pitchFamily="34" charset="-120"/>
              </a:rPr>
              <a:t>QA function repositioned as quality engineering — not manual testing</a:t>
            </a:r>
            <a:endParaRPr lang="en-US" sz="7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2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03A"/>
          </a:solidFill>
          <a:ln w="12700">
            <a:solidFill>
              <a:srgbClr val="12203A"/>
            </a:solidFill>
            <a:prstDash val="solid"/>
          </a:ln>
        </p:spPr>
        <p:txBody>
          <a:bodyPr/>
          <a:lstStyle/>
          <a:p>
            <a:endParaRPr lang="en-GB"/>
          </a:p>
        </p:txBody>
      </p:sp>
      <p:sp>
        <p:nvSpPr>
          <p:cNvPr id="3" name="Shape 1"/>
          <p:cNvSpPr/>
          <p:nvPr/>
        </p:nvSpPr>
        <p:spPr>
          <a:xfrm>
            <a:off x="0" y="0"/>
            <a:ext cx="274320" cy="82296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411480" y="91440"/>
            <a:ext cx="713232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What We Are Asking For</a:t>
            </a:r>
            <a:endParaRPr lang="en-US" sz="1900" dirty="0"/>
          </a:p>
        </p:txBody>
      </p:sp>
      <p:sp>
        <p:nvSpPr>
          <p:cNvPr id="5" name="Text 3"/>
          <p:cNvSpPr/>
          <p:nvPr/>
        </p:nvSpPr>
        <p:spPr>
          <a:xfrm>
            <a:off x="411480" y="493776"/>
            <a:ext cx="6400800" cy="237744"/>
          </a:xfrm>
          <a:prstGeom prst="rect">
            <a:avLst/>
          </a:prstGeom>
          <a:noFill/>
          <a:ln/>
        </p:spPr>
        <p:txBody>
          <a:bodyPr wrap="square" lIns="0" tIns="0" rIns="0" bIns="0" rtlCol="0" anchor="ctr"/>
          <a:lstStyle/>
          <a:p>
            <a:pPr marL="0" indent="0">
              <a:buNone/>
            </a:pPr>
            <a:r>
              <a:rPr lang="en-US" sz="900" i="1" dirty="0">
                <a:solidFill>
                  <a:srgbClr val="9DB8D0"/>
                </a:solidFill>
                <a:latin typeface="Calibri" pitchFamily="34" charset="0"/>
                <a:ea typeface="Calibri" pitchFamily="34" charset="-122"/>
                <a:cs typeface="Calibri" pitchFamily="34" charset="-120"/>
              </a:rPr>
              <a:t>Specific commitments that unblock quality engineering</a:t>
            </a:r>
            <a:endParaRPr lang="en-US" sz="900" dirty="0"/>
          </a:p>
        </p:txBody>
      </p:sp>
      <p:sp>
        <p:nvSpPr>
          <p:cNvPr id="6" name="Text 4"/>
          <p:cNvSpPr/>
          <p:nvPr/>
        </p:nvSpPr>
        <p:spPr>
          <a:xfrm>
            <a:off x="8046720" y="292608"/>
            <a:ext cx="914400" cy="237744"/>
          </a:xfrm>
          <a:prstGeom prst="rect">
            <a:avLst/>
          </a:prstGeom>
          <a:noFill/>
          <a:ln/>
        </p:spPr>
        <p:txBody>
          <a:bodyPr wrap="square" lIns="0" tIns="0" rIns="0" bIns="0" rtlCol="0" anchor="ctr"/>
          <a:lstStyle/>
          <a:p>
            <a:pPr marL="0" indent="0" algn="r">
              <a:buNone/>
            </a:pPr>
            <a:r>
              <a:rPr lang="en-US" sz="900" dirty="0">
                <a:solidFill>
                  <a:srgbClr val="7A9BB5"/>
                </a:solidFill>
                <a:latin typeface="Calibri" pitchFamily="34" charset="0"/>
                <a:ea typeface="Calibri" pitchFamily="34" charset="-122"/>
                <a:cs typeface="Calibri" pitchFamily="34" charset="-120"/>
              </a:rPr>
              <a:t>21 / 22</a:t>
            </a:r>
            <a:endParaRPr lang="en-US" sz="900" dirty="0"/>
          </a:p>
        </p:txBody>
      </p:sp>
      <p:sp>
        <p:nvSpPr>
          <p:cNvPr id="7" name="Text 5"/>
          <p:cNvSpPr/>
          <p:nvPr/>
        </p:nvSpPr>
        <p:spPr>
          <a:xfrm>
            <a:off x="365760" y="932688"/>
            <a:ext cx="8412480" cy="566928"/>
          </a:xfrm>
          <a:prstGeom prst="rect">
            <a:avLst/>
          </a:prstGeom>
          <a:noFill/>
          <a:ln/>
        </p:spPr>
        <p:txBody>
          <a:bodyPr wrap="square" lIns="0" tIns="0" rIns="0" bIns="0" rtlCol="0" anchor="ctr"/>
          <a:lstStyle/>
          <a:p>
            <a:pPr marL="0" indent="0">
              <a:buNone/>
            </a:pPr>
            <a:r>
              <a:rPr lang="en-US" sz="1050" i="1" dirty="0">
                <a:solidFill>
                  <a:srgbClr val="1C2B3A"/>
                </a:solidFill>
                <a:latin typeface="Calibri" pitchFamily="34" charset="0"/>
                <a:ea typeface="Calibri" pitchFamily="34" charset="-122"/>
                <a:cs typeface="Calibri" pitchFamily="34" charset="-120"/>
              </a:rPr>
              <a:t>The QA function is not raising these issues to criticise. We are raising them because we want to do this work properly — and right now, we cannot. The following asks, if agreed, will meaningfully change our ability to deliver quality.</a:t>
            </a:r>
            <a:endParaRPr lang="en-US" sz="1050" dirty="0"/>
          </a:p>
        </p:txBody>
      </p:sp>
      <p:sp>
        <p:nvSpPr>
          <p:cNvPr id="8" name="Shape 6"/>
          <p:cNvSpPr/>
          <p:nvPr/>
        </p:nvSpPr>
        <p:spPr>
          <a:xfrm>
            <a:off x="365760" y="1591056"/>
            <a:ext cx="4206240" cy="73152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9" name="Shape 7"/>
          <p:cNvSpPr/>
          <p:nvPr/>
        </p:nvSpPr>
        <p:spPr>
          <a:xfrm>
            <a:off x="365760" y="1591056"/>
            <a:ext cx="50292" cy="731520"/>
          </a:xfrm>
          <a:prstGeom prst="rect">
            <a:avLst/>
          </a:prstGeom>
          <a:solidFill>
            <a:srgbClr val="E8453C"/>
          </a:solidFill>
          <a:ln w="12700">
            <a:solidFill>
              <a:srgbClr val="E8453C"/>
            </a:solidFill>
            <a:prstDash val="solid"/>
          </a:ln>
        </p:spPr>
        <p:txBody>
          <a:bodyPr/>
          <a:lstStyle/>
          <a:p>
            <a:endParaRPr lang="en-GB"/>
          </a:p>
        </p:txBody>
      </p:sp>
      <p:sp>
        <p:nvSpPr>
          <p:cNvPr id="10" name="Shape 8"/>
          <p:cNvSpPr/>
          <p:nvPr/>
        </p:nvSpPr>
        <p:spPr>
          <a:xfrm>
            <a:off x="420624" y="1810512"/>
            <a:ext cx="347472" cy="292608"/>
          </a:xfrm>
          <a:prstGeom prst="rect">
            <a:avLst/>
          </a:prstGeom>
          <a:solidFill>
            <a:srgbClr val="E8453C"/>
          </a:solidFill>
          <a:ln w="12700">
            <a:solidFill>
              <a:srgbClr val="E8453C"/>
            </a:solidFill>
            <a:prstDash val="solid"/>
          </a:ln>
        </p:spPr>
        <p:txBody>
          <a:bodyPr/>
          <a:lstStyle/>
          <a:p>
            <a:endParaRPr lang="en-GB"/>
          </a:p>
        </p:txBody>
      </p:sp>
      <p:sp>
        <p:nvSpPr>
          <p:cNvPr id="11" name="Text 9"/>
          <p:cNvSpPr/>
          <p:nvPr/>
        </p:nvSpPr>
        <p:spPr>
          <a:xfrm>
            <a:off x="420624" y="1810512"/>
            <a:ext cx="347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12" name="Text 10"/>
          <p:cNvSpPr/>
          <p:nvPr/>
        </p:nvSpPr>
        <p:spPr>
          <a:xfrm>
            <a:off x="859536" y="1645920"/>
            <a:ext cx="3657600" cy="347472"/>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Appoint a named Product Owner or BA for each active project</a:t>
            </a:r>
            <a:endParaRPr lang="en-US" sz="950" dirty="0"/>
          </a:p>
        </p:txBody>
      </p:sp>
      <p:sp>
        <p:nvSpPr>
          <p:cNvPr id="13" name="Text 11"/>
          <p:cNvSpPr/>
          <p:nvPr/>
        </p:nvSpPr>
        <p:spPr>
          <a:xfrm>
            <a:off x="859536" y="2066544"/>
            <a:ext cx="3657600" cy="201168"/>
          </a:xfrm>
          <a:prstGeom prst="rect">
            <a:avLst/>
          </a:prstGeom>
          <a:noFill/>
          <a:ln/>
        </p:spPr>
        <p:txBody>
          <a:bodyPr wrap="square" lIns="0" tIns="0" rIns="0" bIns="0" rtlCol="0" anchor="ctr"/>
          <a:lstStyle/>
          <a:p>
            <a:pPr marL="0" indent="0">
              <a:buNone/>
            </a:pPr>
            <a:r>
              <a:rPr lang="en-US" sz="800" i="1" dirty="0">
                <a:solidFill>
                  <a:srgbClr val="5A6E8C"/>
                </a:solidFill>
                <a:latin typeface="Calibri" pitchFamily="34" charset="0"/>
                <a:ea typeface="Calibri" pitchFamily="34" charset="-122"/>
                <a:cs typeface="Calibri" pitchFamily="34" charset="-120"/>
              </a:rPr>
              <a:t>Owner: Programme / Delivery Lead</a:t>
            </a:r>
            <a:endParaRPr lang="en-US" sz="800" dirty="0"/>
          </a:p>
        </p:txBody>
      </p:sp>
      <p:sp>
        <p:nvSpPr>
          <p:cNvPr id="14" name="Shape 12"/>
          <p:cNvSpPr/>
          <p:nvPr/>
        </p:nvSpPr>
        <p:spPr>
          <a:xfrm>
            <a:off x="4709160" y="1591056"/>
            <a:ext cx="4206240" cy="73152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15" name="Shape 13"/>
          <p:cNvSpPr/>
          <p:nvPr/>
        </p:nvSpPr>
        <p:spPr>
          <a:xfrm>
            <a:off x="4709160" y="1591056"/>
            <a:ext cx="50292" cy="731520"/>
          </a:xfrm>
          <a:prstGeom prst="rect">
            <a:avLst/>
          </a:prstGeom>
          <a:solidFill>
            <a:srgbClr val="E8453C"/>
          </a:solidFill>
          <a:ln w="12700">
            <a:solidFill>
              <a:srgbClr val="E8453C"/>
            </a:solidFill>
            <a:prstDash val="solid"/>
          </a:ln>
        </p:spPr>
        <p:txBody>
          <a:bodyPr/>
          <a:lstStyle/>
          <a:p>
            <a:endParaRPr lang="en-GB"/>
          </a:p>
        </p:txBody>
      </p:sp>
      <p:sp>
        <p:nvSpPr>
          <p:cNvPr id="16" name="Shape 14"/>
          <p:cNvSpPr/>
          <p:nvPr/>
        </p:nvSpPr>
        <p:spPr>
          <a:xfrm>
            <a:off x="4764024" y="1810512"/>
            <a:ext cx="347472" cy="292608"/>
          </a:xfrm>
          <a:prstGeom prst="rect">
            <a:avLst/>
          </a:prstGeom>
          <a:solidFill>
            <a:srgbClr val="E8453C"/>
          </a:solidFill>
          <a:ln w="12700">
            <a:solidFill>
              <a:srgbClr val="E8453C"/>
            </a:solidFill>
            <a:prstDash val="solid"/>
          </a:ln>
        </p:spPr>
        <p:txBody>
          <a:bodyPr/>
          <a:lstStyle/>
          <a:p>
            <a:endParaRPr lang="en-GB"/>
          </a:p>
        </p:txBody>
      </p:sp>
      <p:sp>
        <p:nvSpPr>
          <p:cNvPr id="17" name="Text 15"/>
          <p:cNvSpPr/>
          <p:nvPr/>
        </p:nvSpPr>
        <p:spPr>
          <a:xfrm>
            <a:off x="4764024" y="1810512"/>
            <a:ext cx="347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8" name="Text 16"/>
          <p:cNvSpPr/>
          <p:nvPr/>
        </p:nvSpPr>
        <p:spPr>
          <a:xfrm>
            <a:off x="5202936" y="1645920"/>
            <a:ext cx="3657600" cy="347472"/>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Agree the Definition of Ready includes explicit TDM sign-off</a:t>
            </a:r>
            <a:endParaRPr lang="en-US" sz="950" dirty="0"/>
          </a:p>
        </p:txBody>
      </p:sp>
      <p:sp>
        <p:nvSpPr>
          <p:cNvPr id="19" name="Text 17"/>
          <p:cNvSpPr/>
          <p:nvPr/>
        </p:nvSpPr>
        <p:spPr>
          <a:xfrm>
            <a:off x="5202936" y="2066544"/>
            <a:ext cx="3657600" cy="201168"/>
          </a:xfrm>
          <a:prstGeom prst="rect">
            <a:avLst/>
          </a:prstGeom>
          <a:noFill/>
          <a:ln/>
        </p:spPr>
        <p:txBody>
          <a:bodyPr wrap="square" lIns="0" tIns="0" rIns="0" bIns="0" rtlCol="0" anchor="ctr"/>
          <a:lstStyle/>
          <a:p>
            <a:pPr marL="0" indent="0">
              <a:buNone/>
            </a:pPr>
            <a:r>
              <a:rPr lang="en-US" sz="800" i="1" dirty="0">
                <a:solidFill>
                  <a:srgbClr val="5A6E8C"/>
                </a:solidFill>
                <a:latin typeface="Calibri" pitchFamily="34" charset="0"/>
                <a:ea typeface="Calibri" pitchFamily="34" charset="-122"/>
                <a:cs typeface="Calibri" pitchFamily="34" charset="-120"/>
              </a:rPr>
              <a:t>Owner: Whole Team Agreement</a:t>
            </a:r>
            <a:endParaRPr lang="en-US" sz="800" dirty="0"/>
          </a:p>
        </p:txBody>
      </p:sp>
      <p:sp>
        <p:nvSpPr>
          <p:cNvPr id="20" name="Shape 18"/>
          <p:cNvSpPr/>
          <p:nvPr/>
        </p:nvSpPr>
        <p:spPr>
          <a:xfrm>
            <a:off x="365760" y="2414016"/>
            <a:ext cx="4206240" cy="73152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1" name="Shape 19"/>
          <p:cNvSpPr/>
          <p:nvPr/>
        </p:nvSpPr>
        <p:spPr>
          <a:xfrm>
            <a:off x="365760" y="2414016"/>
            <a:ext cx="50292" cy="731520"/>
          </a:xfrm>
          <a:prstGeom prst="rect">
            <a:avLst/>
          </a:prstGeom>
          <a:solidFill>
            <a:srgbClr val="E8453C"/>
          </a:solidFill>
          <a:ln w="12700">
            <a:solidFill>
              <a:srgbClr val="E8453C"/>
            </a:solidFill>
            <a:prstDash val="solid"/>
          </a:ln>
        </p:spPr>
        <p:txBody>
          <a:bodyPr/>
          <a:lstStyle/>
          <a:p>
            <a:endParaRPr lang="en-GB"/>
          </a:p>
        </p:txBody>
      </p:sp>
      <p:sp>
        <p:nvSpPr>
          <p:cNvPr id="22" name="Shape 20"/>
          <p:cNvSpPr/>
          <p:nvPr/>
        </p:nvSpPr>
        <p:spPr>
          <a:xfrm>
            <a:off x="420624" y="2633472"/>
            <a:ext cx="347472" cy="292608"/>
          </a:xfrm>
          <a:prstGeom prst="rect">
            <a:avLst/>
          </a:prstGeom>
          <a:solidFill>
            <a:srgbClr val="E8453C"/>
          </a:solidFill>
          <a:ln w="12700">
            <a:solidFill>
              <a:srgbClr val="E8453C"/>
            </a:solidFill>
            <a:prstDash val="solid"/>
          </a:ln>
        </p:spPr>
        <p:txBody>
          <a:bodyPr/>
          <a:lstStyle/>
          <a:p>
            <a:endParaRPr lang="en-GB"/>
          </a:p>
        </p:txBody>
      </p:sp>
      <p:sp>
        <p:nvSpPr>
          <p:cNvPr id="23" name="Text 21"/>
          <p:cNvSpPr/>
          <p:nvPr/>
        </p:nvSpPr>
        <p:spPr>
          <a:xfrm>
            <a:off x="420624" y="2633472"/>
            <a:ext cx="347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24" name="Text 22"/>
          <p:cNvSpPr/>
          <p:nvPr/>
        </p:nvSpPr>
        <p:spPr>
          <a:xfrm>
            <a:off x="859536" y="2468880"/>
            <a:ext cx="3657600" cy="347472"/>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Create a Confluence Production Issues Log — and commit to using it</a:t>
            </a:r>
            <a:endParaRPr lang="en-US" sz="950" dirty="0"/>
          </a:p>
        </p:txBody>
      </p:sp>
      <p:sp>
        <p:nvSpPr>
          <p:cNvPr id="25" name="Text 23"/>
          <p:cNvSpPr/>
          <p:nvPr/>
        </p:nvSpPr>
        <p:spPr>
          <a:xfrm>
            <a:off x="859536" y="2889504"/>
            <a:ext cx="3657600" cy="201168"/>
          </a:xfrm>
          <a:prstGeom prst="rect">
            <a:avLst/>
          </a:prstGeom>
          <a:noFill/>
          <a:ln/>
        </p:spPr>
        <p:txBody>
          <a:bodyPr wrap="square" lIns="0" tIns="0" rIns="0" bIns="0" rtlCol="0" anchor="ctr"/>
          <a:lstStyle/>
          <a:p>
            <a:pPr marL="0" indent="0">
              <a:buNone/>
            </a:pPr>
            <a:r>
              <a:rPr lang="en-US" sz="800" i="1" dirty="0">
                <a:solidFill>
                  <a:srgbClr val="5A6E8C"/>
                </a:solidFill>
                <a:latin typeface="Calibri" pitchFamily="34" charset="0"/>
                <a:ea typeface="Calibri" pitchFamily="34" charset="-122"/>
                <a:cs typeface="Calibri" pitchFamily="34" charset="-120"/>
              </a:rPr>
              <a:t>Owner: QA Lead + Dev Lead</a:t>
            </a:r>
            <a:endParaRPr lang="en-US" sz="800" dirty="0"/>
          </a:p>
        </p:txBody>
      </p:sp>
      <p:sp>
        <p:nvSpPr>
          <p:cNvPr id="26" name="Shape 24"/>
          <p:cNvSpPr/>
          <p:nvPr/>
        </p:nvSpPr>
        <p:spPr>
          <a:xfrm>
            <a:off x="4709160" y="2414016"/>
            <a:ext cx="4206240" cy="73152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27" name="Shape 25"/>
          <p:cNvSpPr/>
          <p:nvPr/>
        </p:nvSpPr>
        <p:spPr>
          <a:xfrm>
            <a:off x="4709160" y="2414016"/>
            <a:ext cx="50292" cy="731520"/>
          </a:xfrm>
          <a:prstGeom prst="rect">
            <a:avLst/>
          </a:prstGeom>
          <a:solidFill>
            <a:srgbClr val="F59E0B"/>
          </a:solidFill>
          <a:ln w="12700">
            <a:solidFill>
              <a:srgbClr val="F59E0B"/>
            </a:solidFill>
            <a:prstDash val="solid"/>
          </a:ln>
        </p:spPr>
        <p:txBody>
          <a:bodyPr/>
          <a:lstStyle/>
          <a:p>
            <a:endParaRPr lang="en-GB"/>
          </a:p>
        </p:txBody>
      </p:sp>
      <p:sp>
        <p:nvSpPr>
          <p:cNvPr id="28" name="Shape 26"/>
          <p:cNvSpPr/>
          <p:nvPr/>
        </p:nvSpPr>
        <p:spPr>
          <a:xfrm>
            <a:off x="4764024" y="2633472"/>
            <a:ext cx="347472" cy="292608"/>
          </a:xfrm>
          <a:prstGeom prst="rect">
            <a:avLst/>
          </a:prstGeom>
          <a:solidFill>
            <a:srgbClr val="F59E0B"/>
          </a:solidFill>
          <a:ln w="12700">
            <a:solidFill>
              <a:srgbClr val="F59E0B"/>
            </a:solidFill>
            <a:prstDash val="solid"/>
          </a:ln>
        </p:spPr>
        <p:txBody>
          <a:bodyPr/>
          <a:lstStyle/>
          <a:p>
            <a:endParaRPr lang="en-GB"/>
          </a:p>
        </p:txBody>
      </p:sp>
      <p:sp>
        <p:nvSpPr>
          <p:cNvPr id="29" name="Text 27"/>
          <p:cNvSpPr/>
          <p:nvPr/>
        </p:nvSpPr>
        <p:spPr>
          <a:xfrm>
            <a:off x="4764024" y="2633472"/>
            <a:ext cx="347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30" name="Text 28"/>
          <p:cNvSpPr/>
          <p:nvPr/>
        </p:nvSpPr>
        <p:spPr>
          <a:xfrm>
            <a:off x="5202936" y="2468880"/>
            <a:ext cx="3657600" cy="347472"/>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Give at least one QA controlled read access to production</a:t>
            </a:r>
            <a:endParaRPr lang="en-US" sz="950" dirty="0"/>
          </a:p>
        </p:txBody>
      </p:sp>
      <p:sp>
        <p:nvSpPr>
          <p:cNvPr id="31" name="Text 29"/>
          <p:cNvSpPr/>
          <p:nvPr/>
        </p:nvSpPr>
        <p:spPr>
          <a:xfrm>
            <a:off x="5202936" y="2889504"/>
            <a:ext cx="3657600" cy="201168"/>
          </a:xfrm>
          <a:prstGeom prst="rect">
            <a:avLst/>
          </a:prstGeom>
          <a:noFill/>
          <a:ln/>
        </p:spPr>
        <p:txBody>
          <a:bodyPr wrap="square" lIns="0" tIns="0" rIns="0" bIns="0" rtlCol="0" anchor="ctr"/>
          <a:lstStyle/>
          <a:p>
            <a:pPr marL="0" indent="0">
              <a:buNone/>
            </a:pPr>
            <a:r>
              <a:rPr lang="en-US" sz="800" i="1" dirty="0">
                <a:solidFill>
                  <a:srgbClr val="5A6E8C"/>
                </a:solidFill>
                <a:latin typeface="Calibri" pitchFamily="34" charset="0"/>
                <a:ea typeface="Calibri" pitchFamily="34" charset="-122"/>
                <a:cs typeface="Calibri" pitchFamily="34" charset="-120"/>
              </a:rPr>
              <a:t>Owner: Programme / Data Ops Lead</a:t>
            </a:r>
            <a:endParaRPr lang="en-US" sz="800" dirty="0"/>
          </a:p>
        </p:txBody>
      </p:sp>
      <p:sp>
        <p:nvSpPr>
          <p:cNvPr id="32" name="Shape 30"/>
          <p:cNvSpPr/>
          <p:nvPr/>
        </p:nvSpPr>
        <p:spPr>
          <a:xfrm>
            <a:off x="365760" y="3236976"/>
            <a:ext cx="4206240" cy="73152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33" name="Shape 31"/>
          <p:cNvSpPr/>
          <p:nvPr/>
        </p:nvSpPr>
        <p:spPr>
          <a:xfrm>
            <a:off x="365760" y="3236976"/>
            <a:ext cx="50292" cy="731520"/>
          </a:xfrm>
          <a:prstGeom prst="rect">
            <a:avLst/>
          </a:prstGeom>
          <a:solidFill>
            <a:srgbClr val="F59E0B"/>
          </a:solidFill>
          <a:ln w="12700">
            <a:solidFill>
              <a:srgbClr val="F59E0B"/>
            </a:solidFill>
            <a:prstDash val="solid"/>
          </a:ln>
        </p:spPr>
        <p:txBody>
          <a:bodyPr/>
          <a:lstStyle/>
          <a:p>
            <a:endParaRPr lang="en-GB"/>
          </a:p>
        </p:txBody>
      </p:sp>
      <p:sp>
        <p:nvSpPr>
          <p:cNvPr id="34" name="Shape 32"/>
          <p:cNvSpPr/>
          <p:nvPr/>
        </p:nvSpPr>
        <p:spPr>
          <a:xfrm>
            <a:off x="420624" y="3456432"/>
            <a:ext cx="347472" cy="292608"/>
          </a:xfrm>
          <a:prstGeom prst="rect">
            <a:avLst/>
          </a:prstGeom>
          <a:solidFill>
            <a:srgbClr val="F59E0B"/>
          </a:solidFill>
          <a:ln w="12700">
            <a:solidFill>
              <a:srgbClr val="F59E0B"/>
            </a:solidFill>
            <a:prstDash val="solid"/>
          </a:ln>
        </p:spPr>
        <p:txBody>
          <a:bodyPr/>
          <a:lstStyle/>
          <a:p>
            <a:endParaRPr lang="en-GB"/>
          </a:p>
        </p:txBody>
      </p:sp>
      <p:sp>
        <p:nvSpPr>
          <p:cNvPr id="35" name="Text 33"/>
          <p:cNvSpPr/>
          <p:nvPr/>
        </p:nvSpPr>
        <p:spPr>
          <a:xfrm>
            <a:off x="420624" y="3456432"/>
            <a:ext cx="347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36" name="Text 34"/>
          <p:cNvSpPr/>
          <p:nvPr/>
        </p:nvSpPr>
        <p:spPr>
          <a:xfrm>
            <a:off x="859536" y="3291840"/>
            <a:ext cx="3657600" cy="347472"/>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Provision a test SharePoint environment with representative data</a:t>
            </a:r>
            <a:endParaRPr lang="en-US" sz="950" dirty="0"/>
          </a:p>
        </p:txBody>
      </p:sp>
      <p:sp>
        <p:nvSpPr>
          <p:cNvPr id="37" name="Text 35"/>
          <p:cNvSpPr/>
          <p:nvPr/>
        </p:nvSpPr>
        <p:spPr>
          <a:xfrm>
            <a:off x="859536" y="3712464"/>
            <a:ext cx="3657600" cy="201168"/>
          </a:xfrm>
          <a:prstGeom prst="rect">
            <a:avLst/>
          </a:prstGeom>
          <a:noFill/>
          <a:ln/>
        </p:spPr>
        <p:txBody>
          <a:bodyPr wrap="square" lIns="0" tIns="0" rIns="0" bIns="0" rtlCol="0" anchor="ctr"/>
          <a:lstStyle/>
          <a:p>
            <a:pPr marL="0" indent="0">
              <a:buNone/>
            </a:pPr>
            <a:r>
              <a:rPr lang="en-US" sz="800" i="1" dirty="0">
                <a:solidFill>
                  <a:srgbClr val="5A6E8C"/>
                </a:solidFill>
                <a:latin typeface="Calibri" pitchFamily="34" charset="0"/>
                <a:ea typeface="Calibri" pitchFamily="34" charset="-122"/>
                <a:cs typeface="Calibri" pitchFamily="34" charset="-120"/>
              </a:rPr>
              <a:t>Owner: Infra / Data Ops</a:t>
            </a:r>
            <a:endParaRPr lang="en-US" sz="800" dirty="0"/>
          </a:p>
        </p:txBody>
      </p:sp>
      <p:sp>
        <p:nvSpPr>
          <p:cNvPr id="38" name="Shape 36"/>
          <p:cNvSpPr/>
          <p:nvPr/>
        </p:nvSpPr>
        <p:spPr>
          <a:xfrm>
            <a:off x="4709160" y="3236976"/>
            <a:ext cx="4206240" cy="73152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39" name="Shape 37"/>
          <p:cNvSpPr/>
          <p:nvPr/>
        </p:nvSpPr>
        <p:spPr>
          <a:xfrm>
            <a:off x="4709160" y="3236976"/>
            <a:ext cx="50292" cy="731520"/>
          </a:xfrm>
          <a:prstGeom prst="rect">
            <a:avLst/>
          </a:prstGeom>
          <a:solidFill>
            <a:srgbClr val="F59E0B"/>
          </a:solidFill>
          <a:ln w="12700">
            <a:solidFill>
              <a:srgbClr val="F59E0B"/>
            </a:solidFill>
            <a:prstDash val="solid"/>
          </a:ln>
        </p:spPr>
        <p:txBody>
          <a:bodyPr/>
          <a:lstStyle/>
          <a:p>
            <a:endParaRPr lang="en-GB"/>
          </a:p>
        </p:txBody>
      </p:sp>
      <p:sp>
        <p:nvSpPr>
          <p:cNvPr id="40" name="Shape 38"/>
          <p:cNvSpPr/>
          <p:nvPr/>
        </p:nvSpPr>
        <p:spPr>
          <a:xfrm>
            <a:off x="4764024" y="3456432"/>
            <a:ext cx="347472" cy="292608"/>
          </a:xfrm>
          <a:prstGeom prst="rect">
            <a:avLst/>
          </a:prstGeom>
          <a:solidFill>
            <a:srgbClr val="F59E0B"/>
          </a:solidFill>
          <a:ln w="12700">
            <a:solidFill>
              <a:srgbClr val="F59E0B"/>
            </a:solidFill>
            <a:prstDash val="solid"/>
          </a:ln>
        </p:spPr>
        <p:txBody>
          <a:bodyPr/>
          <a:lstStyle/>
          <a:p>
            <a:endParaRPr lang="en-GB"/>
          </a:p>
        </p:txBody>
      </p:sp>
      <p:sp>
        <p:nvSpPr>
          <p:cNvPr id="41" name="Text 39"/>
          <p:cNvSpPr/>
          <p:nvPr/>
        </p:nvSpPr>
        <p:spPr>
          <a:xfrm>
            <a:off x="4764024" y="3456432"/>
            <a:ext cx="347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42" name="Text 40"/>
          <p:cNvSpPr/>
          <p:nvPr/>
        </p:nvSpPr>
        <p:spPr>
          <a:xfrm>
            <a:off x="5202936" y="3291840"/>
            <a:ext cx="3657600" cy="347472"/>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Mandate 3-Amigos sessions for all stories above a minimum size</a:t>
            </a:r>
            <a:endParaRPr lang="en-US" sz="950" dirty="0"/>
          </a:p>
        </p:txBody>
      </p:sp>
      <p:sp>
        <p:nvSpPr>
          <p:cNvPr id="43" name="Text 41"/>
          <p:cNvSpPr/>
          <p:nvPr/>
        </p:nvSpPr>
        <p:spPr>
          <a:xfrm>
            <a:off x="5202936" y="3712464"/>
            <a:ext cx="3657600" cy="201168"/>
          </a:xfrm>
          <a:prstGeom prst="rect">
            <a:avLst/>
          </a:prstGeom>
          <a:noFill/>
          <a:ln/>
        </p:spPr>
        <p:txBody>
          <a:bodyPr wrap="square" lIns="0" tIns="0" rIns="0" bIns="0" rtlCol="0" anchor="ctr"/>
          <a:lstStyle/>
          <a:p>
            <a:pPr marL="0" indent="0">
              <a:buNone/>
            </a:pPr>
            <a:r>
              <a:rPr lang="en-US" sz="800" i="1" dirty="0">
                <a:solidFill>
                  <a:srgbClr val="5A6E8C"/>
                </a:solidFill>
                <a:latin typeface="Calibri" pitchFamily="34" charset="0"/>
                <a:ea typeface="Calibri" pitchFamily="34" charset="-122"/>
                <a:cs typeface="Calibri" pitchFamily="34" charset="-120"/>
              </a:rPr>
              <a:t>Owner: Delivery Lead + Team</a:t>
            </a:r>
            <a:endParaRPr lang="en-US" sz="800" dirty="0"/>
          </a:p>
        </p:txBody>
      </p:sp>
      <p:sp>
        <p:nvSpPr>
          <p:cNvPr id="44" name="Shape 42"/>
          <p:cNvSpPr/>
          <p:nvPr/>
        </p:nvSpPr>
        <p:spPr>
          <a:xfrm>
            <a:off x="365760" y="4059936"/>
            <a:ext cx="4206240" cy="73152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45" name="Shape 43"/>
          <p:cNvSpPr/>
          <p:nvPr/>
        </p:nvSpPr>
        <p:spPr>
          <a:xfrm>
            <a:off x="365760" y="4059936"/>
            <a:ext cx="50292" cy="731520"/>
          </a:xfrm>
          <a:prstGeom prst="rect">
            <a:avLst/>
          </a:prstGeom>
          <a:solidFill>
            <a:srgbClr val="0E7C7B"/>
          </a:solidFill>
          <a:ln w="12700">
            <a:solidFill>
              <a:srgbClr val="0E7C7B"/>
            </a:solidFill>
            <a:prstDash val="solid"/>
          </a:ln>
        </p:spPr>
        <p:txBody>
          <a:bodyPr/>
          <a:lstStyle/>
          <a:p>
            <a:endParaRPr lang="en-GB"/>
          </a:p>
        </p:txBody>
      </p:sp>
      <p:sp>
        <p:nvSpPr>
          <p:cNvPr id="46" name="Shape 44"/>
          <p:cNvSpPr/>
          <p:nvPr/>
        </p:nvSpPr>
        <p:spPr>
          <a:xfrm>
            <a:off x="420624" y="4279392"/>
            <a:ext cx="347472" cy="292608"/>
          </a:xfrm>
          <a:prstGeom prst="rect">
            <a:avLst/>
          </a:prstGeom>
          <a:solidFill>
            <a:srgbClr val="0E7C7B"/>
          </a:solidFill>
          <a:ln w="12700">
            <a:solidFill>
              <a:srgbClr val="0E7C7B"/>
            </a:solidFill>
            <a:prstDash val="solid"/>
          </a:ln>
        </p:spPr>
        <p:txBody>
          <a:bodyPr/>
          <a:lstStyle/>
          <a:p>
            <a:endParaRPr lang="en-GB"/>
          </a:p>
        </p:txBody>
      </p:sp>
      <p:sp>
        <p:nvSpPr>
          <p:cNvPr id="47" name="Text 45"/>
          <p:cNvSpPr/>
          <p:nvPr/>
        </p:nvSpPr>
        <p:spPr>
          <a:xfrm>
            <a:off x="420624" y="4279392"/>
            <a:ext cx="347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48" name="Text 46"/>
          <p:cNvSpPr/>
          <p:nvPr/>
        </p:nvSpPr>
        <p:spPr>
          <a:xfrm>
            <a:off x="859536" y="4114800"/>
            <a:ext cx="3657600" cy="347472"/>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Set performance KPIs and NFRs at the start of every project</a:t>
            </a:r>
            <a:endParaRPr lang="en-US" sz="950" dirty="0"/>
          </a:p>
        </p:txBody>
      </p:sp>
      <p:sp>
        <p:nvSpPr>
          <p:cNvPr id="49" name="Text 47"/>
          <p:cNvSpPr/>
          <p:nvPr/>
        </p:nvSpPr>
        <p:spPr>
          <a:xfrm>
            <a:off x="859536" y="4535424"/>
            <a:ext cx="3657600" cy="201168"/>
          </a:xfrm>
          <a:prstGeom prst="rect">
            <a:avLst/>
          </a:prstGeom>
          <a:noFill/>
          <a:ln/>
        </p:spPr>
        <p:txBody>
          <a:bodyPr wrap="square" lIns="0" tIns="0" rIns="0" bIns="0" rtlCol="0" anchor="ctr"/>
          <a:lstStyle/>
          <a:p>
            <a:pPr marL="0" indent="0">
              <a:buNone/>
            </a:pPr>
            <a:r>
              <a:rPr lang="en-US" sz="800" i="1" dirty="0">
                <a:solidFill>
                  <a:srgbClr val="5A6E8C"/>
                </a:solidFill>
                <a:latin typeface="Calibri" pitchFamily="34" charset="0"/>
                <a:ea typeface="Calibri" pitchFamily="34" charset="-122"/>
                <a:cs typeface="Calibri" pitchFamily="34" charset="-120"/>
              </a:rPr>
              <a:t>Owner: Business + Engineering</a:t>
            </a:r>
            <a:endParaRPr lang="en-US" sz="800" dirty="0"/>
          </a:p>
        </p:txBody>
      </p:sp>
      <p:sp>
        <p:nvSpPr>
          <p:cNvPr id="50" name="Shape 48"/>
          <p:cNvSpPr/>
          <p:nvPr/>
        </p:nvSpPr>
        <p:spPr>
          <a:xfrm>
            <a:off x="4709160" y="4059936"/>
            <a:ext cx="4206240" cy="731520"/>
          </a:xfrm>
          <a:prstGeom prst="rect">
            <a:avLst/>
          </a:prstGeom>
          <a:solidFill>
            <a:srgbClr val="FFFFFF"/>
          </a:solidFill>
          <a:ln w="12700">
            <a:solidFill>
              <a:srgbClr val="DDE3EE"/>
            </a:solidFill>
            <a:prstDash val="solid"/>
          </a:ln>
          <a:effectLst>
            <a:outerShdw blurRad="127000" dist="38100" dir="8100000" algn="bl" rotWithShape="0">
              <a:srgbClr val="000000">
                <a:alpha val="10000"/>
              </a:srgbClr>
            </a:outerShdw>
          </a:effectLst>
        </p:spPr>
        <p:txBody>
          <a:bodyPr/>
          <a:lstStyle/>
          <a:p>
            <a:endParaRPr lang="en-GB"/>
          </a:p>
        </p:txBody>
      </p:sp>
      <p:sp>
        <p:nvSpPr>
          <p:cNvPr id="51" name="Shape 49"/>
          <p:cNvSpPr/>
          <p:nvPr/>
        </p:nvSpPr>
        <p:spPr>
          <a:xfrm>
            <a:off x="4709160" y="4059936"/>
            <a:ext cx="50292" cy="731520"/>
          </a:xfrm>
          <a:prstGeom prst="rect">
            <a:avLst/>
          </a:prstGeom>
          <a:solidFill>
            <a:srgbClr val="0E7C7B"/>
          </a:solidFill>
          <a:ln w="12700">
            <a:solidFill>
              <a:srgbClr val="0E7C7B"/>
            </a:solidFill>
            <a:prstDash val="solid"/>
          </a:ln>
        </p:spPr>
        <p:txBody>
          <a:bodyPr/>
          <a:lstStyle/>
          <a:p>
            <a:endParaRPr lang="en-GB"/>
          </a:p>
        </p:txBody>
      </p:sp>
      <p:sp>
        <p:nvSpPr>
          <p:cNvPr id="52" name="Shape 50"/>
          <p:cNvSpPr/>
          <p:nvPr/>
        </p:nvSpPr>
        <p:spPr>
          <a:xfrm>
            <a:off x="4764024" y="4279392"/>
            <a:ext cx="347472" cy="292608"/>
          </a:xfrm>
          <a:prstGeom prst="rect">
            <a:avLst/>
          </a:prstGeom>
          <a:solidFill>
            <a:srgbClr val="0E7C7B"/>
          </a:solidFill>
          <a:ln w="12700">
            <a:solidFill>
              <a:srgbClr val="0E7C7B"/>
            </a:solidFill>
            <a:prstDash val="solid"/>
          </a:ln>
        </p:spPr>
        <p:txBody>
          <a:bodyPr/>
          <a:lstStyle/>
          <a:p>
            <a:endParaRPr lang="en-GB"/>
          </a:p>
        </p:txBody>
      </p:sp>
      <p:sp>
        <p:nvSpPr>
          <p:cNvPr id="53" name="Text 51"/>
          <p:cNvSpPr/>
          <p:nvPr/>
        </p:nvSpPr>
        <p:spPr>
          <a:xfrm>
            <a:off x="4764024" y="4279392"/>
            <a:ext cx="347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54" name="Text 52"/>
          <p:cNvSpPr/>
          <p:nvPr/>
        </p:nvSpPr>
        <p:spPr>
          <a:xfrm>
            <a:off x="5202936" y="4114800"/>
            <a:ext cx="3657600" cy="347472"/>
          </a:xfrm>
          <a:prstGeom prst="rect">
            <a:avLst/>
          </a:prstGeom>
          <a:noFill/>
          <a:ln/>
        </p:spPr>
        <p:txBody>
          <a:bodyPr wrap="square" lIns="0" tIns="0" rIns="0" bIns="0"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Formalise the PyTest automation framework as a team-owned asset</a:t>
            </a:r>
            <a:endParaRPr lang="en-US" sz="950" dirty="0"/>
          </a:p>
        </p:txBody>
      </p:sp>
      <p:sp>
        <p:nvSpPr>
          <p:cNvPr id="55" name="Text 53"/>
          <p:cNvSpPr/>
          <p:nvPr/>
        </p:nvSpPr>
        <p:spPr>
          <a:xfrm>
            <a:off x="5202936" y="4535424"/>
            <a:ext cx="3657600" cy="201168"/>
          </a:xfrm>
          <a:prstGeom prst="rect">
            <a:avLst/>
          </a:prstGeom>
          <a:noFill/>
          <a:ln/>
        </p:spPr>
        <p:txBody>
          <a:bodyPr wrap="square" lIns="0" tIns="0" rIns="0" bIns="0" rtlCol="0" anchor="ctr"/>
          <a:lstStyle/>
          <a:p>
            <a:pPr marL="0" indent="0">
              <a:buNone/>
            </a:pPr>
            <a:r>
              <a:rPr lang="en-US" sz="800" i="1" dirty="0">
                <a:solidFill>
                  <a:srgbClr val="5A6E8C"/>
                </a:solidFill>
                <a:latin typeface="Calibri" pitchFamily="34" charset="0"/>
                <a:ea typeface="Calibri" pitchFamily="34" charset="-122"/>
                <a:cs typeface="Calibri" pitchFamily="34" charset="-120"/>
              </a:rPr>
              <a:t>Owner: QA Lead + Dev Team</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203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E7C7B"/>
          </a:solidFill>
          <a:ln w="12700">
            <a:solidFill>
              <a:srgbClr val="0E7C7B"/>
            </a:solidFill>
            <a:prstDash val="solid"/>
          </a:ln>
        </p:spPr>
        <p:txBody>
          <a:bodyPr/>
          <a:lstStyle/>
          <a:p>
            <a:endParaRPr lang="en-GB"/>
          </a:p>
        </p:txBody>
      </p:sp>
      <p:sp>
        <p:nvSpPr>
          <p:cNvPr id="3" name="Shape 1"/>
          <p:cNvSpPr/>
          <p:nvPr/>
        </p:nvSpPr>
        <p:spPr>
          <a:xfrm>
            <a:off x="274320" y="4846320"/>
            <a:ext cx="8869680" cy="297180"/>
          </a:xfrm>
          <a:prstGeom prst="rect">
            <a:avLst/>
          </a:prstGeom>
          <a:solidFill>
            <a:srgbClr val="0E7C7B"/>
          </a:solidFill>
          <a:ln w="12700">
            <a:solidFill>
              <a:srgbClr val="0E7C7B"/>
            </a:solidFill>
            <a:prstDash val="solid"/>
          </a:ln>
        </p:spPr>
        <p:txBody>
          <a:bodyPr/>
          <a:lstStyle/>
          <a:p>
            <a:endParaRPr lang="en-GB"/>
          </a:p>
        </p:txBody>
      </p:sp>
      <p:sp>
        <p:nvSpPr>
          <p:cNvPr id="4" name="Text 2"/>
          <p:cNvSpPr/>
          <p:nvPr/>
        </p:nvSpPr>
        <p:spPr>
          <a:xfrm>
            <a:off x="548640" y="731520"/>
            <a:ext cx="7772400" cy="146304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The opportunity in</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front of us</a:t>
            </a:r>
            <a:endParaRPr lang="en-US" sz="3800" dirty="0"/>
          </a:p>
        </p:txBody>
      </p:sp>
      <p:sp>
        <p:nvSpPr>
          <p:cNvPr id="5" name="Text 3"/>
          <p:cNvSpPr/>
          <p:nvPr/>
        </p:nvSpPr>
        <p:spPr>
          <a:xfrm>
            <a:off x="548640" y="2286000"/>
            <a:ext cx="7772400" cy="1920240"/>
          </a:xfrm>
          <a:prstGeom prst="rect">
            <a:avLst/>
          </a:prstGeom>
          <a:noFill/>
          <a:ln/>
        </p:spPr>
        <p:txBody>
          <a:bodyPr wrap="square" lIns="0" tIns="0" rIns="0" bIns="0" rtlCol="0" anchor="ctr"/>
          <a:lstStyle/>
          <a:p>
            <a:pPr marL="0" indent="0">
              <a:buNone/>
            </a:pPr>
            <a:r>
              <a:rPr lang="en-US" sz="1150" dirty="0">
                <a:solidFill>
                  <a:srgbClr val="C4D4E5"/>
                </a:solidFill>
                <a:latin typeface="Calibri" pitchFamily="34" charset="0"/>
                <a:ea typeface="Calibri" pitchFamily="34" charset="-122"/>
                <a:cs typeface="Calibri" pitchFamily="34" charset="-120"/>
              </a:rPr>
              <a:t>We have the architecture knowledge. We have the technical toolchain. We have people who care about doing this well.</a:t>
            </a:r>
            <a:endParaRPr lang="en-US" sz="1150" dirty="0"/>
          </a:p>
          <a:p>
            <a:pPr marL="0" indent="0">
              <a:buNone/>
            </a:pPr>
            <a:endParaRPr lang="en-US" sz="1150" dirty="0"/>
          </a:p>
          <a:p>
            <a:pPr marL="0" indent="0">
              <a:buNone/>
            </a:pPr>
            <a:r>
              <a:rPr lang="en-US" sz="1150" dirty="0">
                <a:solidFill>
                  <a:srgbClr val="C4D4E5"/>
                </a:solidFill>
                <a:latin typeface="Calibri" pitchFamily="34" charset="0"/>
                <a:ea typeface="Calibri" pitchFamily="34" charset="-122"/>
                <a:cs typeface="Calibri" pitchFamily="34" charset="-120"/>
              </a:rPr>
              <a:t>What we need now is agreement — as a team — that the gaps are real, that they matter, and that we address them together. Not as a crisis, but as a commitment to the standard of work that this programme deserves.</a:t>
            </a:r>
            <a:endParaRPr lang="en-US" sz="1150" dirty="0"/>
          </a:p>
          <a:p>
            <a:pPr marL="0" indent="0">
              <a:buNone/>
            </a:pPr>
            <a:endParaRPr lang="en-US" sz="1150" dirty="0"/>
          </a:p>
          <a:p>
            <a:pPr marL="0" indent="0">
              <a:buNone/>
            </a:pPr>
            <a:r>
              <a:rPr lang="en-US" sz="1150" dirty="0">
                <a:solidFill>
                  <a:srgbClr val="C4D4E5"/>
                </a:solidFill>
                <a:latin typeface="Calibri" pitchFamily="34" charset="0"/>
                <a:ea typeface="Calibri" pitchFamily="34" charset="-122"/>
                <a:cs typeface="Calibri" pitchFamily="34" charset="-120"/>
              </a:rPr>
              <a:t>Every recommendation in this deck is actionable. Most require no budget.</a:t>
            </a:r>
            <a:endParaRPr lang="en-US" sz="1150" dirty="0"/>
          </a:p>
        </p:txBody>
      </p:sp>
      <p:sp>
        <p:nvSpPr>
          <p:cNvPr id="6" name="Text 4"/>
          <p:cNvSpPr/>
          <p:nvPr/>
        </p:nvSpPr>
        <p:spPr>
          <a:xfrm>
            <a:off x="548640" y="4590288"/>
            <a:ext cx="7772400" cy="228600"/>
          </a:xfrm>
          <a:prstGeom prst="rect">
            <a:avLst/>
          </a:prstGeom>
          <a:noFill/>
          <a:ln/>
        </p:spPr>
        <p:txBody>
          <a:bodyPr wrap="square" lIns="0" tIns="0" rIns="0" bIns="0" rtlCol="0" anchor="ctr"/>
          <a:lstStyle/>
          <a:p>
            <a:pPr marL="0" indent="0">
              <a:buNone/>
            </a:pPr>
            <a:r>
              <a:rPr lang="en-US" sz="900" dirty="0">
                <a:solidFill>
                  <a:srgbClr val="5A6E8C"/>
                </a:solidFill>
                <a:latin typeface="Calibri" pitchFamily="34" charset="0"/>
                <a:ea typeface="Calibri" pitchFamily="34" charset="-122"/>
                <a:cs typeface="Calibri" pitchFamily="34" charset="-120"/>
              </a:rPr>
              <a:t>Data &amp; AI Directorate  ·  Quality Engineering  ·  March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4792</Words>
  <Application>Microsoft Office PowerPoint</Application>
  <PresentationFormat>On-screen Show (16:9)</PresentationFormat>
  <Paragraphs>453</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 Improvement Deck</dc:title>
  <dc:subject>PptxGenJS Presentation</dc:subject>
  <dc:creator>PptxGenJS</dc:creator>
  <cp:lastModifiedBy>Shailesh Kumar</cp:lastModifiedBy>
  <cp:revision>2</cp:revision>
  <dcterms:created xsi:type="dcterms:W3CDTF">2026-03-25T01:09:39Z</dcterms:created>
  <dcterms:modified xsi:type="dcterms:W3CDTF">2026-03-25T01:26:59Z</dcterms:modified>
</cp:coreProperties>
</file>